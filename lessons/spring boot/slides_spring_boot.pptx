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5"/>
  </p:notesMasterIdLst>
  <p:sldIdLst>
    <p:sldId id="735" r:id="rId2"/>
    <p:sldId id="948" r:id="rId3"/>
    <p:sldId id="973" r:id="rId4"/>
    <p:sldId id="972" r:id="rId5"/>
    <p:sldId id="970" r:id="rId6"/>
    <p:sldId id="975" r:id="rId7"/>
    <p:sldId id="825" r:id="rId8"/>
    <p:sldId id="974" r:id="rId9"/>
    <p:sldId id="976" r:id="rId10"/>
    <p:sldId id="977" r:id="rId11"/>
    <p:sldId id="978" r:id="rId12"/>
    <p:sldId id="979" r:id="rId13"/>
    <p:sldId id="980" r:id="rId14"/>
    <p:sldId id="981" r:id="rId15"/>
    <p:sldId id="982" r:id="rId16"/>
    <p:sldId id="983" r:id="rId17"/>
    <p:sldId id="984" r:id="rId18"/>
    <p:sldId id="988" r:id="rId19"/>
    <p:sldId id="987" r:id="rId20"/>
    <p:sldId id="990" r:id="rId21"/>
    <p:sldId id="956" r:id="rId22"/>
    <p:sldId id="969" r:id="rId23"/>
    <p:sldId id="992" r:id="rId24"/>
    <p:sldId id="993" r:id="rId25"/>
    <p:sldId id="996" r:id="rId26"/>
    <p:sldId id="995" r:id="rId27"/>
    <p:sldId id="1000" r:id="rId28"/>
    <p:sldId id="1001" r:id="rId29"/>
    <p:sldId id="997" r:id="rId30"/>
    <p:sldId id="998" r:id="rId31"/>
    <p:sldId id="1002" r:id="rId32"/>
    <p:sldId id="1003" r:id="rId33"/>
    <p:sldId id="1004" r:id="rId34"/>
  </p:sldIdLst>
  <p:sldSz cx="24384000" cy="13716000"/>
  <p:notesSz cx="6858000" cy="9144000"/>
  <p:embeddedFontLst>
    <p:embeddedFont>
      <p:font typeface="SB Sans Display Light" panose="020B0604020202020204" charset="0"/>
      <p:regular r:id="rId36"/>
    </p:embeddedFont>
    <p:embeddedFont>
      <p:font typeface="SB Sans Display Semibold" panose="020B0703040504020204" pitchFamily="34" charset="0"/>
      <p:bold r:id="rId37"/>
    </p:embeddedFont>
    <p:embeddedFont>
      <p:font typeface="SB Sans Text" panose="020B0503040504020204" pitchFamily="34" charset="-52"/>
      <p:regular r:id="rId38"/>
      <p:bold r:id="rId39"/>
      <p:italic r:id="rId40"/>
      <p:boldItalic r:id="rId41"/>
    </p:embeddedFont>
    <p:embeddedFont>
      <p:font typeface="SB Sans Text Light" panose="020B0604020202020204" charset="-52"/>
      <p:regular r:id="rId42"/>
      <p:italic r:id="rId4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Введение" id="{2AA305F5-9C1C-4FF7-9846-B77032ADA3F7}">
          <p14:sldIdLst>
            <p14:sldId id="735"/>
            <p14:sldId id="948"/>
            <p14:sldId id="973"/>
            <p14:sldId id="972"/>
            <p14:sldId id="970"/>
            <p14:sldId id="975"/>
            <p14:sldId id="825"/>
            <p14:sldId id="974"/>
            <p14:sldId id="976"/>
            <p14:sldId id="977"/>
            <p14:sldId id="978"/>
            <p14:sldId id="979"/>
            <p14:sldId id="980"/>
            <p14:sldId id="981"/>
            <p14:sldId id="982"/>
            <p14:sldId id="983"/>
            <p14:sldId id="984"/>
            <p14:sldId id="988"/>
            <p14:sldId id="987"/>
            <p14:sldId id="990"/>
            <p14:sldId id="956"/>
            <p14:sldId id="969"/>
            <p14:sldId id="992"/>
            <p14:sldId id="993"/>
            <p14:sldId id="996"/>
            <p14:sldId id="995"/>
            <p14:sldId id="1000"/>
            <p14:sldId id="1001"/>
            <p14:sldId id="997"/>
            <p14:sldId id="998"/>
            <p14:sldId id="1002"/>
            <p14:sldId id="1003"/>
            <p14:sldId id="10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2982" autoAdjust="0"/>
  </p:normalViewPr>
  <p:slideViewPr>
    <p:cSldViewPr snapToGrid="0" snapToObjects="1">
      <p:cViewPr varScale="1">
        <p:scale>
          <a:sx n="52" d="100"/>
          <a:sy n="52" d="100"/>
        </p:scale>
        <p:origin x="564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Shape 11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8195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04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7048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459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7455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087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2213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839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Сгруппировать"/>
          <p:cNvGrpSpPr/>
          <p:nvPr/>
        </p:nvGrpSpPr>
        <p:grpSpPr>
          <a:xfrm>
            <a:off x="-1253454" y="-2469690"/>
            <a:ext cx="27406281" cy="20541800"/>
            <a:chOff x="0" y="0"/>
            <a:chExt cx="27406280" cy="20541798"/>
          </a:xfrm>
        </p:grpSpPr>
        <p:sp>
          <p:nvSpPr>
            <p:cNvPr id="26" name="Кружок"/>
            <p:cNvSpPr/>
            <p:nvPr/>
          </p:nvSpPr>
          <p:spPr>
            <a:xfrm>
              <a:off x="0" y="1535805"/>
              <a:ext cx="13716000" cy="13716001"/>
            </a:xfrm>
            <a:prstGeom prst="ellipse">
              <a:avLst/>
            </a:prstGeom>
            <a:gradFill flip="none" rotWithShape="1">
              <a:gsLst>
                <a:gs pos="0">
                  <a:srgbClr val="08BC08">
                    <a:alpha val="24591"/>
                  </a:srgbClr>
                </a:gs>
                <a:gs pos="100000">
                  <a:srgbClr val="08BC08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7" name="Кружок"/>
            <p:cNvSpPr/>
            <p:nvPr/>
          </p:nvSpPr>
          <p:spPr>
            <a:xfrm>
              <a:off x="6022436" y="6825798"/>
              <a:ext cx="13716001" cy="13716001"/>
            </a:xfrm>
            <a:prstGeom prst="ellipse">
              <a:avLst/>
            </a:prstGeom>
            <a:gradFill flip="none" rotWithShape="1">
              <a:gsLst>
                <a:gs pos="0">
                  <a:srgbClr val="31C2A7">
                    <a:alpha val="24802"/>
                  </a:srgbClr>
                </a:gs>
                <a:gs pos="100000">
                  <a:srgbClr val="209F6D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8" name="Кружок"/>
            <p:cNvSpPr/>
            <p:nvPr/>
          </p:nvSpPr>
          <p:spPr>
            <a:xfrm>
              <a:off x="13690280" y="0"/>
              <a:ext cx="13716001" cy="13716000"/>
            </a:xfrm>
            <a:prstGeom prst="ellipse">
              <a:avLst/>
            </a:prstGeom>
            <a:gradFill flip="none" rotWithShape="1">
              <a:gsLst>
                <a:gs pos="566">
                  <a:srgbClr val="1164C0">
                    <a:alpha val="25431"/>
                  </a:srgbClr>
                </a:gs>
                <a:gs pos="100000">
                  <a:srgbClr val="1164C0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Сгруппировать"/>
          <p:cNvGrpSpPr/>
          <p:nvPr/>
        </p:nvGrpSpPr>
        <p:grpSpPr>
          <a:xfrm rot="10800000">
            <a:off x="5578827" y="-6990254"/>
            <a:ext cx="21773544" cy="27432001"/>
            <a:chOff x="0" y="0"/>
            <a:chExt cx="21773544" cy="27432000"/>
          </a:xfrm>
        </p:grpSpPr>
        <p:sp>
          <p:nvSpPr>
            <p:cNvPr id="59" name="Кружок"/>
            <p:cNvSpPr/>
            <p:nvPr/>
          </p:nvSpPr>
          <p:spPr>
            <a:xfrm>
              <a:off x="0" y="13716000"/>
              <a:ext cx="13716000" cy="13716001"/>
            </a:xfrm>
            <a:prstGeom prst="ellipse">
              <a:avLst/>
            </a:prstGeom>
            <a:gradFill flip="none" rotWithShape="1">
              <a:gsLst>
                <a:gs pos="0">
                  <a:srgbClr val="08BC08">
                    <a:alpha val="24591"/>
                  </a:srgbClr>
                </a:gs>
                <a:gs pos="100000">
                  <a:srgbClr val="08BC08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0" name="Кружок"/>
            <p:cNvSpPr/>
            <p:nvPr/>
          </p:nvSpPr>
          <p:spPr>
            <a:xfrm>
              <a:off x="2432326" y="0"/>
              <a:ext cx="13716001" cy="13716000"/>
            </a:xfrm>
            <a:prstGeom prst="ellipse">
              <a:avLst/>
            </a:prstGeom>
            <a:gradFill flip="none" rotWithShape="1">
              <a:gsLst>
                <a:gs pos="0">
                  <a:srgbClr val="31C2A7">
                    <a:alpha val="24802"/>
                  </a:srgbClr>
                </a:gs>
                <a:gs pos="100000">
                  <a:srgbClr val="209F6D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" name="Кружок"/>
            <p:cNvSpPr/>
            <p:nvPr/>
          </p:nvSpPr>
          <p:spPr>
            <a:xfrm>
              <a:off x="8057544" y="9195436"/>
              <a:ext cx="13716001" cy="13716001"/>
            </a:xfrm>
            <a:prstGeom prst="ellipse">
              <a:avLst/>
            </a:prstGeom>
            <a:gradFill flip="none" rotWithShape="1">
              <a:gsLst>
                <a:gs pos="566">
                  <a:srgbClr val="1164C0">
                    <a:alpha val="25431"/>
                  </a:srgbClr>
                </a:gs>
                <a:gs pos="100000">
                  <a:srgbClr val="1164C0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38509" y="857250"/>
            <a:ext cx="21906982" cy="499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Заголовок слайда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1524000" y="3745489"/>
            <a:ext cx="10477500" cy="8256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9pPr>
    </p:titleStyle>
    <p:bodyStyle>
      <a:lvl1pPr marL="0" marR="0" indent="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12192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8288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24384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11307583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en-US" sz="16700" dirty="0"/>
              <a:t>Spring Boot</a:t>
            </a:r>
            <a:endParaRPr lang="ru-RU" sz="167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30580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7006726" cy="124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sz="9600" dirty="0" err="1"/>
              <a:t>Spring</a:t>
            </a:r>
            <a:r>
              <a:rPr lang="ru-RU" sz="9600" dirty="0"/>
              <a:t> </a:t>
            </a:r>
            <a:r>
              <a:rPr lang="ru-RU" sz="9600" dirty="0" err="1"/>
              <a:t>Boot</a:t>
            </a:r>
            <a:endParaRPr lang="ru-RU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3751826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7006726" cy="124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sz="9600" dirty="0" err="1"/>
              <a:t>Spring</a:t>
            </a:r>
            <a:r>
              <a:rPr lang="ru-RU" sz="9600" dirty="0"/>
              <a:t> </a:t>
            </a:r>
            <a:r>
              <a:rPr lang="ru-RU" sz="9600" dirty="0" err="1"/>
              <a:t>Boot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4624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Boot</a:t>
            </a:r>
            <a:r>
              <a:rPr lang="ru-RU" sz="5400" dirty="0"/>
              <a:t> — это расширение </a:t>
            </a:r>
            <a:r>
              <a:rPr lang="ru-RU" sz="5400" dirty="0" err="1"/>
              <a:t>Spring</a:t>
            </a:r>
            <a:r>
              <a:rPr lang="ru-RU" sz="5400" dirty="0"/>
              <a:t> </a:t>
            </a:r>
            <a:r>
              <a:rPr lang="ru-RU" sz="5400" dirty="0" err="1"/>
              <a:t>Framework</a:t>
            </a:r>
            <a:r>
              <a:rPr lang="ru-RU" sz="5400" dirty="0"/>
              <a:t>, созданное для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упрощения разработки и конфигурации </a:t>
            </a:r>
            <a:r>
              <a:rPr lang="ru-RU" sz="5400" dirty="0" err="1"/>
              <a:t>Java</a:t>
            </a:r>
            <a:r>
              <a:rPr lang="ru-RU" sz="5400" dirty="0"/>
              <a:t>-приложений. Он позволяет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быстрее и проще создавать готовые к запуску приложения</a:t>
            </a:r>
            <a:r>
              <a:rPr lang="ru-RU" sz="5400" dirty="0"/>
              <a:t> без необходимости ручной настройки множества конфигурационных файлов.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7874602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7006726" cy="124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sz="9600" dirty="0" err="1"/>
              <a:t>Spring</a:t>
            </a:r>
            <a:r>
              <a:rPr lang="ru-RU" sz="9600" dirty="0"/>
              <a:t> </a:t>
            </a:r>
            <a:r>
              <a:rPr lang="ru-RU" sz="9600" dirty="0" err="1"/>
              <a:t>Boot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0109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Boot</a:t>
            </a:r>
            <a:r>
              <a:rPr lang="ru-RU" sz="5400" dirty="0"/>
              <a:t> — это расширение </a:t>
            </a:r>
            <a:r>
              <a:rPr lang="ru-RU" sz="5400" dirty="0" err="1"/>
              <a:t>Spring</a:t>
            </a:r>
            <a:r>
              <a:rPr lang="ru-RU" sz="5400" dirty="0"/>
              <a:t> </a:t>
            </a:r>
            <a:r>
              <a:rPr lang="ru-RU" sz="5400" dirty="0" err="1"/>
              <a:t>Framework</a:t>
            </a:r>
            <a:r>
              <a:rPr lang="ru-RU" sz="5400" dirty="0"/>
              <a:t>, созданное для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упрощения разработки и конфигурации </a:t>
            </a:r>
            <a:r>
              <a:rPr lang="ru-RU" sz="5400" dirty="0" err="1"/>
              <a:t>Java</a:t>
            </a:r>
            <a:r>
              <a:rPr lang="ru-RU" sz="5400" dirty="0"/>
              <a:t>-приложений. Он позволяет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быстрее и проще создавать готовые к запуску приложения</a:t>
            </a:r>
            <a:r>
              <a:rPr lang="ru-RU" sz="5400" dirty="0"/>
              <a:t> без необходимости ручной настройки множества конфигурационных файлов.</a:t>
            </a:r>
            <a:br>
              <a:rPr lang="ru-RU" sz="5400" dirty="0"/>
            </a:br>
            <a:endParaRPr lang="ru-RU" sz="5400" dirty="0"/>
          </a:p>
          <a:p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Основные нововведения</a:t>
            </a:r>
            <a:r>
              <a:rPr lang="ru-RU" sz="5400" dirty="0"/>
              <a:t>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Встроенные веб-серверы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Упрощённая конфигурация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Стартеры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Дополнительные аннотации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670765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4911372"/>
            <a:ext cx="12461745" cy="3893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/>
              <a:t>Встроенные</a:t>
            </a:r>
          </a:p>
          <a:p>
            <a:r>
              <a:rPr lang="ru-RU" sz="16700" dirty="0"/>
              <a:t>веб-серверы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4118610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4348065" y="7672145"/>
            <a:ext cx="141518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1C54FD49-85A9-4006-B973-3C1738D61698}"/>
              </a:ext>
            </a:extLst>
          </p:cNvPr>
          <p:cNvSpPr/>
          <p:nvPr/>
        </p:nvSpPr>
        <p:spPr>
          <a:xfrm>
            <a:off x="3810000" y="3345250"/>
            <a:ext cx="149392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142972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4348065" y="7672145"/>
            <a:ext cx="141518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1C54FD49-85A9-4006-B973-3C1738D61698}"/>
              </a:ext>
            </a:extLst>
          </p:cNvPr>
          <p:cNvSpPr/>
          <p:nvPr/>
        </p:nvSpPr>
        <p:spPr>
          <a:xfrm>
            <a:off x="9144000" y="3345250"/>
            <a:ext cx="96052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3607792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4348065" y="7672145"/>
            <a:ext cx="141518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1C54FD49-85A9-4006-B973-3C1738D61698}"/>
              </a:ext>
            </a:extLst>
          </p:cNvPr>
          <p:cNvSpPr/>
          <p:nvPr/>
        </p:nvSpPr>
        <p:spPr>
          <a:xfrm>
            <a:off x="4597400" y="3345250"/>
            <a:ext cx="141518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17543AF6-F4BF-47A1-89D0-3B54ED5A5D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798" y="2587064"/>
            <a:ext cx="20165603" cy="1148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975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4348065" y="7672145"/>
            <a:ext cx="141518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1C54FD49-85A9-4006-B973-3C1738D61698}"/>
              </a:ext>
            </a:extLst>
          </p:cNvPr>
          <p:cNvSpPr/>
          <p:nvPr/>
        </p:nvSpPr>
        <p:spPr>
          <a:xfrm>
            <a:off x="14051902" y="3345250"/>
            <a:ext cx="4697348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0310806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4348065" y="7672145"/>
            <a:ext cx="141518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1C54FD49-85A9-4006-B973-3C1738D61698}"/>
              </a:ext>
            </a:extLst>
          </p:cNvPr>
          <p:cNvSpPr/>
          <p:nvPr/>
        </p:nvSpPr>
        <p:spPr>
          <a:xfrm>
            <a:off x="3810000" y="3345250"/>
            <a:ext cx="149392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EA3DFCF9-2E60-4815-AE01-F77670D81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420" y="3751366"/>
            <a:ext cx="18036360" cy="905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8365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4348065" y="7672145"/>
            <a:ext cx="141518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3106648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4348065" y="7672145"/>
            <a:ext cx="141518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1C54FD49-85A9-4006-B973-3C1738D61698}"/>
              </a:ext>
            </a:extLst>
          </p:cNvPr>
          <p:cNvSpPr/>
          <p:nvPr/>
        </p:nvSpPr>
        <p:spPr>
          <a:xfrm>
            <a:off x="3810000" y="3345250"/>
            <a:ext cx="149392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AE33B2-5725-41E3-8C39-042BA01EEC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252" y="9345240"/>
            <a:ext cx="8563475" cy="513808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B9B00B-630F-46D5-95E7-906A763EFA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233" y="2844959"/>
            <a:ext cx="13151514" cy="800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0073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8453535" y="7672145"/>
            <a:ext cx="1004638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694739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A6A023-9A14-4207-B343-56990791034E}"/>
              </a:ext>
            </a:extLst>
          </p:cNvPr>
          <p:cNvSpPr/>
          <p:nvPr/>
        </p:nvSpPr>
        <p:spPr>
          <a:xfrm>
            <a:off x="13324113" y="7672145"/>
            <a:ext cx="5175801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869818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75891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Boot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29807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Boot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AA26D6-130D-4618-BE67-972618940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372" y="3427716"/>
            <a:ext cx="5688211" cy="4228136"/>
          </a:xfrm>
          <a:prstGeom prst="rect">
            <a:avLst/>
          </a:prstGeom>
        </p:spPr>
      </p:pic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187FA0F5-2976-4EEA-82AE-29F0B70CDCA0}"/>
              </a:ext>
            </a:extLst>
          </p:cNvPr>
          <p:cNvSpPr/>
          <p:nvPr/>
        </p:nvSpPr>
        <p:spPr>
          <a:xfrm>
            <a:off x="9302802" y="3365677"/>
            <a:ext cx="8817247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84E7FB4F-14DD-49B4-A08D-4916FD2FA78C}"/>
              </a:ext>
            </a:extLst>
          </p:cNvPr>
          <p:cNvSpPr/>
          <p:nvPr/>
        </p:nvSpPr>
        <p:spPr>
          <a:xfrm>
            <a:off x="4195679" y="8282916"/>
            <a:ext cx="9433450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909148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Boot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E230CA-0988-4B58-9392-FF3FB7291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375329"/>
            <a:ext cx="19715901" cy="893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1110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Запуск веб-приложения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Boot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678CC1-FF54-4265-BF38-A8A37809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65677"/>
            <a:ext cx="13318315" cy="9921698"/>
          </a:xfrm>
          <a:prstGeom prst="rect">
            <a:avLst/>
          </a:prstGeom>
        </p:spPr>
      </p:pic>
      <p:pic>
        <p:nvPicPr>
          <p:cNvPr id="1028" name="Picture 4" descr="Накидайте креветок : r/KafkaFPS">
            <a:extLst>
              <a:ext uri="{FF2B5EF4-FFF2-40B4-BE49-F238E27FC236}">
                <a16:creationId xmlns:a16="http://schemas.microsoft.com/office/drawing/2014/main" id="{005DC19F-58AD-4B21-9735-21974EF9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407" y="8834438"/>
            <a:ext cx="349918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AA26D6-130D-4618-BE67-972618940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372" y="3427716"/>
            <a:ext cx="5688211" cy="4228136"/>
          </a:xfrm>
          <a:prstGeom prst="rect">
            <a:avLst/>
          </a:prstGeom>
        </p:spPr>
      </p:pic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187FA0F5-2976-4EEA-82AE-29F0B70CDCA0}"/>
              </a:ext>
            </a:extLst>
          </p:cNvPr>
          <p:cNvSpPr/>
          <p:nvPr/>
        </p:nvSpPr>
        <p:spPr>
          <a:xfrm>
            <a:off x="9199983" y="3427716"/>
            <a:ext cx="8621838" cy="446387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84E7FB4F-14DD-49B4-A08D-4916FD2FA78C}"/>
              </a:ext>
            </a:extLst>
          </p:cNvPr>
          <p:cNvSpPr/>
          <p:nvPr/>
        </p:nvSpPr>
        <p:spPr>
          <a:xfrm>
            <a:off x="4195679" y="8282916"/>
            <a:ext cx="4483845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078" name="Picture 6" descr="Накидайте креветок : r/KafkaFPS">
            <a:extLst>
              <a:ext uri="{FF2B5EF4-FFF2-40B4-BE49-F238E27FC236}">
                <a16:creationId xmlns:a16="http://schemas.microsoft.com/office/drawing/2014/main" id="{03F4192D-631A-4613-B16F-03211BC46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0600" y="8834438"/>
            <a:ext cx="5054957" cy="342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38139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13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Разработчик, поднявший сервер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84E7FB4F-14DD-49B4-A08D-4916FD2FA78C}"/>
              </a:ext>
            </a:extLst>
          </p:cNvPr>
          <p:cNvSpPr/>
          <p:nvPr/>
        </p:nvSpPr>
        <p:spPr>
          <a:xfrm>
            <a:off x="4195679" y="8282916"/>
            <a:ext cx="4483845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Text 1">
            <a:extLst>
              <a:ext uri="{FF2B5EF4-FFF2-40B4-BE49-F238E27FC236}">
                <a16:creationId xmlns:a16="http://schemas.microsoft.com/office/drawing/2014/main" id="{7AF7E292-11F8-48C8-B512-C9418BED64C2}"/>
              </a:ext>
            </a:extLst>
          </p:cNvPr>
          <p:cNvSpPr/>
          <p:nvPr/>
        </p:nvSpPr>
        <p:spPr>
          <a:xfrm>
            <a:off x="4204843" y="11223459"/>
            <a:ext cx="7775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Framework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69" name="Text 1">
            <a:extLst>
              <a:ext uri="{FF2B5EF4-FFF2-40B4-BE49-F238E27FC236}">
                <a16:creationId xmlns:a16="http://schemas.microsoft.com/office/drawing/2014/main" id="{72B83AFB-6EA4-4929-9703-BB6CEEF19526}"/>
              </a:ext>
            </a:extLst>
          </p:cNvPr>
          <p:cNvSpPr/>
          <p:nvPr/>
        </p:nvSpPr>
        <p:spPr>
          <a:xfrm>
            <a:off x="14266507" y="11223459"/>
            <a:ext cx="579927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 Boot</a:t>
            </a: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  <a:p>
            <a:pPr>
              <a:lnSpc>
                <a:spcPct val="93000"/>
              </a:lnSpc>
            </a:pPr>
            <a:endParaRPr lang="ru-RU" sz="6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B029F5-AABC-4E65-AF41-985F97968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661" y="2577740"/>
            <a:ext cx="7993062" cy="846084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32E279-508E-4A45-98AE-EBF22DE5E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0002" y="5243804"/>
            <a:ext cx="4987398" cy="597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2643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18439343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 err="1"/>
              <a:t>Автоконфигурация</a:t>
            </a:r>
            <a:endParaRPr lang="ru-RU" sz="167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2038897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8115537" cy="124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sz="9600" dirty="0"/>
              <a:t>Convention Over Configuration</a:t>
            </a:r>
            <a:endParaRPr lang="ru-RU" sz="96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5548224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8115537" cy="124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sz="9600" dirty="0"/>
              <a:t>Convention Over Configuration</a:t>
            </a:r>
            <a:endParaRPr lang="ru-RU" sz="9600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371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 err="1"/>
              <a:t>Spring</a:t>
            </a:r>
            <a:r>
              <a:rPr lang="ru-RU" sz="5400" dirty="0"/>
              <a:t> </a:t>
            </a:r>
            <a:r>
              <a:rPr lang="ru-RU" sz="5400" dirty="0" err="1"/>
              <a:t>Boot</a:t>
            </a:r>
            <a:r>
              <a:rPr lang="ru-RU" sz="5400" dirty="0"/>
              <a:t> реализует принцип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"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convention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over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configuration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" (конвенция важнее конфигурации)</a:t>
            </a:r>
            <a:r>
              <a:rPr lang="ru-RU" sz="5400" dirty="0"/>
              <a:t>, позволяя разработчикам быстрее запускать приложения, сосредоточиться на бизнес-логике и писать меньше шаблонного кода.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050416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8115537" cy="124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sz="9600" dirty="0"/>
              <a:t>Convention Over Configuration</a:t>
            </a:r>
            <a:endParaRPr lang="ru-RU" sz="9600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8308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 err="1"/>
              <a:t>Spring</a:t>
            </a:r>
            <a:r>
              <a:rPr lang="ru-RU" sz="5400" dirty="0"/>
              <a:t> </a:t>
            </a:r>
            <a:r>
              <a:rPr lang="ru-RU" sz="5400" dirty="0" err="1"/>
              <a:t>Boot</a:t>
            </a:r>
            <a:r>
              <a:rPr lang="ru-RU" sz="5400" dirty="0"/>
              <a:t> реализует принцип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"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convention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over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configuration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" (конвенция важнее конфигурации)</a:t>
            </a:r>
            <a:r>
              <a:rPr lang="ru-RU" sz="5400" dirty="0"/>
              <a:t>, позволяя разработчикам быстрее запускать приложения, сосредоточиться на бизнес-логике и писать меньше шаблонного кода.</a:t>
            </a:r>
          </a:p>
          <a:p>
            <a:endParaRPr lang="ru-RU" sz="5400" dirty="0"/>
          </a:p>
          <a:p>
            <a:r>
              <a:rPr lang="ru-RU" sz="5400" dirty="0"/>
              <a:t>Это подход, при котором фреймворк предоставляет разумные настройки "по умолчанию". Если следовать стандартной структуре и правилам, то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не нужно настраивать ничего вручную — всё просто "работает".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0656875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9231694" cy="124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sz="9600" dirty="0"/>
              <a:t>Spring </a:t>
            </a:r>
            <a:r>
              <a:rPr lang="en-US" sz="9600" dirty="0" err="1"/>
              <a:t>Initializr</a:t>
            </a:r>
            <a:endParaRPr lang="ru-RU" sz="9600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3737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Быстрый старт проекта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без ручной настройки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Правильная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структура папок и зависимостей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Совместимость версий </a:t>
            </a:r>
            <a:r>
              <a:rPr lang="ru-RU" sz="5400" dirty="0" err="1"/>
              <a:t>Spring</a:t>
            </a:r>
            <a:r>
              <a:rPr lang="ru-RU" sz="5400" dirty="0"/>
              <a:t> </a:t>
            </a:r>
            <a:r>
              <a:rPr lang="ru-RU" sz="5400" dirty="0" err="1"/>
              <a:t>Boot</a:t>
            </a:r>
            <a:r>
              <a:rPr lang="ru-RU" sz="5400" dirty="0"/>
              <a:t>, </a:t>
            </a:r>
            <a:r>
              <a:rPr lang="ru-RU" sz="5400" dirty="0" err="1"/>
              <a:t>Java</a:t>
            </a:r>
            <a:r>
              <a:rPr lang="ru-RU" sz="5400" dirty="0"/>
              <a:t> и библиотек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Подключение нужных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стартеров</a:t>
            </a:r>
            <a:r>
              <a:rPr lang="ru-RU" sz="5400" dirty="0"/>
              <a:t> (</a:t>
            </a:r>
            <a:r>
              <a:rPr lang="ru-RU" sz="5400" dirty="0" err="1"/>
              <a:t>spring-boot-starter</a:t>
            </a:r>
            <a:r>
              <a:rPr lang="ru-RU" sz="5400" dirty="0"/>
              <a:t>-*)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F8F074-F831-4B43-883F-C56083954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235" y="7194484"/>
            <a:ext cx="5609530" cy="56896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5321394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7026315" y="4240611"/>
            <a:ext cx="9840835" cy="5234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pPr algn="ctr"/>
            <a:r>
              <a:rPr lang="ru-RU" sz="11600" dirty="0" err="1"/>
              <a:t>Демо</a:t>
            </a:r>
            <a:endParaRPr lang="ru-RU" sz="11600" dirty="0"/>
          </a:p>
          <a:p>
            <a:pPr algn="ctr"/>
            <a:endParaRPr lang="en-US" sz="11600" dirty="0"/>
          </a:p>
          <a:p>
            <a:pPr algn="ctr"/>
            <a:r>
              <a:rPr lang="en-US" sz="11600" dirty="0"/>
              <a:t>Spring </a:t>
            </a:r>
            <a:r>
              <a:rPr lang="en-US" sz="11600" dirty="0" err="1"/>
              <a:t>Initializr</a:t>
            </a:r>
            <a:r>
              <a:rPr lang="en-US" sz="11600" dirty="0"/>
              <a:t>,</a:t>
            </a:r>
            <a:endParaRPr lang="ru-RU" sz="11600" dirty="0"/>
          </a:p>
          <a:p>
            <a:pPr algn="ctr"/>
            <a:r>
              <a:rPr lang="ru-RU" sz="11600" dirty="0"/>
              <a:t>первый запуск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3284793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13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@</a:t>
            </a:r>
            <a:r>
              <a:rPr lang="en-US" sz="9600" b="1" dirty="0" err="1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SpringBootApplication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84E7FB4F-14DD-49B4-A08D-4916FD2FA78C}"/>
              </a:ext>
            </a:extLst>
          </p:cNvPr>
          <p:cNvSpPr/>
          <p:nvPr/>
        </p:nvSpPr>
        <p:spPr>
          <a:xfrm>
            <a:off x="4195679" y="8282916"/>
            <a:ext cx="4483845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105292-B6E1-4625-B0A4-94F71F7F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03" y="4541908"/>
            <a:ext cx="22922698" cy="594628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FB23C50-77AA-4DB4-9279-A622F86504EE}"/>
              </a:ext>
            </a:extLst>
          </p:cNvPr>
          <p:cNvSpPr/>
          <p:nvPr/>
        </p:nvSpPr>
        <p:spPr>
          <a:xfrm>
            <a:off x="804994" y="5596604"/>
            <a:ext cx="22406103" cy="652079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BF7D090D-9121-46ED-94ED-B5B975F1E59D}"/>
              </a:ext>
            </a:extLst>
          </p:cNvPr>
          <p:cNvSpPr/>
          <p:nvPr/>
        </p:nvSpPr>
        <p:spPr>
          <a:xfrm>
            <a:off x="11131550" y="6011563"/>
            <a:ext cx="12989451" cy="460057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9871937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13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@</a:t>
            </a:r>
            <a:r>
              <a:rPr lang="en-US" sz="9600" b="1" dirty="0" err="1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SpringBootApplication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84E7FB4F-14DD-49B4-A08D-4916FD2FA78C}"/>
              </a:ext>
            </a:extLst>
          </p:cNvPr>
          <p:cNvSpPr/>
          <p:nvPr/>
        </p:nvSpPr>
        <p:spPr>
          <a:xfrm>
            <a:off x="4195679" y="8282916"/>
            <a:ext cx="4483845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105292-B6E1-4625-B0A4-94F71F7F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03" y="4541908"/>
            <a:ext cx="22922698" cy="594628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FB23C50-77AA-4DB4-9279-A622F86504EE}"/>
              </a:ext>
            </a:extLst>
          </p:cNvPr>
          <p:cNvSpPr/>
          <p:nvPr/>
        </p:nvSpPr>
        <p:spPr>
          <a:xfrm>
            <a:off x="7102876" y="5998066"/>
            <a:ext cx="16992725" cy="594628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BF7D090D-9121-46ED-94ED-B5B975F1E59D}"/>
              </a:ext>
            </a:extLst>
          </p:cNvPr>
          <p:cNvSpPr/>
          <p:nvPr/>
        </p:nvSpPr>
        <p:spPr>
          <a:xfrm>
            <a:off x="10645775" y="5887617"/>
            <a:ext cx="12989451" cy="460057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538777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13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@</a:t>
            </a:r>
            <a:r>
              <a:rPr lang="en-US" sz="9600" b="1" dirty="0" err="1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SpringBootApplication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84E7FB4F-14DD-49B4-A08D-4916FD2FA78C}"/>
              </a:ext>
            </a:extLst>
          </p:cNvPr>
          <p:cNvSpPr/>
          <p:nvPr/>
        </p:nvSpPr>
        <p:spPr>
          <a:xfrm>
            <a:off x="4195679" y="8282916"/>
            <a:ext cx="4483845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105292-B6E1-4625-B0A4-94F71F7F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03" y="4541908"/>
            <a:ext cx="22922698" cy="5946284"/>
          </a:xfrm>
          <a:prstGeom prst="rect">
            <a:avLst/>
          </a:prstGeom>
        </p:spPr>
      </p:pic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EEDB06DF-87E0-46B7-8965-E3A09F074FF7}"/>
              </a:ext>
            </a:extLst>
          </p:cNvPr>
          <p:cNvSpPr/>
          <p:nvPr/>
        </p:nvSpPr>
        <p:spPr>
          <a:xfrm>
            <a:off x="15003977" y="6170006"/>
            <a:ext cx="9235046" cy="4127383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59A33D7E-07D4-4E68-9FF2-FAB8BA8D4BF5}"/>
              </a:ext>
            </a:extLst>
          </p:cNvPr>
          <p:cNvSpPr/>
          <p:nvPr/>
        </p:nvSpPr>
        <p:spPr>
          <a:xfrm>
            <a:off x="10645775" y="5719763"/>
            <a:ext cx="7454900" cy="450243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7067816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134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@</a:t>
            </a:r>
            <a:r>
              <a:rPr lang="en-US" sz="9600" b="1" dirty="0" err="1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SpringBootApplication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84E7FB4F-14DD-49B4-A08D-4916FD2FA78C}"/>
              </a:ext>
            </a:extLst>
          </p:cNvPr>
          <p:cNvSpPr/>
          <p:nvPr/>
        </p:nvSpPr>
        <p:spPr>
          <a:xfrm>
            <a:off x="4195679" y="8282916"/>
            <a:ext cx="4483845" cy="535635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105292-B6E1-4625-B0A4-94F71F7F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03" y="4541908"/>
            <a:ext cx="22922698" cy="59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1925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9273372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/>
              <a:t>Стартеры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092359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5833328" cy="124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sz="9600" dirty="0"/>
              <a:t>Стартеры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371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Boot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стартер </a:t>
            </a:r>
            <a:r>
              <a:rPr lang="ru-RU" sz="5400" dirty="0"/>
              <a:t>включает: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необходимые зависимости (библиотеки),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стандартные настройки (конфигурации),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/>
              <a:t>поддержку </a:t>
            </a:r>
            <a:r>
              <a:rPr lang="ru-RU" sz="5400" dirty="0" err="1"/>
              <a:t>автоконфигурации</a:t>
            </a:r>
            <a:r>
              <a:rPr lang="ru-RU" sz="5400" dirty="0"/>
              <a:t> </a:t>
            </a:r>
            <a:r>
              <a:rPr lang="ru-RU" sz="5400" dirty="0" err="1"/>
              <a:t>Spring</a:t>
            </a:r>
            <a:r>
              <a:rPr lang="ru-RU" sz="5400" dirty="0"/>
              <a:t> </a:t>
            </a:r>
            <a:r>
              <a:rPr lang="ru-RU" sz="5400" dirty="0" err="1"/>
              <a:t>Boot</a:t>
            </a:r>
            <a:r>
              <a:rPr lang="ru-RU" sz="5400" dirty="0"/>
              <a:t>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3104181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8773589" y="4865397"/>
            <a:ext cx="6346289" cy="398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pPr algn="ctr"/>
            <a:r>
              <a:rPr lang="ru-RU" sz="11600" dirty="0" err="1"/>
              <a:t>Демо</a:t>
            </a:r>
            <a:endParaRPr lang="ru-RU" sz="11600" dirty="0"/>
          </a:p>
          <a:p>
            <a:pPr algn="ctr"/>
            <a:endParaRPr lang="en-US" sz="11600" dirty="0"/>
          </a:p>
          <a:p>
            <a:pPr algn="ctr"/>
            <a:r>
              <a:rPr lang="ru-RU" sz="11600" dirty="0"/>
              <a:t>Стартеры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5637544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20277</TotalTime>
  <Words>318</Words>
  <Application>Microsoft Office PowerPoint</Application>
  <PresentationFormat>Произвольный</PresentationFormat>
  <Paragraphs>74</Paragraphs>
  <Slides>33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1" baseType="lpstr">
      <vt:lpstr>SB Sans Display Light</vt:lpstr>
      <vt:lpstr>SB Sans Display Semibold</vt:lpstr>
      <vt:lpstr>SB Sans Text Light</vt:lpstr>
      <vt:lpstr>Helvetica Neue Medium</vt:lpstr>
      <vt:lpstr>Helvetica Neue</vt:lpstr>
      <vt:lpstr>SB Sans Text</vt:lpstr>
      <vt:lpstr>Arial</vt:lpstr>
      <vt:lpstr>21_BasicWhite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Березнев Никита Сергеевич</dc:creator>
  <cp:lastModifiedBy>Березнев Никита</cp:lastModifiedBy>
  <cp:revision>284</cp:revision>
  <dcterms:modified xsi:type="dcterms:W3CDTF">2025-04-17T19:38:26Z</dcterms:modified>
</cp:coreProperties>
</file>