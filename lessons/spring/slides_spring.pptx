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90"/>
  </p:notesMasterIdLst>
  <p:sldIdLst>
    <p:sldId id="735" r:id="rId2"/>
    <p:sldId id="829" r:id="rId3"/>
    <p:sldId id="825" r:id="rId4"/>
    <p:sldId id="826" r:id="rId5"/>
    <p:sldId id="827" r:id="rId6"/>
    <p:sldId id="828" r:id="rId7"/>
    <p:sldId id="830" r:id="rId8"/>
    <p:sldId id="831" r:id="rId9"/>
    <p:sldId id="836" r:id="rId10"/>
    <p:sldId id="860" r:id="rId11"/>
    <p:sldId id="837" r:id="rId12"/>
    <p:sldId id="839" r:id="rId13"/>
    <p:sldId id="840" r:id="rId14"/>
    <p:sldId id="841" r:id="rId15"/>
    <p:sldId id="842" r:id="rId16"/>
    <p:sldId id="843" r:id="rId17"/>
    <p:sldId id="775" r:id="rId18"/>
    <p:sldId id="905" r:id="rId19"/>
    <p:sldId id="864" r:id="rId20"/>
    <p:sldId id="844" r:id="rId21"/>
    <p:sldId id="715" r:id="rId22"/>
    <p:sldId id="846" r:id="rId23"/>
    <p:sldId id="853" r:id="rId24"/>
    <p:sldId id="855" r:id="rId25"/>
    <p:sldId id="856" r:id="rId26"/>
    <p:sldId id="859" r:id="rId27"/>
    <p:sldId id="861" r:id="rId28"/>
    <p:sldId id="862" r:id="rId29"/>
    <p:sldId id="865" r:id="rId30"/>
    <p:sldId id="863" r:id="rId31"/>
    <p:sldId id="919" r:id="rId32"/>
    <p:sldId id="876" r:id="rId33"/>
    <p:sldId id="871" r:id="rId34"/>
    <p:sldId id="872" r:id="rId35"/>
    <p:sldId id="873" r:id="rId36"/>
    <p:sldId id="875" r:id="rId37"/>
    <p:sldId id="874" r:id="rId38"/>
    <p:sldId id="911" r:id="rId39"/>
    <p:sldId id="882" r:id="rId40"/>
    <p:sldId id="622" r:id="rId41"/>
    <p:sldId id="913" r:id="rId42"/>
    <p:sldId id="914" r:id="rId43"/>
    <p:sldId id="915" r:id="rId44"/>
    <p:sldId id="916" r:id="rId45"/>
    <p:sldId id="917" r:id="rId46"/>
    <p:sldId id="918" r:id="rId47"/>
    <p:sldId id="920" r:id="rId48"/>
    <p:sldId id="892" r:id="rId49"/>
    <p:sldId id="867" r:id="rId50"/>
    <p:sldId id="889" r:id="rId51"/>
    <p:sldId id="891" r:id="rId52"/>
    <p:sldId id="868" r:id="rId53"/>
    <p:sldId id="899" r:id="rId54"/>
    <p:sldId id="900" r:id="rId55"/>
    <p:sldId id="901" r:id="rId56"/>
    <p:sldId id="893" r:id="rId57"/>
    <p:sldId id="895" r:id="rId58"/>
    <p:sldId id="896" r:id="rId59"/>
    <p:sldId id="897" r:id="rId60"/>
    <p:sldId id="898" r:id="rId61"/>
    <p:sldId id="894" r:id="rId62"/>
    <p:sldId id="906" r:id="rId63"/>
    <p:sldId id="921" r:id="rId64"/>
    <p:sldId id="907" r:id="rId65"/>
    <p:sldId id="908" r:id="rId66"/>
    <p:sldId id="912" r:id="rId67"/>
    <p:sldId id="926" r:id="rId68"/>
    <p:sldId id="928" r:id="rId69"/>
    <p:sldId id="923" r:id="rId70"/>
    <p:sldId id="927" r:id="rId71"/>
    <p:sldId id="925" r:id="rId72"/>
    <p:sldId id="929" r:id="rId73"/>
    <p:sldId id="934" r:id="rId74"/>
    <p:sldId id="935" r:id="rId75"/>
    <p:sldId id="936" r:id="rId76"/>
    <p:sldId id="937" r:id="rId77"/>
    <p:sldId id="938" r:id="rId78"/>
    <p:sldId id="939" r:id="rId79"/>
    <p:sldId id="940" r:id="rId80"/>
    <p:sldId id="941" r:id="rId81"/>
    <p:sldId id="942" r:id="rId82"/>
    <p:sldId id="944" r:id="rId83"/>
    <p:sldId id="922" r:id="rId84"/>
    <p:sldId id="945" r:id="rId85"/>
    <p:sldId id="930" r:id="rId86"/>
    <p:sldId id="931" r:id="rId87"/>
    <p:sldId id="932" r:id="rId88"/>
    <p:sldId id="933" r:id="rId89"/>
  </p:sldIdLst>
  <p:sldSz cx="24384000" cy="13716000"/>
  <p:notesSz cx="6858000" cy="9144000"/>
  <p:embeddedFontLst>
    <p:embeddedFont>
      <p:font typeface="SB Sans Display Light" panose="020B0604020202020204" charset="0"/>
      <p:regular r:id="rId91"/>
    </p:embeddedFont>
    <p:embeddedFont>
      <p:font typeface="SB Sans Display Semibold" panose="020B0703040504020204" pitchFamily="34" charset="0"/>
      <p:bold r:id="rId92"/>
    </p:embeddedFont>
    <p:embeddedFont>
      <p:font typeface="SB Sans Text" panose="020B0503040504020204" pitchFamily="34" charset="-52"/>
      <p:regular r:id="rId93"/>
      <p:bold r:id="rId94"/>
      <p:italic r:id="rId95"/>
      <p:boldItalic r:id="rId96"/>
    </p:embeddedFont>
    <p:embeddedFont>
      <p:font typeface="SB Sans Text Light" panose="020B0604020202020204" charset="-52"/>
      <p:regular r:id="rId97"/>
      <p:italic r:id="rId98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2AA305F5-9C1C-4FF7-9846-B77032ADA3F7}">
          <p14:sldIdLst>
            <p14:sldId id="735"/>
          </p14:sldIdLst>
        </p14:section>
        <p14:section name="Инверсия контроля" id="{3C4326FA-9DE5-4785-B925-66B3C477CD5C}">
          <p14:sldIdLst>
            <p14:sldId id="829"/>
            <p14:sldId id="825"/>
            <p14:sldId id="826"/>
            <p14:sldId id="827"/>
            <p14:sldId id="828"/>
          </p14:sldIdLst>
        </p14:section>
        <p14:section name="Что такое Spring" id="{3FB5F3AF-5529-48C3-9037-229FBB4E91DB}">
          <p14:sldIdLst>
            <p14:sldId id="830"/>
            <p14:sldId id="831"/>
            <p14:sldId id="836"/>
            <p14:sldId id="860"/>
            <p14:sldId id="837"/>
            <p14:sldId id="839"/>
            <p14:sldId id="840"/>
            <p14:sldId id="841"/>
            <p14:sldId id="842"/>
            <p14:sldId id="843"/>
            <p14:sldId id="775"/>
          </p14:sldIdLst>
        </p14:section>
        <p14:section name="Бин, контейнер, контекст" id="{454379C3-E187-4C29-B6FB-71062E82D3BF}">
          <p14:sldIdLst>
            <p14:sldId id="905"/>
            <p14:sldId id="864"/>
            <p14:sldId id="844"/>
            <p14:sldId id="715"/>
            <p14:sldId id="846"/>
            <p14:sldId id="853"/>
            <p14:sldId id="855"/>
            <p14:sldId id="856"/>
            <p14:sldId id="859"/>
            <p14:sldId id="861"/>
            <p14:sldId id="862"/>
            <p14:sldId id="865"/>
            <p14:sldId id="863"/>
            <p14:sldId id="919"/>
            <p14:sldId id="876"/>
            <p14:sldId id="871"/>
            <p14:sldId id="872"/>
            <p14:sldId id="873"/>
            <p14:sldId id="875"/>
            <p14:sldId id="874"/>
            <p14:sldId id="911"/>
            <p14:sldId id="882"/>
            <p14:sldId id="622"/>
            <p14:sldId id="913"/>
            <p14:sldId id="914"/>
            <p14:sldId id="915"/>
            <p14:sldId id="916"/>
            <p14:sldId id="917"/>
            <p14:sldId id="918"/>
            <p14:sldId id="920"/>
            <p14:sldId id="892"/>
            <p14:sldId id="867"/>
            <p14:sldId id="889"/>
            <p14:sldId id="891"/>
            <p14:sldId id="868"/>
            <p14:sldId id="899"/>
            <p14:sldId id="900"/>
            <p14:sldId id="901"/>
            <p14:sldId id="893"/>
            <p14:sldId id="895"/>
            <p14:sldId id="896"/>
            <p14:sldId id="897"/>
            <p14:sldId id="898"/>
            <p14:sldId id="894"/>
            <p14:sldId id="906"/>
            <p14:sldId id="921"/>
            <p14:sldId id="907"/>
            <p14:sldId id="908"/>
            <p14:sldId id="912"/>
            <p14:sldId id="926"/>
            <p14:sldId id="928"/>
            <p14:sldId id="923"/>
            <p14:sldId id="927"/>
            <p14:sldId id="925"/>
            <p14:sldId id="929"/>
            <p14:sldId id="934"/>
            <p14:sldId id="935"/>
            <p14:sldId id="936"/>
            <p14:sldId id="937"/>
            <p14:sldId id="938"/>
            <p14:sldId id="939"/>
            <p14:sldId id="940"/>
            <p14:sldId id="941"/>
            <p14:sldId id="942"/>
            <p14:sldId id="944"/>
            <p14:sldId id="922"/>
            <p14:sldId id="945"/>
            <p14:sldId id="930"/>
            <p14:sldId id="931"/>
            <p14:sldId id="932"/>
            <p14:sldId id="93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7" autoAdjust="0"/>
    <p:restoredTop sz="92982" autoAdjust="0"/>
  </p:normalViewPr>
  <p:slideViewPr>
    <p:cSldViewPr snapToGrid="0" snapToObjects="1">
      <p:cViewPr varScale="1">
        <p:scale>
          <a:sx n="52" d="100"/>
          <a:sy n="52" d="100"/>
        </p:scale>
        <p:origin x="738" y="-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notesMaster" Target="notesMasters/notesMaster1.xml"/><Relationship Id="rId95" Type="http://schemas.openxmlformats.org/officeDocument/2006/relationships/font" Target="fonts/font5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font" Target="fonts/font1.fntdata"/><Relationship Id="rId96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font" Target="fonts/font4.fntdata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7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2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3.fntdata"/><Relationship Id="rId98" Type="http://schemas.openxmlformats.org/officeDocument/2006/relationships/font" Target="fonts/font8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4" name="Shape 11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2902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59662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52750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602869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86313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747444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2840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345020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91462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76841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44360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71018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50855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051653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75146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61168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89040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779970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511500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070608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271339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663826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76108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090412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427478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496620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55577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112050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369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733148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7011982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460837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412214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495341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071658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420585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199512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010689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612866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618104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663436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6112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Сгруппировать"/>
          <p:cNvGrpSpPr/>
          <p:nvPr/>
        </p:nvGrpSpPr>
        <p:grpSpPr>
          <a:xfrm>
            <a:off x="-1253454" y="-2469690"/>
            <a:ext cx="27406281" cy="20541800"/>
            <a:chOff x="0" y="0"/>
            <a:chExt cx="27406280" cy="20541798"/>
          </a:xfrm>
        </p:grpSpPr>
        <p:sp>
          <p:nvSpPr>
            <p:cNvPr id="26" name="Кружок"/>
            <p:cNvSpPr/>
            <p:nvPr/>
          </p:nvSpPr>
          <p:spPr>
            <a:xfrm>
              <a:off x="0" y="1535805"/>
              <a:ext cx="13716000" cy="13716001"/>
            </a:xfrm>
            <a:prstGeom prst="ellipse">
              <a:avLst/>
            </a:prstGeom>
            <a:gradFill flip="none" rotWithShape="1">
              <a:gsLst>
                <a:gs pos="0">
                  <a:srgbClr val="08BC08">
                    <a:alpha val="24591"/>
                  </a:srgbClr>
                </a:gs>
                <a:gs pos="100000">
                  <a:srgbClr val="08BC08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27" name="Кружок"/>
            <p:cNvSpPr/>
            <p:nvPr/>
          </p:nvSpPr>
          <p:spPr>
            <a:xfrm>
              <a:off x="6022436" y="6825798"/>
              <a:ext cx="13716001" cy="13716001"/>
            </a:xfrm>
            <a:prstGeom prst="ellipse">
              <a:avLst/>
            </a:prstGeom>
            <a:gradFill flip="none" rotWithShape="1">
              <a:gsLst>
                <a:gs pos="0">
                  <a:srgbClr val="31C2A7">
                    <a:alpha val="24802"/>
                  </a:srgbClr>
                </a:gs>
                <a:gs pos="100000">
                  <a:srgbClr val="209F6D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28" name="Кружок"/>
            <p:cNvSpPr/>
            <p:nvPr/>
          </p:nvSpPr>
          <p:spPr>
            <a:xfrm>
              <a:off x="13690280" y="0"/>
              <a:ext cx="13716001" cy="13716000"/>
            </a:xfrm>
            <a:prstGeom prst="ellipse">
              <a:avLst/>
            </a:prstGeom>
            <a:gradFill flip="none" rotWithShape="1">
              <a:gsLst>
                <a:gs pos="566">
                  <a:srgbClr val="1164C0">
                    <a:alpha val="25431"/>
                  </a:srgbClr>
                </a:gs>
                <a:gs pos="100000">
                  <a:srgbClr val="1164C0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30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Сгруппировать"/>
          <p:cNvGrpSpPr/>
          <p:nvPr/>
        </p:nvGrpSpPr>
        <p:grpSpPr>
          <a:xfrm rot="10800000">
            <a:off x="5578827" y="-6990254"/>
            <a:ext cx="21773544" cy="27432001"/>
            <a:chOff x="0" y="0"/>
            <a:chExt cx="21773544" cy="27432000"/>
          </a:xfrm>
        </p:grpSpPr>
        <p:sp>
          <p:nvSpPr>
            <p:cNvPr id="59" name="Кружок"/>
            <p:cNvSpPr/>
            <p:nvPr/>
          </p:nvSpPr>
          <p:spPr>
            <a:xfrm>
              <a:off x="0" y="13716000"/>
              <a:ext cx="13716000" cy="13716001"/>
            </a:xfrm>
            <a:prstGeom prst="ellipse">
              <a:avLst/>
            </a:prstGeom>
            <a:gradFill flip="none" rotWithShape="1">
              <a:gsLst>
                <a:gs pos="0">
                  <a:srgbClr val="08BC08">
                    <a:alpha val="24591"/>
                  </a:srgbClr>
                </a:gs>
                <a:gs pos="100000">
                  <a:srgbClr val="08BC08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0" name="Кружок"/>
            <p:cNvSpPr/>
            <p:nvPr/>
          </p:nvSpPr>
          <p:spPr>
            <a:xfrm>
              <a:off x="2432326" y="0"/>
              <a:ext cx="13716001" cy="13716000"/>
            </a:xfrm>
            <a:prstGeom prst="ellipse">
              <a:avLst/>
            </a:prstGeom>
            <a:gradFill flip="none" rotWithShape="1">
              <a:gsLst>
                <a:gs pos="0">
                  <a:srgbClr val="31C2A7">
                    <a:alpha val="24802"/>
                  </a:srgbClr>
                </a:gs>
                <a:gs pos="100000">
                  <a:srgbClr val="209F6D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1" name="Кружок"/>
            <p:cNvSpPr/>
            <p:nvPr/>
          </p:nvSpPr>
          <p:spPr>
            <a:xfrm>
              <a:off x="8057544" y="9195436"/>
              <a:ext cx="13716001" cy="13716001"/>
            </a:xfrm>
            <a:prstGeom prst="ellipse">
              <a:avLst/>
            </a:prstGeom>
            <a:gradFill flip="none" rotWithShape="1">
              <a:gsLst>
                <a:gs pos="566">
                  <a:srgbClr val="1164C0">
                    <a:alpha val="25431"/>
                  </a:srgbClr>
                </a:gs>
                <a:gs pos="100000">
                  <a:srgbClr val="1164C0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63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слайда"/>
          <p:cNvSpPr txBox="1">
            <a:spLocks noGrp="1"/>
          </p:cNvSpPr>
          <p:nvPr>
            <p:ph type="title" hasCustomPrompt="1"/>
          </p:nvPr>
        </p:nvSpPr>
        <p:spPr>
          <a:xfrm>
            <a:off x="1238509" y="857250"/>
            <a:ext cx="21906982" cy="4991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Заголовок слайда</a:t>
            </a:r>
          </a:p>
        </p:txBody>
      </p:sp>
      <p:sp>
        <p:nvSpPr>
          <p:cNvPr id="3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1524000" y="3745489"/>
            <a:ext cx="10477500" cy="82560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4" r:id="rId2"/>
  </p:sldLayoutIdLst>
  <p:transition spd="med"/>
  <p:txStyles>
    <p:titleStyle>
      <a:lvl1pPr marL="0" marR="0" indent="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0" b="0" i="0" u="none" strike="noStrike" cap="none" spc="-600" baseline="0">
          <a:solidFill>
            <a:srgbClr val="000000"/>
          </a:solidFill>
          <a:uFillTx/>
          <a:latin typeface="SB Sans Display Semibold"/>
          <a:ea typeface="SB Sans Display Semibold"/>
          <a:cs typeface="SB Sans Display Semibold"/>
          <a:sym typeface="SB Sans Display Semibold"/>
        </a:defRPr>
      </a:lvl1pPr>
      <a:lvl2pPr marL="0" marR="0" indent="4572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0" b="0" i="0" u="none" strike="noStrike" cap="none" spc="-600" baseline="0">
          <a:solidFill>
            <a:srgbClr val="000000"/>
          </a:solidFill>
          <a:uFillTx/>
          <a:latin typeface="SB Sans Display Semibold"/>
          <a:ea typeface="SB Sans Display Semibold"/>
          <a:cs typeface="SB Sans Display Semibold"/>
          <a:sym typeface="SB Sans Display Semibold"/>
        </a:defRPr>
      </a:lvl2pPr>
      <a:lvl3pPr marL="0" marR="0" indent="9144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0" b="0" i="0" u="none" strike="noStrike" cap="none" spc="-600" baseline="0">
          <a:solidFill>
            <a:srgbClr val="000000"/>
          </a:solidFill>
          <a:uFillTx/>
          <a:latin typeface="SB Sans Display Semibold"/>
          <a:ea typeface="SB Sans Display Semibold"/>
          <a:cs typeface="SB Sans Display Semibold"/>
          <a:sym typeface="SB Sans Display Semibold"/>
        </a:defRPr>
      </a:lvl3pPr>
      <a:lvl4pPr marL="0" marR="0" indent="13716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0" b="0" i="0" u="none" strike="noStrike" cap="none" spc="-600" baseline="0">
          <a:solidFill>
            <a:srgbClr val="000000"/>
          </a:solidFill>
          <a:uFillTx/>
          <a:latin typeface="SB Sans Display Semibold"/>
          <a:ea typeface="SB Sans Display Semibold"/>
          <a:cs typeface="SB Sans Display Semibold"/>
          <a:sym typeface="SB Sans Display Semibold"/>
        </a:defRPr>
      </a:lvl4pPr>
      <a:lvl5pPr marL="0" marR="0" indent="18288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0" b="0" i="0" u="none" strike="noStrike" cap="none" spc="-600" baseline="0">
          <a:solidFill>
            <a:srgbClr val="000000"/>
          </a:solidFill>
          <a:uFillTx/>
          <a:latin typeface="SB Sans Display Semibold"/>
          <a:ea typeface="SB Sans Display Semibold"/>
          <a:cs typeface="SB Sans Display Semibold"/>
          <a:sym typeface="SB Sans Display Semibold"/>
        </a:defRPr>
      </a:lvl5pPr>
      <a:lvl6pPr marL="0" marR="0" indent="22860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0" b="0" i="0" u="none" strike="noStrike" cap="none" spc="-600" baseline="0">
          <a:solidFill>
            <a:srgbClr val="000000"/>
          </a:solidFill>
          <a:uFillTx/>
          <a:latin typeface="SB Sans Display Semibold"/>
          <a:ea typeface="SB Sans Display Semibold"/>
          <a:cs typeface="SB Sans Display Semibold"/>
          <a:sym typeface="SB Sans Display Semibold"/>
        </a:defRPr>
      </a:lvl6pPr>
      <a:lvl7pPr marL="0" marR="0" indent="27432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0" b="0" i="0" u="none" strike="noStrike" cap="none" spc="-600" baseline="0">
          <a:solidFill>
            <a:srgbClr val="000000"/>
          </a:solidFill>
          <a:uFillTx/>
          <a:latin typeface="SB Sans Display Semibold"/>
          <a:ea typeface="SB Sans Display Semibold"/>
          <a:cs typeface="SB Sans Display Semibold"/>
          <a:sym typeface="SB Sans Display Semibold"/>
        </a:defRPr>
      </a:lvl7pPr>
      <a:lvl8pPr marL="0" marR="0" indent="32004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0" b="0" i="0" u="none" strike="noStrike" cap="none" spc="-600" baseline="0">
          <a:solidFill>
            <a:srgbClr val="000000"/>
          </a:solidFill>
          <a:uFillTx/>
          <a:latin typeface="SB Sans Display Semibold"/>
          <a:ea typeface="SB Sans Display Semibold"/>
          <a:cs typeface="SB Sans Display Semibold"/>
          <a:sym typeface="SB Sans Display Semibold"/>
        </a:defRPr>
      </a:lvl8pPr>
      <a:lvl9pPr marL="0" marR="0" indent="36576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0" b="0" i="0" u="none" strike="noStrike" cap="none" spc="-600" baseline="0">
          <a:solidFill>
            <a:srgbClr val="000000"/>
          </a:solidFill>
          <a:uFillTx/>
          <a:latin typeface="SB Sans Display Semibold"/>
          <a:ea typeface="SB Sans Display Semibold"/>
          <a:cs typeface="SB Sans Display Semibold"/>
          <a:sym typeface="SB Sans Display Semibold"/>
        </a:defRPr>
      </a:lvl9pPr>
    </p:titleStyle>
    <p:bodyStyle>
      <a:lvl1pPr marL="0" marR="0" indent="0" algn="l" defTabSz="2438338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609600" algn="l" defTabSz="2438338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1219200" algn="l" defTabSz="2438338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828800" algn="l" defTabSz="2438338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2438400" algn="l" defTabSz="2438338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latinLnBrk="0">
        <a:lnSpc>
          <a:spcPct val="9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latinLnBrk="0">
        <a:lnSpc>
          <a:spcPct val="9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latinLnBrk="0">
        <a:lnSpc>
          <a:spcPct val="9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latinLnBrk="0">
        <a:lnSpc>
          <a:spcPct val="9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1" name="Заголовок"/>
          <p:cNvSpPr txBox="1"/>
          <p:nvPr/>
        </p:nvSpPr>
        <p:spPr>
          <a:xfrm>
            <a:off x="1524000" y="5810849"/>
            <a:ext cx="13620716" cy="2094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70000"/>
              </a:lnSpc>
              <a:defRPr sz="20000" spc="-400">
                <a:gradFill flip="none" rotWithShape="1">
                  <a:gsLst>
                    <a:gs pos="0">
                      <a:srgbClr val="34E234"/>
                    </a:gs>
                    <a:gs pos="19133">
                      <a:srgbClr val="9DCD25"/>
                    </a:gs>
                    <a:gs pos="39357">
                      <a:srgbClr val="F2E800"/>
                    </a:gs>
                    <a:gs pos="58861">
                      <a:srgbClr val="9DCD25"/>
                    </a:gs>
                    <a:gs pos="79839">
                      <a:srgbClr val="00A4E0"/>
                    </a:gs>
                    <a:gs pos="100000">
                      <a:srgbClr val="0086D0"/>
                    </a:gs>
                  </a:gsLst>
                  <a:lin ang="3000000" scaled="0"/>
                </a:gradFill>
                <a:latin typeface="SB Sans Display Light"/>
                <a:ea typeface="SB Sans Display Light"/>
                <a:cs typeface="SB Sans Display Light"/>
                <a:sym typeface="SB Sans Display Light"/>
              </a:defRPr>
            </a:lvl1pPr>
          </a:lstStyle>
          <a:p>
            <a:r>
              <a:rPr lang="en-US" sz="16700" dirty="0" err="1"/>
              <a:t>IoC</a:t>
            </a:r>
            <a:r>
              <a:rPr lang="en-US" sz="16700" dirty="0"/>
              <a:t>, DI, Spring</a:t>
            </a:r>
            <a:endParaRPr lang="ru-RU" sz="16700" dirty="0"/>
          </a:p>
        </p:txBody>
      </p:sp>
      <p:grpSp>
        <p:nvGrpSpPr>
          <p:cNvPr id="4594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459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597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459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0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459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3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460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6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460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9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460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2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461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5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461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8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461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1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461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4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462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7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462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0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462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3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463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6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463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9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463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2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464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5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464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8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464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730580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1" name="Заголовок"/>
          <p:cNvSpPr txBox="1"/>
          <p:nvPr/>
        </p:nvSpPr>
        <p:spPr>
          <a:xfrm>
            <a:off x="1524000" y="5810849"/>
            <a:ext cx="21839312" cy="2094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70000"/>
              </a:lnSpc>
              <a:defRPr sz="20000" spc="-400">
                <a:gradFill flip="none" rotWithShape="1">
                  <a:gsLst>
                    <a:gs pos="0">
                      <a:srgbClr val="34E234"/>
                    </a:gs>
                    <a:gs pos="19133">
                      <a:srgbClr val="9DCD25"/>
                    </a:gs>
                    <a:gs pos="39357">
                      <a:srgbClr val="F2E800"/>
                    </a:gs>
                    <a:gs pos="58861">
                      <a:srgbClr val="9DCD25"/>
                    </a:gs>
                    <a:gs pos="79839">
                      <a:srgbClr val="00A4E0"/>
                    </a:gs>
                    <a:gs pos="100000">
                      <a:srgbClr val="0086D0"/>
                    </a:gs>
                  </a:gsLst>
                  <a:lin ang="3000000" scaled="0"/>
                </a:gradFill>
                <a:latin typeface="SB Sans Display Light"/>
                <a:ea typeface="SB Sans Display Light"/>
                <a:cs typeface="SB Sans Display Light"/>
                <a:sym typeface="SB Sans Display Light"/>
              </a:defRPr>
            </a:lvl1pPr>
          </a:lstStyle>
          <a:p>
            <a:r>
              <a:rPr lang="ru-RU" sz="16700" dirty="0"/>
              <a:t>Что такое фреймворк?</a:t>
            </a:r>
          </a:p>
        </p:txBody>
      </p:sp>
      <p:grpSp>
        <p:nvGrpSpPr>
          <p:cNvPr id="4594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459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597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459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0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459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3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460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6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460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9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460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2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461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5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461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8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461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1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461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4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462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7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462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0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462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3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463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6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463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9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463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2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464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5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464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8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464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2419394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792E338-5663-41A4-8813-B01FCC2BC69A}"/>
              </a:ext>
            </a:extLst>
          </p:cNvPr>
          <p:cNvSpPr/>
          <p:nvPr/>
        </p:nvSpPr>
        <p:spPr>
          <a:xfrm>
            <a:off x="-127000" y="-25400"/>
            <a:ext cx="24672365" cy="137414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6390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638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8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3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639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6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639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9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639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2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640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5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640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8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640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1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640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4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641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7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64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0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64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3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64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6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64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9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64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2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64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5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64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8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64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1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64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4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64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63" name="Text 1">
            <a:extLst>
              <a:ext uri="{FF2B5EF4-FFF2-40B4-BE49-F238E27FC236}">
                <a16:creationId xmlns:a16="http://schemas.microsoft.com/office/drawing/2014/main" id="{79AB2086-D555-48BF-8A7C-96857B49D633}"/>
              </a:ext>
            </a:extLst>
          </p:cNvPr>
          <p:cNvSpPr/>
          <p:nvPr/>
        </p:nvSpPr>
        <p:spPr>
          <a:xfrm>
            <a:off x="1356966" y="1105917"/>
            <a:ext cx="21203588" cy="226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3000"/>
              </a:lnSpc>
            </a:pPr>
            <a:r>
              <a:rPr lang="en-US" sz="9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Inversion of Control (</a:t>
            </a:r>
            <a:r>
              <a:rPr lang="en-US" sz="9600" b="1" dirty="0" err="1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IoC</a:t>
            </a:r>
            <a:r>
              <a:rPr lang="en-US" sz="9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)</a:t>
            </a:r>
          </a:p>
          <a:p>
            <a:pPr>
              <a:lnSpc>
                <a:spcPct val="93000"/>
              </a:lnSpc>
            </a:pPr>
            <a:r>
              <a:rPr lang="ru-RU" sz="6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Инверсия контроля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20677B9-00F1-4803-9996-D29697959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227" y="4457917"/>
            <a:ext cx="23236345" cy="6830577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FFADE11-184B-489A-8D76-10FBB37C7A9B}"/>
              </a:ext>
            </a:extLst>
          </p:cNvPr>
          <p:cNvSpPr/>
          <p:nvPr/>
        </p:nvSpPr>
        <p:spPr>
          <a:xfrm>
            <a:off x="354563" y="4254759"/>
            <a:ext cx="23481009" cy="7259217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03607792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792E338-5663-41A4-8813-B01FCC2BC69A}"/>
              </a:ext>
            </a:extLst>
          </p:cNvPr>
          <p:cNvSpPr/>
          <p:nvPr/>
        </p:nvSpPr>
        <p:spPr>
          <a:xfrm>
            <a:off x="-127000" y="-25400"/>
            <a:ext cx="24672365" cy="137414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6390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638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8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3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639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6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639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9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639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2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640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5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640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8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640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1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640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4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641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7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64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0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64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3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64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6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64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9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64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2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64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5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64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8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64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1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64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4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64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63" name="Text 1">
            <a:extLst>
              <a:ext uri="{FF2B5EF4-FFF2-40B4-BE49-F238E27FC236}">
                <a16:creationId xmlns:a16="http://schemas.microsoft.com/office/drawing/2014/main" id="{79AB2086-D555-48BF-8A7C-96857B49D633}"/>
              </a:ext>
            </a:extLst>
          </p:cNvPr>
          <p:cNvSpPr/>
          <p:nvPr/>
        </p:nvSpPr>
        <p:spPr>
          <a:xfrm>
            <a:off x="1356966" y="1105917"/>
            <a:ext cx="21203588" cy="226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3000"/>
              </a:lnSpc>
            </a:pPr>
            <a:r>
              <a:rPr lang="en-US" sz="9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Inversion of Control (</a:t>
            </a:r>
            <a:r>
              <a:rPr lang="en-US" sz="9600" b="1" dirty="0" err="1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IoC</a:t>
            </a:r>
            <a:r>
              <a:rPr lang="en-US" sz="9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)</a:t>
            </a:r>
          </a:p>
          <a:p>
            <a:pPr>
              <a:lnSpc>
                <a:spcPct val="93000"/>
              </a:lnSpc>
            </a:pPr>
            <a:r>
              <a:rPr lang="ru-RU" sz="6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Инверсия контроля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20677B9-00F1-4803-9996-D29697959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227" y="4457917"/>
            <a:ext cx="23236345" cy="6830577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FFADE11-184B-489A-8D76-10FBB37C7A9B}"/>
              </a:ext>
            </a:extLst>
          </p:cNvPr>
          <p:cNvSpPr/>
          <p:nvPr/>
        </p:nvSpPr>
        <p:spPr>
          <a:xfrm>
            <a:off x="12017829" y="4254759"/>
            <a:ext cx="11817743" cy="7259217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23771842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792E338-5663-41A4-8813-B01FCC2BC69A}"/>
              </a:ext>
            </a:extLst>
          </p:cNvPr>
          <p:cNvSpPr/>
          <p:nvPr/>
        </p:nvSpPr>
        <p:spPr>
          <a:xfrm>
            <a:off x="-127000" y="-25400"/>
            <a:ext cx="24672365" cy="137414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6390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638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8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3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639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6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639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9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639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2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640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5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640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8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640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1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640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4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641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7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64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0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64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3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64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6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64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9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64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2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64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5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64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8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64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1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64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4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64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63" name="Text 1">
            <a:extLst>
              <a:ext uri="{FF2B5EF4-FFF2-40B4-BE49-F238E27FC236}">
                <a16:creationId xmlns:a16="http://schemas.microsoft.com/office/drawing/2014/main" id="{79AB2086-D555-48BF-8A7C-96857B49D633}"/>
              </a:ext>
            </a:extLst>
          </p:cNvPr>
          <p:cNvSpPr/>
          <p:nvPr/>
        </p:nvSpPr>
        <p:spPr>
          <a:xfrm>
            <a:off x="1356966" y="1105917"/>
            <a:ext cx="21203588" cy="226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3000"/>
              </a:lnSpc>
            </a:pPr>
            <a:r>
              <a:rPr lang="en-US" sz="9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Inversion of Control (</a:t>
            </a:r>
            <a:r>
              <a:rPr lang="en-US" sz="9600" b="1" dirty="0" err="1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IoC</a:t>
            </a:r>
            <a:r>
              <a:rPr lang="en-US" sz="9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)</a:t>
            </a:r>
          </a:p>
          <a:p>
            <a:pPr>
              <a:lnSpc>
                <a:spcPct val="93000"/>
              </a:lnSpc>
            </a:pPr>
            <a:r>
              <a:rPr lang="ru-RU" sz="6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Инверсия контроля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20677B9-00F1-4803-9996-D29697959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227" y="4457917"/>
            <a:ext cx="23236345" cy="6830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80394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15560350" cy="129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en-US" dirty="0" err="1"/>
              <a:t>IoC</a:t>
            </a:r>
            <a:r>
              <a:rPr lang="en-US" dirty="0"/>
              <a:t> – Inversion of Control</a:t>
            </a:r>
            <a:endParaRPr lang="ru-RU" dirty="0"/>
          </a:p>
        </p:txBody>
      </p:sp>
      <p:sp>
        <p:nvSpPr>
          <p:cNvPr id="1013" name="Начало контента"/>
          <p:cNvSpPr txBox="1"/>
          <p:nvPr/>
        </p:nvSpPr>
        <p:spPr>
          <a:xfrm>
            <a:off x="1549400" y="2844981"/>
            <a:ext cx="21498560" cy="9221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rPr lang="ru-RU" sz="5400" dirty="0"/>
              <a:t>Библиотека </a:t>
            </a:r>
            <a:r>
              <a:rPr lang="en-US" sz="5400" dirty="0"/>
              <a:t>– </a:t>
            </a:r>
            <a:r>
              <a:rPr lang="ru-RU" sz="5400" dirty="0"/>
              <a:t>набор методов, организованных в классы, которые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вызываются разработчиком</a:t>
            </a:r>
            <a:r>
              <a:rPr lang="ru-RU" sz="5400" dirty="0"/>
              <a:t>. Для использования функциональности библиотеки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разработчик добавляет вызов ее методов в свой код</a:t>
            </a:r>
            <a:r>
              <a:rPr lang="ru-RU" sz="5400" dirty="0"/>
              <a:t>. </a:t>
            </a:r>
          </a:p>
          <a:p>
            <a:br>
              <a:rPr lang="ru-RU" sz="5400" dirty="0"/>
            </a:br>
            <a:r>
              <a:rPr lang="ru-RU" sz="5400" dirty="0"/>
              <a:t>Фреймворк воплощает в себе некоторый абстрактный дизайн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со встроенными средой и поведением</a:t>
            </a:r>
            <a:r>
              <a:rPr lang="ru-RU" sz="5400" dirty="0"/>
              <a:t>. Для использования функциональности фреймворка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разработчик добавляет свой код в структуру фреймворка</a:t>
            </a:r>
            <a:r>
              <a:rPr lang="ru-RU" sz="5400" dirty="0"/>
              <a:t>. Код фреймворка впоследствии будет вызывать методы разработчика </a:t>
            </a:r>
            <a:r>
              <a:rPr lang="en-US" sz="5400" dirty="0"/>
              <a:t>–</a:t>
            </a:r>
            <a:r>
              <a:rPr lang="ru-RU" sz="5400" dirty="0"/>
              <a:t>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инверсия контроля</a:t>
            </a:r>
            <a:r>
              <a:rPr lang="ru-RU" sz="5400" dirty="0"/>
              <a:t>.</a:t>
            </a:r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3606941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792E338-5663-41A4-8813-B01FCC2BC69A}"/>
              </a:ext>
            </a:extLst>
          </p:cNvPr>
          <p:cNvSpPr/>
          <p:nvPr/>
        </p:nvSpPr>
        <p:spPr>
          <a:xfrm>
            <a:off x="-101600" y="-50800"/>
            <a:ext cx="24672365" cy="137414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6390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638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8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3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639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6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639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9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639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2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640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5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640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8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640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1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640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4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641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7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64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0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64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3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64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6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64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9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64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2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64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5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64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8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64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1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64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4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64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63" name="Text 1">
            <a:extLst>
              <a:ext uri="{FF2B5EF4-FFF2-40B4-BE49-F238E27FC236}">
                <a16:creationId xmlns:a16="http://schemas.microsoft.com/office/drawing/2014/main" id="{79AB2086-D555-48BF-8A7C-96857B49D633}"/>
              </a:ext>
            </a:extLst>
          </p:cNvPr>
          <p:cNvSpPr/>
          <p:nvPr/>
        </p:nvSpPr>
        <p:spPr>
          <a:xfrm>
            <a:off x="1356966" y="1105917"/>
            <a:ext cx="21203588" cy="226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3000"/>
              </a:lnSpc>
            </a:pPr>
            <a:r>
              <a:rPr lang="ru-RU" sz="9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Экосистема </a:t>
            </a:r>
            <a:r>
              <a:rPr lang="en-US" sz="9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Spring</a:t>
            </a:r>
          </a:p>
          <a:p>
            <a:pPr>
              <a:lnSpc>
                <a:spcPct val="93000"/>
              </a:lnSpc>
            </a:pPr>
            <a:r>
              <a:rPr lang="ru-RU" sz="6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(более 20 фреймворков)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D5C2A0D-9599-481E-AB9D-67F7422B1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816" y="3481293"/>
            <a:ext cx="20452184" cy="8520207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9BDA068-FB36-4C89-AA0A-66EE25A9B381}"/>
              </a:ext>
            </a:extLst>
          </p:cNvPr>
          <p:cNvSpPr/>
          <p:nvPr/>
        </p:nvSpPr>
        <p:spPr>
          <a:xfrm>
            <a:off x="1156996" y="3675084"/>
            <a:ext cx="21677604" cy="8132623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8" name="Прямоугольник 67">
            <a:extLst>
              <a:ext uri="{FF2B5EF4-FFF2-40B4-BE49-F238E27FC236}">
                <a16:creationId xmlns:a16="http://schemas.microsoft.com/office/drawing/2014/main" id="{B6D3F498-9001-450E-9BF3-DE15D6F817A7}"/>
              </a:ext>
            </a:extLst>
          </p:cNvPr>
          <p:cNvSpPr/>
          <p:nvPr/>
        </p:nvSpPr>
        <p:spPr>
          <a:xfrm>
            <a:off x="6485942" y="2399182"/>
            <a:ext cx="10570418" cy="976147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03417095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792E338-5663-41A4-8813-B01FCC2BC69A}"/>
              </a:ext>
            </a:extLst>
          </p:cNvPr>
          <p:cNvSpPr/>
          <p:nvPr/>
        </p:nvSpPr>
        <p:spPr>
          <a:xfrm>
            <a:off x="-127000" y="-25400"/>
            <a:ext cx="24672365" cy="137414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6390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638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8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3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639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6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639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9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639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2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640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5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640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8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640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1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640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4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641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7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64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0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64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3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64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6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64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9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64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2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64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5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64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8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64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1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64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4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64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63" name="Text 1">
            <a:extLst>
              <a:ext uri="{FF2B5EF4-FFF2-40B4-BE49-F238E27FC236}">
                <a16:creationId xmlns:a16="http://schemas.microsoft.com/office/drawing/2014/main" id="{79AB2086-D555-48BF-8A7C-96857B49D633}"/>
              </a:ext>
            </a:extLst>
          </p:cNvPr>
          <p:cNvSpPr/>
          <p:nvPr/>
        </p:nvSpPr>
        <p:spPr>
          <a:xfrm>
            <a:off x="1356966" y="1105917"/>
            <a:ext cx="21203588" cy="226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3000"/>
              </a:lnSpc>
            </a:pPr>
            <a:r>
              <a:rPr lang="ru-RU" sz="9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Экосистема </a:t>
            </a:r>
            <a:r>
              <a:rPr lang="en-US" sz="9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Spring</a:t>
            </a:r>
          </a:p>
          <a:p>
            <a:pPr>
              <a:lnSpc>
                <a:spcPct val="93000"/>
              </a:lnSpc>
            </a:pPr>
            <a:r>
              <a:rPr lang="ru-RU" sz="6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(более 20 фреймворков)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D5C2A0D-9599-481E-AB9D-67F7422B1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816" y="3481293"/>
            <a:ext cx="20452184" cy="8520207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9BDA068-FB36-4C89-AA0A-66EE25A9B381}"/>
              </a:ext>
            </a:extLst>
          </p:cNvPr>
          <p:cNvSpPr/>
          <p:nvPr/>
        </p:nvSpPr>
        <p:spPr>
          <a:xfrm>
            <a:off x="1524000" y="6606690"/>
            <a:ext cx="7682203" cy="2269412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4" name="Прямоугольник 63">
            <a:extLst>
              <a:ext uri="{FF2B5EF4-FFF2-40B4-BE49-F238E27FC236}">
                <a16:creationId xmlns:a16="http://schemas.microsoft.com/office/drawing/2014/main" id="{7A61237C-ED60-42BB-9C0A-1273AA35AAA1}"/>
              </a:ext>
            </a:extLst>
          </p:cNvPr>
          <p:cNvSpPr/>
          <p:nvPr/>
        </p:nvSpPr>
        <p:spPr>
          <a:xfrm>
            <a:off x="14478000" y="6606690"/>
            <a:ext cx="7682203" cy="2269412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54FDD5ED-F621-4BD8-8391-5DC66AC02712}"/>
              </a:ext>
            </a:extLst>
          </p:cNvPr>
          <p:cNvSpPr/>
          <p:nvPr/>
        </p:nvSpPr>
        <p:spPr>
          <a:xfrm>
            <a:off x="1191207" y="3757484"/>
            <a:ext cx="21892727" cy="2743242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6" name="Прямоугольник 65">
            <a:extLst>
              <a:ext uri="{FF2B5EF4-FFF2-40B4-BE49-F238E27FC236}">
                <a16:creationId xmlns:a16="http://schemas.microsoft.com/office/drawing/2014/main" id="{8595081D-C8D5-4DD7-A596-64AFD8B71C6C}"/>
              </a:ext>
            </a:extLst>
          </p:cNvPr>
          <p:cNvSpPr/>
          <p:nvPr/>
        </p:nvSpPr>
        <p:spPr>
          <a:xfrm>
            <a:off x="1356966" y="9067180"/>
            <a:ext cx="21892727" cy="2743242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0EB1059A-E47F-47FE-8048-B01ABCF2AF9A}"/>
              </a:ext>
            </a:extLst>
          </p:cNvPr>
          <p:cNvSpPr/>
          <p:nvPr/>
        </p:nvSpPr>
        <p:spPr>
          <a:xfrm>
            <a:off x="6485942" y="2399182"/>
            <a:ext cx="10570418" cy="976147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5543863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792E338-5663-41A4-8813-B01FCC2BC69A}"/>
              </a:ext>
            </a:extLst>
          </p:cNvPr>
          <p:cNvSpPr/>
          <p:nvPr/>
        </p:nvSpPr>
        <p:spPr>
          <a:xfrm>
            <a:off x="-127000" y="-25400"/>
            <a:ext cx="24672365" cy="137414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6390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638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8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3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639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6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639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9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639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2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640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5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640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8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640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1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640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4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641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7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64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0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64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3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64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6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64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9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64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2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64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5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64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8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64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1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64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4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64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63" name="Text 1">
            <a:extLst>
              <a:ext uri="{FF2B5EF4-FFF2-40B4-BE49-F238E27FC236}">
                <a16:creationId xmlns:a16="http://schemas.microsoft.com/office/drawing/2014/main" id="{79AB2086-D555-48BF-8A7C-96857B49D633}"/>
              </a:ext>
            </a:extLst>
          </p:cNvPr>
          <p:cNvSpPr/>
          <p:nvPr/>
        </p:nvSpPr>
        <p:spPr>
          <a:xfrm>
            <a:off x="1356966" y="1105917"/>
            <a:ext cx="21203588" cy="226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3000"/>
              </a:lnSpc>
            </a:pPr>
            <a:r>
              <a:rPr lang="ru-RU" sz="9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Экосистема </a:t>
            </a:r>
            <a:r>
              <a:rPr lang="en-US" sz="9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Spring</a:t>
            </a:r>
          </a:p>
          <a:p>
            <a:pPr>
              <a:lnSpc>
                <a:spcPct val="93000"/>
              </a:lnSpc>
            </a:pPr>
            <a:r>
              <a:rPr lang="ru-RU" sz="6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(более 20 фреймворков)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D5C2A0D-9599-481E-AB9D-67F7422B1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816" y="3481293"/>
            <a:ext cx="20452184" cy="8520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63030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792E338-5663-41A4-8813-B01FCC2BC69A}"/>
              </a:ext>
            </a:extLst>
          </p:cNvPr>
          <p:cNvSpPr/>
          <p:nvPr/>
        </p:nvSpPr>
        <p:spPr>
          <a:xfrm>
            <a:off x="-127000" y="-25400"/>
            <a:ext cx="24672365" cy="137414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6390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638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8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3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639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6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639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9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639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2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640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5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640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8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640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1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640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4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641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7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64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0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64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3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64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6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64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9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64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2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64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5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64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8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64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1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64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4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64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63" name="Text 1">
            <a:extLst>
              <a:ext uri="{FF2B5EF4-FFF2-40B4-BE49-F238E27FC236}">
                <a16:creationId xmlns:a16="http://schemas.microsoft.com/office/drawing/2014/main" id="{79AB2086-D555-48BF-8A7C-96857B49D633}"/>
              </a:ext>
            </a:extLst>
          </p:cNvPr>
          <p:cNvSpPr/>
          <p:nvPr/>
        </p:nvSpPr>
        <p:spPr>
          <a:xfrm>
            <a:off x="1356966" y="1105917"/>
            <a:ext cx="21203588" cy="226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3000"/>
              </a:lnSpc>
            </a:pPr>
            <a:r>
              <a:rPr lang="ru-RU" sz="9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Экосистема </a:t>
            </a:r>
            <a:r>
              <a:rPr lang="en-US" sz="9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Spring</a:t>
            </a:r>
          </a:p>
          <a:p>
            <a:pPr>
              <a:lnSpc>
                <a:spcPct val="93000"/>
              </a:lnSpc>
            </a:pPr>
            <a:r>
              <a:rPr lang="ru-RU" sz="6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(более 20 фреймворков)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6EB1264-59AF-4730-8A8F-3D055C2D7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941" y="3616377"/>
            <a:ext cx="20000118" cy="89937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21" y="0"/>
                </a:moveTo>
                <a:cubicBezTo>
                  <a:pt x="439" y="0"/>
                  <a:pt x="329" y="0"/>
                  <a:pt x="256" y="46"/>
                </a:cubicBezTo>
                <a:cubicBezTo>
                  <a:pt x="151" y="103"/>
                  <a:pt x="69" y="227"/>
                  <a:pt x="30" y="385"/>
                </a:cubicBezTo>
                <a:cubicBezTo>
                  <a:pt x="0" y="495"/>
                  <a:pt x="0" y="660"/>
                  <a:pt x="0" y="934"/>
                </a:cubicBezTo>
                <a:lnTo>
                  <a:pt x="0" y="20666"/>
                </a:lnTo>
                <a:cubicBezTo>
                  <a:pt x="0" y="20940"/>
                  <a:pt x="0" y="21104"/>
                  <a:pt x="30" y="21213"/>
                </a:cubicBezTo>
                <a:cubicBezTo>
                  <a:pt x="69" y="21371"/>
                  <a:pt x="151" y="21497"/>
                  <a:pt x="256" y="21554"/>
                </a:cubicBezTo>
                <a:cubicBezTo>
                  <a:pt x="329" y="21600"/>
                  <a:pt x="439" y="21600"/>
                  <a:pt x="621" y="21600"/>
                </a:cubicBezTo>
                <a:lnTo>
                  <a:pt x="20988" y="21600"/>
                </a:lnTo>
                <a:cubicBezTo>
                  <a:pt x="21170" y="21600"/>
                  <a:pt x="21279" y="21600"/>
                  <a:pt x="21352" y="21554"/>
                </a:cubicBezTo>
                <a:cubicBezTo>
                  <a:pt x="21457" y="21497"/>
                  <a:pt x="21540" y="21371"/>
                  <a:pt x="21578" y="21213"/>
                </a:cubicBezTo>
                <a:cubicBezTo>
                  <a:pt x="21590" y="21169"/>
                  <a:pt x="21596" y="21107"/>
                  <a:pt x="21600" y="21040"/>
                </a:cubicBezTo>
                <a:lnTo>
                  <a:pt x="21600" y="560"/>
                </a:lnTo>
                <a:cubicBezTo>
                  <a:pt x="21596" y="493"/>
                  <a:pt x="21590" y="430"/>
                  <a:pt x="21578" y="385"/>
                </a:cubicBezTo>
                <a:cubicBezTo>
                  <a:pt x="21540" y="227"/>
                  <a:pt x="21457" y="103"/>
                  <a:pt x="21352" y="46"/>
                </a:cubicBezTo>
                <a:cubicBezTo>
                  <a:pt x="21279" y="0"/>
                  <a:pt x="21170" y="0"/>
                  <a:pt x="20988" y="0"/>
                </a:cubicBezTo>
                <a:lnTo>
                  <a:pt x="621" y="0"/>
                </a:lnTo>
                <a:close/>
              </a:path>
            </a:pathLst>
          </a:cu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1727638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19314583" cy="129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en-US" dirty="0"/>
              <a:t>Spring Framework</a:t>
            </a:r>
            <a:r>
              <a:rPr lang="ru-RU" dirty="0"/>
              <a:t> (</a:t>
            </a:r>
            <a:r>
              <a:rPr lang="en-US" dirty="0"/>
              <a:t>Spring Core</a:t>
            </a:r>
            <a:r>
              <a:rPr lang="ru-RU" dirty="0"/>
              <a:t>)</a:t>
            </a:r>
          </a:p>
        </p:txBody>
      </p:sp>
      <p:sp>
        <p:nvSpPr>
          <p:cNvPr id="1013" name="Начало контента"/>
          <p:cNvSpPr txBox="1"/>
          <p:nvPr/>
        </p:nvSpPr>
        <p:spPr>
          <a:xfrm>
            <a:off x="1549400" y="2844981"/>
            <a:ext cx="21498560" cy="18825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rPr lang="ru-RU" sz="5400" dirty="0"/>
              <a:t>Фундаментальный модуль, включает в себя</a:t>
            </a:r>
            <a:r>
              <a:rPr lang="en-US" sz="5400" dirty="0"/>
              <a:t>:</a:t>
            </a:r>
          </a:p>
          <a:p>
            <a:pPr marL="914400" indent="-914400">
              <a:buAutoNum type="arabicPeriod"/>
            </a:pPr>
            <a:endParaRPr lang="en-US" sz="5400" dirty="0"/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0441027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19314583" cy="129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en-US" dirty="0"/>
              <a:t>Spring Framework</a:t>
            </a:r>
            <a:r>
              <a:rPr lang="ru-RU" dirty="0"/>
              <a:t> (</a:t>
            </a:r>
            <a:r>
              <a:rPr lang="en-US" dirty="0"/>
              <a:t>Spring Core</a:t>
            </a:r>
            <a:r>
              <a:rPr lang="ru-RU" dirty="0"/>
              <a:t>)</a:t>
            </a:r>
          </a:p>
        </p:txBody>
      </p:sp>
      <p:sp>
        <p:nvSpPr>
          <p:cNvPr id="1013" name="Начало контента"/>
          <p:cNvSpPr txBox="1"/>
          <p:nvPr/>
        </p:nvSpPr>
        <p:spPr>
          <a:xfrm>
            <a:off x="1549400" y="2844981"/>
            <a:ext cx="21498560" cy="37106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rPr lang="ru-RU" sz="5400" dirty="0"/>
              <a:t>Фундаментальный модуль, включает в себя</a:t>
            </a:r>
            <a:r>
              <a:rPr lang="en-US" sz="5400" dirty="0"/>
              <a:t>:</a:t>
            </a:r>
          </a:p>
          <a:p>
            <a:pPr marL="914400" indent="-914400">
              <a:buAutoNum type="arabicPeriod"/>
            </a:pP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IoC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-контейнер и </a:t>
            </a: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Dependency Injection</a:t>
            </a:r>
            <a:r>
              <a:rPr lang="ru-RU" sz="5400" dirty="0"/>
              <a:t> </a:t>
            </a:r>
            <a:r>
              <a:rPr lang="en-US" sz="5400" dirty="0"/>
              <a:t>– </a:t>
            </a:r>
            <a:r>
              <a:rPr lang="ru-RU" sz="5400" dirty="0"/>
              <a:t>управляет жизненным циклом объектов и их зависимостями</a:t>
            </a:r>
            <a:r>
              <a:rPr lang="en-US" sz="5400" dirty="0"/>
              <a:t> </a:t>
            </a:r>
          </a:p>
          <a:p>
            <a:pPr marL="914400" indent="-914400">
              <a:buAutoNum type="arabicPeriod"/>
            </a:pPr>
            <a:endParaRPr lang="en-US" sz="5400" dirty="0"/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3110685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19314583" cy="129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en-US" dirty="0"/>
              <a:t>Spring Framework</a:t>
            </a:r>
            <a:r>
              <a:rPr lang="ru-RU" dirty="0"/>
              <a:t> (</a:t>
            </a:r>
            <a:r>
              <a:rPr lang="en-US" dirty="0"/>
              <a:t>Spring Core</a:t>
            </a:r>
            <a:r>
              <a:rPr lang="ru-RU" dirty="0"/>
              <a:t>)</a:t>
            </a:r>
          </a:p>
        </p:txBody>
      </p:sp>
      <p:sp>
        <p:nvSpPr>
          <p:cNvPr id="1013" name="Начало контента"/>
          <p:cNvSpPr txBox="1"/>
          <p:nvPr/>
        </p:nvSpPr>
        <p:spPr>
          <a:xfrm>
            <a:off x="1549400" y="2844981"/>
            <a:ext cx="21498560" cy="5538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rPr lang="ru-RU" sz="5400" dirty="0"/>
              <a:t>Фундаментальный модуль, включает в себя</a:t>
            </a:r>
            <a:r>
              <a:rPr lang="en-US" sz="5400" dirty="0"/>
              <a:t>:</a:t>
            </a:r>
          </a:p>
          <a:p>
            <a:pPr marL="914400" indent="-914400">
              <a:buAutoNum type="arabicPeriod"/>
            </a:pP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IoC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-контейнер и </a:t>
            </a: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Dependency Injection</a:t>
            </a:r>
            <a:r>
              <a:rPr lang="ru-RU" sz="5400" dirty="0"/>
              <a:t> </a:t>
            </a:r>
            <a:r>
              <a:rPr lang="en-US" sz="5400" dirty="0"/>
              <a:t>– </a:t>
            </a:r>
            <a:r>
              <a:rPr lang="ru-RU" sz="5400" dirty="0"/>
              <a:t>управляет жизненным циклом объектов и их зависимостями</a:t>
            </a:r>
            <a:r>
              <a:rPr lang="en-US" sz="5400" dirty="0"/>
              <a:t> </a:t>
            </a:r>
          </a:p>
          <a:p>
            <a:pPr marL="914400" indent="-914400">
              <a:buAutoNum type="arabicPeriod"/>
            </a:pP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Spring Event System</a:t>
            </a:r>
            <a:r>
              <a:rPr lang="ru-RU" sz="5400" dirty="0"/>
              <a:t> </a:t>
            </a:r>
            <a:r>
              <a:rPr lang="en-US" sz="5400" dirty="0"/>
              <a:t>–</a:t>
            </a:r>
            <a:r>
              <a:rPr lang="ru-RU" sz="5400" dirty="0"/>
              <a:t> отправка и обработка событий внутри приложения</a:t>
            </a:r>
          </a:p>
          <a:p>
            <a:pPr marL="914400" indent="-914400">
              <a:buAutoNum type="arabicPeriod"/>
            </a:pPr>
            <a:endParaRPr lang="en-US" sz="5400" dirty="0"/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7218984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19314583" cy="129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en-US" dirty="0"/>
              <a:t>Spring Framework</a:t>
            </a:r>
            <a:r>
              <a:rPr lang="ru-RU" dirty="0"/>
              <a:t> (</a:t>
            </a:r>
            <a:r>
              <a:rPr lang="en-US" dirty="0"/>
              <a:t>Spring Core</a:t>
            </a:r>
            <a:r>
              <a:rPr lang="ru-RU" dirty="0"/>
              <a:t>)</a:t>
            </a:r>
          </a:p>
        </p:txBody>
      </p:sp>
      <p:sp>
        <p:nvSpPr>
          <p:cNvPr id="1013" name="Начало контента"/>
          <p:cNvSpPr txBox="1"/>
          <p:nvPr/>
        </p:nvSpPr>
        <p:spPr>
          <a:xfrm>
            <a:off x="1549400" y="2844981"/>
            <a:ext cx="21498560" cy="7367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rPr lang="ru-RU" sz="5400" dirty="0"/>
              <a:t>Фундаментальный модуль, включает в себя</a:t>
            </a:r>
            <a:r>
              <a:rPr lang="en-US" sz="5400" dirty="0"/>
              <a:t>:</a:t>
            </a:r>
          </a:p>
          <a:p>
            <a:pPr marL="914400" indent="-914400">
              <a:buAutoNum type="arabicPeriod"/>
            </a:pP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IoC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-контейнер и </a:t>
            </a: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Dependency Injection</a:t>
            </a:r>
            <a:r>
              <a:rPr lang="ru-RU" sz="5400" dirty="0"/>
              <a:t> </a:t>
            </a:r>
            <a:r>
              <a:rPr lang="en-US" sz="5400" dirty="0"/>
              <a:t>– </a:t>
            </a:r>
            <a:r>
              <a:rPr lang="ru-RU" sz="5400" dirty="0"/>
              <a:t>управляет жизненным циклом объектов и их зависимостями</a:t>
            </a:r>
            <a:r>
              <a:rPr lang="en-US" sz="5400" dirty="0"/>
              <a:t> </a:t>
            </a:r>
          </a:p>
          <a:p>
            <a:pPr marL="914400" indent="-914400">
              <a:buAutoNum type="arabicPeriod"/>
            </a:pP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Spring Event System</a:t>
            </a:r>
            <a:r>
              <a:rPr lang="ru-RU" sz="5400" dirty="0"/>
              <a:t> </a:t>
            </a:r>
            <a:r>
              <a:rPr lang="en-US" sz="5400" dirty="0"/>
              <a:t>–</a:t>
            </a:r>
            <a:r>
              <a:rPr lang="ru-RU" sz="5400" dirty="0"/>
              <a:t> отправка и обработка событий внутри приложения</a:t>
            </a:r>
          </a:p>
          <a:p>
            <a:pPr marL="914400" indent="-914400">
              <a:buAutoNum type="arabicPeriod"/>
            </a:pP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Spring Scheduling &amp; Task Execution</a:t>
            </a:r>
            <a:r>
              <a:rPr lang="ru-RU" sz="5400" dirty="0"/>
              <a:t> </a:t>
            </a:r>
            <a:r>
              <a:rPr lang="en-US" sz="5400" dirty="0"/>
              <a:t>–</a:t>
            </a:r>
            <a:r>
              <a:rPr lang="ru-RU" sz="5400" dirty="0"/>
              <a:t> формирование асинхронных задач и задач по расписанию</a:t>
            </a:r>
            <a:endParaRPr lang="en-US" sz="5400" dirty="0"/>
          </a:p>
          <a:p>
            <a:pPr marL="914400" indent="-914400">
              <a:buAutoNum type="arabicPeriod"/>
            </a:pPr>
            <a:endParaRPr lang="en-US" sz="5400" dirty="0"/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49856438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19314583" cy="129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en-US" dirty="0"/>
              <a:t>Spring Framework</a:t>
            </a:r>
            <a:r>
              <a:rPr lang="ru-RU" dirty="0"/>
              <a:t> (</a:t>
            </a:r>
            <a:r>
              <a:rPr lang="en-US" dirty="0"/>
              <a:t>Spring Core</a:t>
            </a:r>
            <a:r>
              <a:rPr lang="ru-RU" dirty="0"/>
              <a:t>)</a:t>
            </a:r>
          </a:p>
        </p:txBody>
      </p:sp>
      <p:sp>
        <p:nvSpPr>
          <p:cNvPr id="1013" name="Начало контента"/>
          <p:cNvSpPr txBox="1"/>
          <p:nvPr/>
        </p:nvSpPr>
        <p:spPr>
          <a:xfrm>
            <a:off x="1549400" y="2844981"/>
            <a:ext cx="21498560" cy="9195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rPr lang="ru-RU" sz="5400" dirty="0"/>
              <a:t>Фундаментальный модуль, включает в себя</a:t>
            </a:r>
            <a:r>
              <a:rPr lang="en-US" sz="5400" dirty="0"/>
              <a:t>:</a:t>
            </a:r>
          </a:p>
          <a:p>
            <a:pPr marL="914400" indent="-914400">
              <a:buAutoNum type="arabicPeriod"/>
            </a:pP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IoC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-контейнер и </a:t>
            </a: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Dependency Injection</a:t>
            </a:r>
            <a:r>
              <a:rPr lang="ru-RU" sz="5400" dirty="0"/>
              <a:t> </a:t>
            </a:r>
            <a:r>
              <a:rPr lang="en-US" sz="5400" dirty="0"/>
              <a:t>– </a:t>
            </a:r>
            <a:r>
              <a:rPr lang="ru-RU" sz="5400" dirty="0"/>
              <a:t>управляет жизненным циклом объектов и их зависимостями</a:t>
            </a:r>
            <a:r>
              <a:rPr lang="en-US" sz="5400" dirty="0"/>
              <a:t> </a:t>
            </a:r>
          </a:p>
          <a:p>
            <a:pPr marL="914400" indent="-914400">
              <a:buAutoNum type="arabicPeriod"/>
            </a:pP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Spring Event System</a:t>
            </a:r>
            <a:r>
              <a:rPr lang="ru-RU" sz="5400" dirty="0"/>
              <a:t> </a:t>
            </a:r>
            <a:r>
              <a:rPr lang="en-US" sz="5400" dirty="0"/>
              <a:t>–</a:t>
            </a:r>
            <a:r>
              <a:rPr lang="ru-RU" sz="5400" dirty="0"/>
              <a:t> отправка и обработка событий внутри приложения</a:t>
            </a:r>
          </a:p>
          <a:p>
            <a:pPr marL="914400" indent="-914400">
              <a:buAutoNum type="arabicPeriod"/>
            </a:pP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Spring Scheduling &amp; Task Execution</a:t>
            </a:r>
            <a:r>
              <a:rPr lang="ru-RU" sz="5400" dirty="0"/>
              <a:t> </a:t>
            </a:r>
            <a:r>
              <a:rPr lang="en-US" sz="5400" dirty="0"/>
              <a:t>–</a:t>
            </a:r>
            <a:r>
              <a:rPr lang="ru-RU" sz="5400" dirty="0"/>
              <a:t> формирование асинхронных задач и задач по расписанию</a:t>
            </a:r>
            <a:endParaRPr lang="en-US" sz="5400" dirty="0"/>
          </a:p>
          <a:p>
            <a:pPr marL="914400" indent="-914400">
              <a:buFontTx/>
              <a:buAutoNum type="arabicPeriod"/>
            </a:pP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Spring AOP </a:t>
            </a:r>
            <a:r>
              <a:rPr lang="en-US" sz="5400" dirty="0"/>
              <a:t>–</a:t>
            </a:r>
            <a:r>
              <a:rPr lang="ru-RU" sz="5400" dirty="0"/>
              <a:t> </a:t>
            </a:r>
            <a:r>
              <a:rPr lang="ru-RU" sz="5400" dirty="0" err="1"/>
              <a:t>аспектно</a:t>
            </a:r>
            <a:r>
              <a:rPr lang="ru-RU" sz="5400" dirty="0"/>
              <a:t>-ориентированное программирование</a:t>
            </a:r>
            <a:endParaRPr lang="en-US" sz="5400" dirty="0"/>
          </a:p>
          <a:p>
            <a:pPr marL="914400" indent="-914400">
              <a:buAutoNum type="arabicPeriod"/>
            </a:pPr>
            <a:endParaRPr lang="en-US" sz="5400" dirty="0"/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86692205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19314583" cy="129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en-US" dirty="0"/>
              <a:t>Spring Framework</a:t>
            </a:r>
            <a:r>
              <a:rPr lang="ru-RU" dirty="0"/>
              <a:t> (</a:t>
            </a:r>
            <a:r>
              <a:rPr lang="en-US" dirty="0"/>
              <a:t>Spring Core</a:t>
            </a:r>
            <a:r>
              <a:rPr lang="ru-RU" dirty="0"/>
              <a:t>)</a:t>
            </a:r>
          </a:p>
        </p:txBody>
      </p:sp>
      <p:sp>
        <p:nvSpPr>
          <p:cNvPr id="1013" name="Начало контента"/>
          <p:cNvSpPr txBox="1"/>
          <p:nvPr/>
        </p:nvSpPr>
        <p:spPr>
          <a:xfrm>
            <a:off x="1549400" y="2844981"/>
            <a:ext cx="21498560" cy="110234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rPr lang="ru-RU" sz="5400" dirty="0"/>
              <a:t>Фундаментальный модуль, включает в себя</a:t>
            </a:r>
            <a:r>
              <a:rPr lang="en-US" sz="5400" dirty="0"/>
              <a:t>:</a:t>
            </a:r>
          </a:p>
          <a:p>
            <a:pPr marL="914400" indent="-914400">
              <a:buAutoNum type="arabicPeriod"/>
            </a:pP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IoC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-контейнер и </a:t>
            </a: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Dependency Injection</a:t>
            </a:r>
            <a:r>
              <a:rPr lang="ru-RU" sz="5400" dirty="0"/>
              <a:t> </a:t>
            </a:r>
            <a:r>
              <a:rPr lang="en-US" sz="5400" dirty="0"/>
              <a:t>– </a:t>
            </a:r>
            <a:r>
              <a:rPr lang="ru-RU" sz="5400" dirty="0"/>
              <a:t>управляет жизненным циклом объектов и их зависимостями</a:t>
            </a:r>
            <a:r>
              <a:rPr lang="en-US" sz="5400" dirty="0"/>
              <a:t> </a:t>
            </a:r>
          </a:p>
          <a:p>
            <a:pPr marL="914400" indent="-914400">
              <a:buAutoNum type="arabicPeriod"/>
            </a:pP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Spring Event System</a:t>
            </a:r>
            <a:r>
              <a:rPr lang="ru-RU" sz="5400" dirty="0"/>
              <a:t> </a:t>
            </a:r>
            <a:r>
              <a:rPr lang="en-US" sz="5400" dirty="0"/>
              <a:t>–</a:t>
            </a:r>
            <a:r>
              <a:rPr lang="ru-RU" sz="5400" dirty="0"/>
              <a:t> отправка и обработка событий внутри приложения</a:t>
            </a:r>
          </a:p>
          <a:p>
            <a:pPr marL="914400" indent="-914400">
              <a:buAutoNum type="arabicPeriod"/>
            </a:pP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Spring Scheduling &amp; Task Execution</a:t>
            </a:r>
            <a:r>
              <a:rPr lang="ru-RU" sz="5400" dirty="0"/>
              <a:t> </a:t>
            </a:r>
            <a:r>
              <a:rPr lang="en-US" sz="5400" dirty="0"/>
              <a:t>–</a:t>
            </a:r>
            <a:r>
              <a:rPr lang="ru-RU" sz="5400" dirty="0"/>
              <a:t> формирование асинхронных задач и задач по расписанию</a:t>
            </a:r>
            <a:endParaRPr lang="en-US" sz="5400" dirty="0"/>
          </a:p>
          <a:p>
            <a:pPr marL="914400" indent="-914400">
              <a:buFontTx/>
              <a:buAutoNum type="arabicPeriod"/>
            </a:pP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Spring AOP </a:t>
            </a:r>
            <a:r>
              <a:rPr lang="en-US" sz="5400" dirty="0"/>
              <a:t>–</a:t>
            </a:r>
            <a:r>
              <a:rPr lang="ru-RU" sz="5400" dirty="0"/>
              <a:t> </a:t>
            </a:r>
            <a:r>
              <a:rPr lang="ru-RU" sz="5400" dirty="0" err="1"/>
              <a:t>аспектно</a:t>
            </a:r>
            <a:r>
              <a:rPr lang="ru-RU" sz="5400" dirty="0"/>
              <a:t>-ориентированное программирование</a:t>
            </a:r>
            <a:endParaRPr lang="en-US" sz="5400" dirty="0"/>
          </a:p>
          <a:p>
            <a:pPr marL="914400" indent="-914400">
              <a:buFontTx/>
              <a:buAutoNum type="arabicPeriod"/>
            </a:pP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Spring Profiles</a:t>
            </a:r>
            <a:r>
              <a:rPr lang="ru-RU" sz="5400" dirty="0"/>
              <a:t> </a:t>
            </a:r>
            <a:r>
              <a:rPr lang="en-US" sz="5400" dirty="0"/>
              <a:t>–</a:t>
            </a:r>
            <a:r>
              <a:rPr lang="ru-RU" sz="5400" dirty="0"/>
              <a:t> профили конфигурации приложения для работы в разных режимах</a:t>
            </a:r>
            <a:endParaRPr lang="en-US" sz="5400" dirty="0"/>
          </a:p>
          <a:p>
            <a:pPr marL="914400" indent="-914400">
              <a:buAutoNum type="arabicPeriod"/>
            </a:pPr>
            <a:endParaRPr lang="en-US" sz="5400" dirty="0"/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70447503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1" name="Заголовок"/>
          <p:cNvSpPr txBox="1"/>
          <p:nvPr/>
        </p:nvSpPr>
        <p:spPr>
          <a:xfrm>
            <a:off x="4848627" y="4865397"/>
            <a:ext cx="14196194" cy="3985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70000"/>
              </a:lnSpc>
              <a:defRPr sz="20000" spc="-400">
                <a:gradFill flip="none" rotWithShape="1">
                  <a:gsLst>
                    <a:gs pos="0">
                      <a:srgbClr val="34E234"/>
                    </a:gs>
                    <a:gs pos="19133">
                      <a:srgbClr val="9DCD25"/>
                    </a:gs>
                    <a:gs pos="39357">
                      <a:srgbClr val="F2E800"/>
                    </a:gs>
                    <a:gs pos="58861">
                      <a:srgbClr val="9DCD25"/>
                    </a:gs>
                    <a:gs pos="79839">
                      <a:srgbClr val="00A4E0"/>
                    </a:gs>
                    <a:gs pos="100000">
                      <a:srgbClr val="0086D0"/>
                    </a:gs>
                  </a:gsLst>
                  <a:lin ang="3000000" scaled="0"/>
                </a:gradFill>
                <a:latin typeface="SB Sans Display Light"/>
                <a:ea typeface="SB Sans Display Light"/>
                <a:cs typeface="SB Sans Display Light"/>
                <a:sym typeface="SB Sans Display Light"/>
              </a:defRPr>
            </a:lvl1pPr>
          </a:lstStyle>
          <a:p>
            <a:pPr algn="ctr"/>
            <a:r>
              <a:rPr lang="en-US" sz="11600" dirty="0"/>
              <a:t>Spring </a:t>
            </a:r>
            <a:r>
              <a:rPr lang="en-US" sz="11600" dirty="0" err="1"/>
              <a:t>IoC</a:t>
            </a:r>
            <a:r>
              <a:rPr lang="ru-RU" sz="11600" dirty="0"/>
              <a:t>-контейнер</a:t>
            </a:r>
          </a:p>
          <a:p>
            <a:pPr algn="ctr"/>
            <a:endParaRPr lang="en-US" sz="11600" dirty="0"/>
          </a:p>
          <a:p>
            <a:pPr algn="ctr"/>
            <a:r>
              <a:rPr lang="en-US" sz="11600" dirty="0"/>
              <a:t>Dependency Injection</a:t>
            </a:r>
            <a:endParaRPr lang="ru-RU" sz="11600" dirty="0"/>
          </a:p>
        </p:txBody>
      </p:sp>
      <p:grpSp>
        <p:nvGrpSpPr>
          <p:cNvPr id="4594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459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597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459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0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459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3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460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6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460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9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460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2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461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5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461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8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461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1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461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4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462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7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462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0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462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3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463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6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463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9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463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2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464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5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464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8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464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23375436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4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459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597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459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0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459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3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460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6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460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9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460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2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461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5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461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8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461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1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461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4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462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7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462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0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462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3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463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6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463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9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463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2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464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5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464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8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464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pic>
        <p:nvPicPr>
          <p:cNvPr id="14338" name="Picture 2" descr="Уровни айсберга мем - фото и картинки abrakadabra.fun">
            <a:extLst>
              <a:ext uri="{FF2B5EF4-FFF2-40B4-BE49-F238E27FC236}">
                <a16:creationId xmlns:a16="http://schemas.microsoft.com/office/drawing/2014/main" id="{3D6F3B9F-CB46-4071-877C-BC1E39744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5400" y="173136"/>
            <a:ext cx="9439275" cy="133697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21" y="0"/>
                </a:moveTo>
                <a:cubicBezTo>
                  <a:pt x="439" y="0"/>
                  <a:pt x="329" y="0"/>
                  <a:pt x="256" y="46"/>
                </a:cubicBezTo>
                <a:cubicBezTo>
                  <a:pt x="151" y="103"/>
                  <a:pt x="69" y="227"/>
                  <a:pt x="30" y="385"/>
                </a:cubicBezTo>
                <a:cubicBezTo>
                  <a:pt x="0" y="495"/>
                  <a:pt x="0" y="660"/>
                  <a:pt x="0" y="934"/>
                </a:cubicBezTo>
                <a:lnTo>
                  <a:pt x="0" y="20666"/>
                </a:lnTo>
                <a:cubicBezTo>
                  <a:pt x="0" y="20940"/>
                  <a:pt x="0" y="21104"/>
                  <a:pt x="30" y="21213"/>
                </a:cubicBezTo>
                <a:cubicBezTo>
                  <a:pt x="69" y="21371"/>
                  <a:pt x="151" y="21497"/>
                  <a:pt x="256" y="21554"/>
                </a:cubicBezTo>
                <a:cubicBezTo>
                  <a:pt x="329" y="21600"/>
                  <a:pt x="439" y="21600"/>
                  <a:pt x="621" y="21600"/>
                </a:cubicBezTo>
                <a:lnTo>
                  <a:pt x="20988" y="21600"/>
                </a:lnTo>
                <a:cubicBezTo>
                  <a:pt x="21170" y="21600"/>
                  <a:pt x="21279" y="21600"/>
                  <a:pt x="21352" y="21554"/>
                </a:cubicBezTo>
                <a:cubicBezTo>
                  <a:pt x="21457" y="21497"/>
                  <a:pt x="21540" y="21371"/>
                  <a:pt x="21578" y="21213"/>
                </a:cubicBezTo>
                <a:cubicBezTo>
                  <a:pt x="21590" y="21169"/>
                  <a:pt x="21596" y="21107"/>
                  <a:pt x="21600" y="21040"/>
                </a:cubicBezTo>
                <a:lnTo>
                  <a:pt x="21600" y="560"/>
                </a:lnTo>
                <a:cubicBezTo>
                  <a:pt x="21596" y="493"/>
                  <a:pt x="21590" y="430"/>
                  <a:pt x="21578" y="385"/>
                </a:cubicBezTo>
                <a:cubicBezTo>
                  <a:pt x="21540" y="227"/>
                  <a:pt x="21457" y="103"/>
                  <a:pt x="21352" y="46"/>
                </a:cubicBezTo>
                <a:cubicBezTo>
                  <a:pt x="21279" y="0"/>
                  <a:pt x="21170" y="0"/>
                  <a:pt x="20988" y="0"/>
                </a:cubicBezTo>
                <a:lnTo>
                  <a:pt x="621" y="0"/>
                </a:lnTo>
                <a:close/>
              </a:path>
            </a:pathLst>
          </a:custGeom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0704481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1" name="Заголовок"/>
          <p:cNvSpPr txBox="1"/>
          <p:nvPr/>
        </p:nvSpPr>
        <p:spPr>
          <a:xfrm>
            <a:off x="1524000" y="5810849"/>
            <a:ext cx="18152405" cy="2094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70000"/>
              </a:lnSpc>
              <a:defRPr sz="20000" spc="-400">
                <a:gradFill flip="none" rotWithShape="1">
                  <a:gsLst>
                    <a:gs pos="0">
                      <a:srgbClr val="34E234"/>
                    </a:gs>
                    <a:gs pos="19133">
                      <a:srgbClr val="9DCD25"/>
                    </a:gs>
                    <a:gs pos="39357">
                      <a:srgbClr val="F2E800"/>
                    </a:gs>
                    <a:gs pos="58861">
                      <a:srgbClr val="9DCD25"/>
                    </a:gs>
                    <a:gs pos="79839">
                      <a:srgbClr val="00A4E0"/>
                    </a:gs>
                    <a:gs pos="100000">
                      <a:srgbClr val="0086D0"/>
                    </a:gs>
                  </a:gsLst>
                  <a:lin ang="3000000" scaled="0"/>
                </a:gradFill>
                <a:latin typeface="SB Sans Display Light"/>
                <a:ea typeface="SB Sans Display Light"/>
                <a:cs typeface="SB Sans Display Light"/>
                <a:sym typeface="SB Sans Display Light"/>
              </a:defRPr>
            </a:lvl1pPr>
          </a:lstStyle>
          <a:p>
            <a:r>
              <a:rPr lang="ru-RU" sz="16700" dirty="0"/>
              <a:t>Вершина айсберга</a:t>
            </a:r>
          </a:p>
        </p:txBody>
      </p:sp>
      <p:grpSp>
        <p:nvGrpSpPr>
          <p:cNvPr id="4594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459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597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459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0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459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3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460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6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460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9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460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2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461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5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461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8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461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1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461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4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462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7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462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0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462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3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463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6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463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9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463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2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464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5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464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8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464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pic>
        <p:nvPicPr>
          <p:cNvPr id="61" name="Рисунок 60">
            <a:extLst>
              <a:ext uri="{FF2B5EF4-FFF2-40B4-BE49-F238E27FC236}">
                <a16:creationId xmlns:a16="http://schemas.microsoft.com/office/drawing/2014/main" id="{6E73023F-87BC-4A57-81A2-998D24B8E60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90427"/>
          <a:stretch/>
        </p:blipFill>
        <p:spPr>
          <a:xfrm>
            <a:off x="1758562" y="8231736"/>
            <a:ext cx="17611790" cy="20942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21" y="0"/>
                </a:moveTo>
                <a:cubicBezTo>
                  <a:pt x="439" y="0"/>
                  <a:pt x="329" y="0"/>
                  <a:pt x="256" y="46"/>
                </a:cubicBezTo>
                <a:cubicBezTo>
                  <a:pt x="151" y="103"/>
                  <a:pt x="69" y="227"/>
                  <a:pt x="30" y="385"/>
                </a:cubicBezTo>
                <a:cubicBezTo>
                  <a:pt x="0" y="495"/>
                  <a:pt x="0" y="660"/>
                  <a:pt x="0" y="934"/>
                </a:cubicBezTo>
                <a:lnTo>
                  <a:pt x="0" y="20666"/>
                </a:lnTo>
                <a:cubicBezTo>
                  <a:pt x="0" y="20940"/>
                  <a:pt x="0" y="21104"/>
                  <a:pt x="30" y="21213"/>
                </a:cubicBezTo>
                <a:cubicBezTo>
                  <a:pt x="69" y="21371"/>
                  <a:pt x="151" y="21497"/>
                  <a:pt x="256" y="21554"/>
                </a:cubicBezTo>
                <a:cubicBezTo>
                  <a:pt x="329" y="21600"/>
                  <a:pt x="439" y="21600"/>
                  <a:pt x="621" y="21600"/>
                </a:cubicBezTo>
                <a:lnTo>
                  <a:pt x="20988" y="21600"/>
                </a:lnTo>
                <a:cubicBezTo>
                  <a:pt x="21170" y="21600"/>
                  <a:pt x="21279" y="21600"/>
                  <a:pt x="21352" y="21554"/>
                </a:cubicBezTo>
                <a:cubicBezTo>
                  <a:pt x="21457" y="21497"/>
                  <a:pt x="21540" y="21371"/>
                  <a:pt x="21578" y="21213"/>
                </a:cubicBezTo>
                <a:cubicBezTo>
                  <a:pt x="21590" y="21169"/>
                  <a:pt x="21596" y="21107"/>
                  <a:pt x="21600" y="21040"/>
                </a:cubicBezTo>
                <a:lnTo>
                  <a:pt x="21600" y="560"/>
                </a:lnTo>
                <a:cubicBezTo>
                  <a:pt x="21596" y="493"/>
                  <a:pt x="21590" y="430"/>
                  <a:pt x="21578" y="385"/>
                </a:cubicBezTo>
                <a:cubicBezTo>
                  <a:pt x="21540" y="227"/>
                  <a:pt x="21457" y="103"/>
                  <a:pt x="21352" y="46"/>
                </a:cubicBezTo>
                <a:cubicBezTo>
                  <a:pt x="21279" y="0"/>
                  <a:pt x="21170" y="0"/>
                  <a:pt x="20988" y="0"/>
                </a:cubicBezTo>
                <a:lnTo>
                  <a:pt x="621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63" name="Picture 2" descr="Уровни айсберга мем - фото и картинки abrakadabra.fun">
            <a:extLst>
              <a:ext uri="{FF2B5EF4-FFF2-40B4-BE49-F238E27FC236}">
                <a16:creationId xmlns:a16="http://schemas.microsoft.com/office/drawing/2014/main" id="{2D6625AC-A242-4067-ADBE-AE6CC0BC50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" t="12517" r="520" b="76097"/>
          <a:stretch/>
        </p:blipFill>
        <p:spPr bwMode="auto">
          <a:xfrm>
            <a:off x="1758562" y="8231736"/>
            <a:ext cx="21749138" cy="35420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21" y="0"/>
                </a:moveTo>
                <a:cubicBezTo>
                  <a:pt x="439" y="0"/>
                  <a:pt x="329" y="0"/>
                  <a:pt x="256" y="46"/>
                </a:cubicBezTo>
                <a:cubicBezTo>
                  <a:pt x="151" y="103"/>
                  <a:pt x="69" y="227"/>
                  <a:pt x="30" y="385"/>
                </a:cubicBezTo>
                <a:cubicBezTo>
                  <a:pt x="0" y="495"/>
                  <a:pt x="0" y="660"/>
                  <a:pt x="0" y="934"/>
                </a:cubicBezTo>
                <a:lnTo>
                  <a:pt x="0" y="20666"/>
                </a:lnTo>
                <a:cubicBezTo>
                  <a:pt x="0" y="20940"/>
                  <a:pt x="0" y="21104"/>
                  <a:pt x="30" y="21213"/>
                </a:cubicBezTo>
                <a:cubicBezTo>
                  <a:pt x="69" y="21371"/>
                  <a:pt x="151" y="21497"/>
                  <a:pt x="256" y="21554"/>
                </a:cubicBezTo>
                <a:cubicBezTo>
                  <a:pt x="329" y="21600"/>
                  <a:pt x="439" y="21600"/>
                  <a:pt x="621" y="21600"/>
                </a:cubicBezTo>
                <a:lnTo>
                  <a:pt x="20988" y="21600"/>
                </a:lnTo>
                <a:cubicBezTo>
                  <a:pt x="21170" y="21600"/>
                  <a:pt x="21279" y="21600"/>
                  <a:pt x="21352" y="21554"/>
                </a:cubicBezTo>
                <a:cubicBezTo>
                  <a:pt x="21457" y="21497"/>
                  <a:pt x="21540" y="21371"/>
                  <a:pt x="21578" y="21213"/>
                </a:cubicBezTo>
                <a:cubicBezTo>
                  <a:pt x="21590" y="21169"/>
                  <a:pt x="21596" y="21107"/>
                  <a:pt x="21600" y="21040"/>
                </a:cubicBezTo>
                <a:lnTo>
                  <a:pt x="21600" y="560"/>
                </a:lnTo>
                <a:cubicBezTo>
                  <a:pt x="21596" y="493"/>
                  <a:pt x="21590" y="430"/>
                  <a:pt x="21578" y="385"/>
                </a:cubicBezTo>
                <a:cubicBezTo>
                  <a:pt x="21540" y="227"/>
                  <a:pt x="21457" y="103"/>
                  <a:pt x="21352" y="46"/>
                </a:cubicBezTo>
                <a:cubicBezTo>
                  <a:pt x="21279" y="0"/>
                  <a:pt x="21170" y="0"/>
                  <a:pt x="20988" y="0"/>
                </a:cubicBezTo>
                <a:lnTo>
                  <a:pt x="621" y="0"/>
                </a:lnTo>
                <a:close/>
              </a:path>
            </a:pathLst>
          </a:custGeom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7343038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11751615" cy="129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ru-RU" dirty="0"/>
              <a:t>Основные понятия</a:t>
            </a:r>
          </a:p>
        </p:txBody>
      </p:sp>
      <p:sp>
        <p:nvSpPr>
          <p:cNvPr id="1013" name="Начало контента"/>
          <p:cNvSpPr txBox="1"/>
          <p:nvPr/>
        </p:nvSpPr>
        <p:spPr>
          <a:xfrm>
            <a:off x="1549400" y="2844981"/>
            <a:ext cx="21498560" cy="9195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Bean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 </a:t>
            </a:r>
            <a:r>
              <a:rPr lang="ru-RU" sz="5400" dirty="0"/>
              <a:t>– </a:t>
            </a:r>
            <a:r>
              <a:rPr lang="en-US" sz="5400" dirty="0"/>
              <a:t>Java</a:t>
            </a:r>
            <a:r>
              <a:rPr lang="ru-RU" sz="5400" dirty="0"/>
              <a:t>-объект, который создается, отслеживается и управляется </a:t>
            </a:r>
            <a:r>
              <a:rPr lang="en-US" sz="5400" dirty="0"/>
              <a:t>Spring</a:t>
            </a:r>
            <a:r>
              <a:rPr lang="ru-RU" sz="5400" dirty="0"/>
              <a:t>-контейнером.</a:t>
            </a:r>
            <a:endParaRPr lang="ru-RU" sz="5400" dirty="0">
              <a:gradFill flip="none" rotWithShape="1">
                <a:gsLst>
                  <a:gs pos="0">
                    <a:srgbClr val="34E234"/>
                  </a:gs>
                  <a:gs pos="50594">
                    <a:srgbClr val="22E5A0"/>
                  </a:gs>
                  <a:gs pos="100000">
                    <a:srgbClr val="5AB0FF"/>
                  </a:gs>
                </a:gsLst>
                <a:lin ang="0" scaled="0"/>
              </a:gradFill>
              <a:latin typeface="SB Sans Display Semibold"/>
              <a:cs typeface="SB Sans Display Semibold"/>
            </a:endParaRPr>
          </a:p>
          <a:p>
            <a:endParaRPr lang="ru-RU" sz="5400" dirty="0">
              <a:gradFill flip="none" rotWithShape="1">
                <a:gsLst>
                  <a:gs pos="0">
                    <a:srgbClr val="34E234"/>
                  </a:gs>
                  <a:gs pos="50594">
                    <a:srgbClr val="22E5A0"/>
                  </a:gs>
                  <a:gs pos="100000">
                    <a:srgbClr val="5AB0FF"/>
                  </a:gs>
                </a:gsLst>
                <a:lin ang="0" scaled="0"/>
              </a:gradFill>
              <a:latin typeface="SB Sans Display Semibold"/>
              <a:cs typeface="SB Sans Display Semibold"/>
            </a:endParaRPr>
          </a:p>
          <a:p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Application Context</a:t>
            </a:r>
            <a:r>
              <a:rPr lang="ru-RU" sz="5400" dirty="0"/>
              <a:t> – </a:t>
            </a:r>
            <a:r>
              <a:rPr lang="en-US" sz="5400" dirty="0"/>
              <a:t>Spring-</a:t>
            </a:r>
            <a:r>
              <a:rPr lang="ru-RU" sz="5400" dirty="0"/>
              <a:t>контейнер, который управляет жизненным циклом и конфигурацией объектов (</a:t>
            </a:r>
            <a:r>
              <a:rPr lang="en-US" sz="5400" dirty="0"/>
              <a:t>bean)</a:t>
            </a:r>
            <a:r>
              <a:rPr lang="ru-RU" sz="5400" dirty="0"/>
              <a:t>.</a:t>
            </a:r>
          </a:p>
          <a:p>
            <a:endParaRPr lang="ru-RU" sz="5400" dirty="0"/>
          </a:p>
          <a:p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В конфигурации</a:t>
            </a:r>
            <a:r>
              <a:rPr lang="ru-RU" sz="5400" dirty="0"/>
              <a:t> </a:t>
            </a: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Spring</a:t>
            </a:r>
            <a:r>
              <a:rPr lang="en-US" sz="5400" dirty="0"/>
              <a:t> </a:t>
            </a:r>
            <a:r>
              <a:rPr lang="ru-RU" sz="5400" dirty="0"/>
              <a:t>содержит информацию о том, какие объекты нужно создать и как объекты между собой связаны. </a:t>
            </a:r>
            <a:r>
              <a:rPr lang="en-US" sz="5400" dirty="0"/>
              <a:t>Spring </a:t>
            </a:r>
            <a:r>
              <a:rPr lang="ru-RU" sz="5400" dirty="0"/>
              <a:t>использует конфигурацию чтобы создать</a:t>
            </a:r>
            <a:r>
              <a:rPr lang="en-US" sz="5400" dirty="0"/>
              <a:t> bean’</a:t>
            </a:r>
            <a:r>
              <a:rPr lang="ru-RU" sz="5400" dirty="0"/>
              <a:t>ы, добавить их в контейнер.</a:t>
            </a:r>
            <a:endParaRPr lang="en-US" sz="5400" dirty="0"/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63896661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19652816" cy="129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ru-RU" dirty="0"/>
              <a:t>Как работает </a:t>
            </a:r>
            <a:r>
              <a:rPr lang="en-US" dirty="0"/>
              <a:t>Spring Framework</a:t>
            </a:r>
            <a:endParaRPr lang="ru-RU" dirty="0"/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91E1551-16E0-4A09-9DB1-4058CB2A9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400" y="6539421"/>
            <a:ext cx="21738536" cy="51190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21" y="0"/>
                </a:moveTo>
                <a:cubicBezTo>
                  <a:pt x="439" y="0"/>
                  <a:pt x="329" y="0"/>
                  <a:pt x="256" y="46"/>
                </a:cubicBezTo>
                <a:cubicBezTo>
                  <a:pt x="151" y="103"/>
                  <a:pt x="69" y="227"/>
                  <a:pt x="30" y="385"/>
                </a:cubicBezTo>
                <a:cubicBezTo>
                  <a:pt x="0" y="495"/>
                  <a:pt x="0" y="660"/>
                  <a:pt x="0" y="934"/>
                </a:cubicBezTo>
                <a:lnTo>
                  <a:pt x="0" y="20666"/>
                </a:lnTo>
                <a:cubicBezTo>
                  <a:pt x="0" y="20940"/>
                  <a:pt x="0" y="21104"/>
                  <a:pt x="30" y="21213"/>
                </a:cubicBezTo>
                <a:cubicBezTo>
                  <a:pt x="69" y="21371"/>
                  <a:pt x="151" y="21497"/>
                  <a:pt x="256" y="21554"/>
                </a:cubicBezTo>
                <a:cubicBezTo>
                  <a:pt x="329" y="21600"/>
                  <a:pt x="439" y="21600"/>
                  <a:pt x="621" y="21600"/>
                </a:cubicBezTo>
                <a:lnTo>
                  <a:pt x="20988" y="21600"/>
                </a:lnTo>
                <a:cubicBezTo>
                  <a:pt x="21170" y="21600"/>
                  <a:pt x="21279" y="21600"/>
                  <a:pt x="21352" y="21554"/>
                </a:cubicBezTo>
                <a:cubicBezTo>
                  <a:pt x="21457" y="21497"/>
                  <a:pt x="21540" y="21371"/>
                  <a:pt x="21578" y="21213"/>
                </a:cubicBezTo>
                <a:cubicBezTo>
                  <a:pt x="21590" y="21169"/>
                  <a:pt x="21596" y="21107"/>
                  <a:pt x="21600" y="21040"/>
                </a:cubicBezTo>
                <a:lnTo>
                  <a:pt x="21600" y="560"/>
                </a:lnTo>
                <a:cubicBezTo>
                  <a:pt x="21596" y="493"/>
                  <a:pt x="21590" y="430"/>
                  <a:pt x="21578" y="385"/>
                </a:cubicBezTo>
                <a:cubicBezTo>
                  <a:pt x="21540" y="227"/>
                  <a:pt x="21457" y="103"/>
                  <a:pt x="21352" y="46"/>
                </a:cubicBezTo>
                <a:cubicBezTo>
                  <a:pt x="21279" y="0"/>
                  <a:pt x="21170" y="0"/>
                  <a:pt x="20988" y="0"/>
                </a:cubicBezTo>
                <a:lnTo>
                  <a:pt x="621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68" name="Начало контента">
            <a:extLst>
              <a:ext uri="{FF2B5EF4-FFF2-40B4-BE49-F238E27FC236}">
                <a16:creationId xmlns:a16="http://schemas.microsoft.com/office/drawing/2014/main" id="{86D28EC5-4DBB-4F91-B826-E7A4DC74C93C}"/>
              </a:ext>
            </a:extLst>
          </p:cNvPr>
          <p:cNvSpPr txBox="1"/>
          <p:nvPr/>
        </p:nvSpPr>
        <p:spPr>
          <a:xfrm>
            <a:off x="1549400" y="2844981"/>
            <a:ext cx="21498560" cy="2796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Все в </a:t>
            </a: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Spring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состоит из 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бинов</a:t>
            </a:r>
            <a:r>
              <a:rPr lang="ru-RU" sz="5400" dirty="0"/>
              <a:t>, жизненный цикл которых полностью регулируется </a:t>
            </a:r>
            <a:r>
              <a:rPr lang="en-US" sz="5400" dirty="0"/>
              <a:t>Spring</a:t>
            </a:r>
            <a:r>
              <a:rPr lang="ru-RU" sz="5400" dirty="0"/>
              <a:t>. После создания и конфигурации </a:t>
            </a:r>
            <a:r>
              <a:rPr lang="ru-RU" sz="5400" dirty="0" err="1"/>
              <a:t>бины</a:t>
            </a:r>
            <a:r>
              <a:rPr lang="ru-RU" sz="5400" dirty="0"/>
              <a:t> помещаются в </a:t>
            </a: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Spring-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контейнер</a:t>
            </a:r>
            <a:r>
              <a:rPr lang="ru-RU" sz="5400" dirty="0"/>
              <a:t>.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058881646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1" name="Заголовок"/>
          <p:cNvSpPr txBox="1"/>
          <p:nvPr/>
        </p:nvSpPr>
        <p:spPr>
          <a:xfrm>
            <a:off x="1524000" y="5810849"/>
            <a:ext cx="8386911" cy="2094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70000"/>
              </a:lnSpc>
              <a:defRPr sz="20000" spc="-400">
                <a:gradFill flip="none" rotWithShape="1">
                  <a:gsLst>
                    <a:gs pos="0">
                      <a:srgbClr val="34E234"/>
                    </a:gs>
                    <a:gs pos="19133">
                      <a:srgbClr val="9DCD25"/>
                    </a:gs>
                    <a:gs pos="39357">
                      <a:srgbClr val="F2E800"/>
                    </a:gs>
                    <a:gs pos="58861">
                      <a:srgbClr val="9DCD25"/>
                    </a:gs>
                    <a:gs pos="79839">
                      <a:srgbClr val="00A4E0"/>
                    </a:gs>
                    <a:gs pos="100000">
                      <a:srgbClr val="0086D0"/>
                    </a:gs>
                  </a:gsLst>
                  <a:lin ang="3000000" scaled="0"/>
                </a:gradFill>
                <a:latin typeface="SB Sans Display Light"/>
                <a:ea typeface="SB Sans Display Light"/>
                <a:cs typeface="SB Sans Display Light"/>
                <a:sym typeface="SB Sans Display Light"/>
              </a:defRPr>
            </a:lvl1pPr>
          </a:lstStyle>
          <a:p>
            <a:r>
              <a:rPr lang="ru-RU" sz="16700" dirty="0" err="1"/>
              <a:t>Демо</a:t>
            </a:r>
            <a:r>
              <a:rPr lang="ru-RU" sz="16700" dirty="0"/>
              <a:t> 00</a:t>
            </a:r>
          </a:p>
        </p:txBody>
      </p:sp>
      <p:grpSp>
        <p:nvGrpSpPr>
          <p:cNvPr id="4594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459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597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459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0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459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3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460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6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460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9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460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2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461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5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461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8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461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1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461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4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462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7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462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0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462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3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463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6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463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9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463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2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464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5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464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8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464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82981057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21214141" cy="129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ru-RU" b="1" dirty="0"/>
              <a:t>Типичные шаги в работе со </a:t>
            </a:r>
            <a:r>
              <a:rPr lang="ru-RU" b="1" dirty="0" err="1"/>
              <a:t>Spring</a:t>
            </a:r>
            <a:endParaRPr lang="ru-RU" b="1" dirty="0"/>
          </a:p>
        </p:txBody>
      </p:sp>
      <p:sp>
        <p:nvSpPr>
          <p:cNvPr id="1013" name="Начало контента"/>
          <p:cNvSpPr txBox="1"/>
          <p:nvPr/>
        </p:nvSpPr>
        <p:spPr>
          <a:xfrm>
            <a:off x="1549400" y="2844981"/>
            <a:ext cx="21498560" cy="37106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pPr marL="914400" indent="-914400">
              <a:buAutoNum type="arabicPeriod"/>
            </a:pPr>
            <a:r>
              <a:rPr lang="ru-RU" sz="5400" dirty="0"/>
              <a:t>Создать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конфигурационные классы</a:t>
            </a:r>
          </a:p>
          <a:p>
            <a:pPr marL="914400" indent="-914400">
              <a:buAutoNum type="arabicPeriod"/>
            </a:pP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Объявить 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бины</a:t>
            </a:r>
            <a:r>
              <a:rPr lang="ru-RU" sz="5400" dirty="0"/>
              <a:t> внутри конфигурационных классов</a:t>
            </a:r>
          </a:p>
          <a:p>
            <a:r>
              <a:rPr lang="ru-RU" sz="5400" dirty="0"/>
              <a:t>3.</a:t>
            </a:r>
            <a:r>
              <a:rPr lang="en-US" sz="5400" dirty="0"/>
              <a:t> </a:t>
            </a:r>
            <a:r>
              <a:rPr lang="ru-RU" sz="5400" dirty="0"/>
              <a:t>Проинициализировать </a:t>
            </a:r>
            <a:r>
              <a:rPr lang="en-US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ApplicationContext</a:t>
            </a:r>
            <a:endParaRPr lang="ru-RU" sz="5400" dirty="0">
              <a:gradFill flip="none" rotWithShape="1">
                <a:gsLst>
                  <a:gs pos="0">
                    <a:srgbClr val="34E234"/>
                  </a:gs>
                  <a:gs pos="50594">
                    <a:srgbClr val="22E5A0"/>
                  </a:gs>
                  <a:gs pos="100000">
                    <a:srgbClr val="5AB0FF"/>
                  </a:gs>
                </a:gsLst>
                <a:lin ang="0" scaled="0"/>
              </a:gradFill>
              <a:latin typeface="SB Sans Display Semibold"/>
              <a:cs typeface="SB Sans Display Semibold"/>
            </a:endParaRPr>
          </a:p>
          <a:p>
            <a:r>
              <a:rPr lang="ru-RU" sz="5400" dirty="0"/>
              <a:t>4. Использовать </a:t>
            </a:r>
            <a:r>
              <a:rPr lang="en-US" sz="5400" dirty="0" err="1"/>
              <a:t>ApplicationContext</a:t>
            </a:r>
            <a:r>
              <a:rPr lang="ru-RU" sz="5400" dirty="0"/>
              <a:t> для получения </a:t>
            </a:r>
            <a:r>
              <a:rPr lang="ru-RU" sz="5400" dirty="0" err="1"/>
              <a:t>бинов</a:t>
            </a:r>
            <a:r>
              <a:rPr lang="ru-RU" sz="5400" dirty="0"/>
              <a:t>.</a:t>
            </a:r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0FF431E-04C1-42CA-973F-BDC0C6F488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4010" y="5296748"/>
            <a:ext cx="17891979" cy="9333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829117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20302033" cy="129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en-US" dirty="0"/>
              <a:t>1) </a:t>
            </a:r>
            <a:r>
              <a:rPr lang="ru-RU" dirty="0"/>
              <a:t>Конфигурация </a:t>
            </a:r>
            <a:r>
              <a:rPr lang="en-US" dirty="0"/>
              <a:t>@Configuration</a:t>
            </a:r>
            <a:endParaRPr lang="ru-RU" dirty="0"/>
          </a:p>
        </p:txBody>
      </p:sp>
      <p:sp>
        <p:nvSpPr>
          <p:cNvPr id="1013" name="Начало контента"/>
          <p:cNvSpPr txBox="1"/>
          <p:nvPr/>
        </p:nvSpPr>
        <p:spPr>
          <a:xfrm>
            <a:off x="1549400" y="2844981"/>
            <a:ext cx="21498560" cy="9221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Конфигурационные классы помечены аннотацией @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Configuration</a:t>
            </a:r>
            <a:r>
              <a:rPr lang="ru-RU" sz="5400" dirty="0"/>
              <a:t>. Они используются для создания и настройки </a:t>
            </a:r>
            <a:r>
              <a:rPr lang="ru-RU" sz="5400" dirty="0" err="1"/>
              <a:t>бинов</a:t>
            </a:r>
            <a:r>
              <a:rPr lang="ru-RU" sz="5400" dirty="0"/>
              <a:t> в контексте </a:t>
            </a:r>
            <a:r>
              <a:rPr lang="en-US" sz="5400" dirty="0"/>
              <a:t>Spring</a:t>
            </a:r>
            <a:r>
              <a:rPr lang="ru-RU" sz="5400" dirty="0"/>
              <a:t>.</a:t>
            </a:r>
          </a:p>
          <a:p>
            <a:endParaRPr lang="ru-RU" sz="5400" dirty="0"/>
          </a:p>
          <a:p>
            <a:r>
              <a:rPr lang="ru-RU" sz="5400" dirty="0"/>
              <a:t>Конфигурационные классы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содержат методы, помеченные аннотацией </a:t>
            </a: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@Bean</a:t>
            </a:r>
            <a:r>
              <a:rPr lang="ru-RU" sz="5400" dirty="0"/>
              <a:t>. Такие методы возвращают объекты (</a:t>
            </a:r>
            <a:r>
              <a:rPr lang="ru-RU" sz="5400" dirty="0" err="1"/>
              <a:t>бины</a:t>
            </a:r>
            <a:r>
              <a:rPr lang="ru-RU" sz="5400" dirty="0"/>
              <a:t>), управляемые контекстом </a:t>
            </a:r>
            <a:r>
              <a:rPr lang="en-US" sz="5400" dirty="0"/>
              <a:t>Spring.</a:t>
            </a:r>
            <a:endParaRPr lang="ru-RU" sz="5400" dirty="0"/>
          </a:p>
          <a:p>
            <a:endParaRPr lang="ru-RU" sz="5400" dirty="0"/>
          </a:p>
          <a:p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Отдельный метод</a:t>
            </a:r>
            <a:r>
              <a:rPr lang="ru-RU" sz="5400" dirty="0"/>
              <a:t> создает и конфигурирует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отдельный бин </a:t>
            </a:r>
            <a:r>
              <a:rPr lang="ru-RU" sz="5400" dirty="0"/>
              <a:t>(объект).</a:t>
            </a:r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25709761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15226925" cy="129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ru-RU" dirty="0"/>
              <a:t>2</a:t>
            </a:r>
            <a:r>
              <a:rPr lang="en-US" dirty="0"/>
              <a:t>) </a:t>
            </a:r>
            <a:r>
              <a:rPr lang="ru-RU" dirty="0" err="1"/>
              <a:t>Бины</a:t>
            </a:r>
            <a:r>
              <a:rPr lang="ru-RU" dirty="0"/>
              <a:t>-объекты </a:t>
            </a:r>
            <a:r>
              <a:rPr lang="en-US" dirty="0"/>
              <a:t>@Bean</a:t>
            </a:r>
            <a:endParaRPr lang="ru-RU" dirty="0"/>
          </a:p>
        </p:txBody>
      </p:sp>
      <p:sp>
        <p:nvSpPr>
          <p:cNvPr id="1013" name="Начало контента"/>
          <p:cNvSpPr txBox="1"/>
          <p:nvPr/>
        </p:nvSpPr>
        <p:spPr>
          <a:xfrm>
            <a:off x="1549400" y="2844981"/>
            <a:ext cx="21498560" cy="9195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rPr lang="ru-RU" sz="5400" dirty="0"/>
              <a:t>Аннотация </a:t>
            </a: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@Bean </a:t>
            </a:r>
            <a:r>
              <a:rPr lang="ru-RU" sz="5400" dirty="0"/>
              <a:t>сообщает </a:t>
            </a:r>
            <a:r>
              <a:rPr lang="en-US" sz="5400" dirty="0"/>
              <a:t>Spring</a:t>
            </a:r>
            <a:r>
              <a:rPr lang="ru-RU" sz="5400" dirty="0"/>
              <a:t>, что метод создает и возвращает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бин, который должен быть зарегистрирован в </a:t>
            </a: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Spring-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контейнере</a:t>
            </a:r>
            <a:r>
              <a:rPr lang="ru-RU" sz="5400" dirty="0"/>
              <a:t>. У каждого </a:t>
            </a:r>
            <a:r>
              <a:rPr lang="ru-RU" sz="5400" dirty="0" err="1"/>
              <a:t>бина</a:t>
            </a:r>
            <a:r>
              <a:rPr lang="ru-RU" sz="5400" dirty="0"/>
              <a:t> есть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имя и тип</a:t>
            </a:r>
            <a:r>
              <a:rPr lang="ru-RU" sz="5400" dirty="0"/>
              <a:t>.</a:t>
            </a:r>
          </a:p>
          <a:p>
            <a:endParaRPr lang="ru-RU" sz="5400" dirty="0"/>
          </a:p>
          <a:p>
            <a:r>
              <a:rPr lang="ru-RU" sz="5400" dirty="0" err="1"/>
              <a:t>Spring</a:t>
            </a:r>
            <a:r>
              <a:rPr lang="ru-RU" sz="5400" dirty="0"/>
              <a:t>-контейнер управляет жизненным циклом </a:t>
            </a:r>
            <a:r>
              <a:rPr lang="ru-RU" sz="5400" dirty="0" err="1"/>
              <a:t>бина</a:t>
            </a:r>
            <a:r>
              <a:rPr lang="ru-RU" sz="5400" dirty="0"/>
              <a:t>, включая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создание 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бина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, внедрение зависимостей и уничтожение 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бина</a:t>
            </a:r>
            <a:r>
              <a:rPr lang="ru-RU" sz="5400" dirty="0"/>
              <a:t> при завершении работы приложения.</a:t>
            </a:r>
          </a:p>
          <a:p>
            <a:endParaRPr lang="ru-RU" sz="5400" dirty="0"/>
          </a:p>
          <a:p>
            <a:r>
              <a:rPr lang="ru-RU" sz="5400" dirty="0" err="1"/>
              <a:t>Spring</a:t>
            </a:r>
            <a:r>
              <a:rPr lang="ru-RU" sz="5400" dirty="0"/>
              <a:t>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определяет порядок инициализации 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бинов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 </a:t>
            </a:r>
            <a:r>
              <a:rPr lang="ru-RU" sz="5400" dirty="0"/>
              <a:t>на основе их зависимостей.</a:t>
            </a:r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48095886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15614852" cy="129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ru-RU" dirty="0"/>
              <a:t>Порядок создания </a:t>
            </a:r>
            <a:r>
              <a:rPr lang="ru-RU" dirty="0" err="1"/>
              <a:t>бинов</a:t>
            </a:r>
            <a:endParaRPr lang="ru-RU" dirty="0"/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702A202-B2C9-4964-93C6-DEECA234F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721" y="3860391"/>
            <a:ext cx="22173358" cy="81411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21" y="0"/>
                </a:moveTo>
                <a:cubicBezTo>
                  <a:pt x="439" y="0"/>
                  <a:pt x="329" y="0"/>
                  <a:pt x="256" y="46"/>
                </a:cubicBezTo>
                <a:cubicBezTo>
                  <a:pt x="151" y="103"/>
                  <a:pt x="69" y="227"/>
                  <a:pt x="30" y="385"/>
                </a:cubicBezTo>
                <a:cubicBezTo>
                  <a:pt x="0" y="495"/>
                  <a:pt x="0" y="660"/>
                  <a:pt x="0" y="934"/>
                </a:cubicBezTo>
                <a:lnTo>
                  <a:pt x="0" y="20666"/>
                </a:lnTo>
                <a:cubicBezTo>
                  <a:pt x="0" y="20940"/>
                  <a:pt x="0" y="21104"/>
                  <a:pt x="30" y="21213"/>
                </a:cubicBezTo>
                <a:cubicBezTo>
                  <a:pt x="69" y="21371"/>
                  <a:pt x="151" y="21497"/>
                  <a:pt x="256" y="21554"/>
                </a:cubicBezTo>
                <a:cubicBezTo>
                  <a:pt x="329" y="21600"/>
                  <a:pt x="439" y="21600"/>
                  <a:pt x="621" y="21600"/>
                </a:cubicBezTo>
                <a:lnTo>
                  <a:pt x="20988" y="21600"/>
                </a:lnTo>
                <a:cubicBezTo>
                  <a:pt x="21170" y="21600"/>
                  <a:pt x="21279" y="21600"/>
                  <a:pt x="21352" y="21554"/>
                </a:cubicBezTo>
                <a:cubicBezTo>
                  <a:pt x="21457" y="21497"/>
                  <a:pt x="21540" y="21371"/>
                  <a:pt x="21578" y="21213"/>
                </a:cubicBezTo>
                <a:cubicBezTo>
                  <a:pt x="21590" y="21169"/>
                  <a:pt x="21596" y="21107"/>
                  <a:pt x="21600" y="21040"/>
                </a:cubicBezTo>
                <a:lnTo>
                  <a:pt x="21600" y="560"/>
                </a:lnTo>
                <a:cubicBezTo>
                  <a:pt x="21596" y="493"/>
                  <a:pt x="21590" y="430"/>
                  <a:pt x="21578" y="385"/>
                </a:cubicBezTo>
                <a:cubicBezTo>
                  <a:pt x="21540" y="227"/>
                  <a:pt x="21457" y="103"/>
                  <a:pt x="21352" y="46"/>
                </a:cubicBezTo>
                <a:cubicBezTo>
                  <a:pt x="21279" y="0"/>
                  <a:pt x="21170" y="0"/>
                  <a:pt x="20988" y="0"/>
                </a:cubicBezTo>
                <a:lnTo>
                  <a:pt x="621" y="0"/>
                </a:lnTo>
                <a:close/>
              </a:path>
            </a:pathLst>
          </a:cu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13512754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15614852" cy="129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ru-RU" dirty="0"/>
              <a:t>Порядок создания </a:t>
            </a:r>
            <a:r>
              <a:rPr lang="ru-RU" dirty="0" err="1"/>
              <a:t>бинов</a:t>
            </a:r>
            <a:endParaRPr lang="ru-RU" dirty="0"/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E49538E-1150-4B30-8094-C5DF79DDE7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850" y="1668719"/>
            <a:ext cx="18859500" cy="1254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551153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22462881" cy="129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ru-RU" dirty="0"/>
              <a:t>3</a:t>
            </a:r>
            <a:r>
              <a:rPr lang="en-US" dirty="0"/>
              <a:t>) Spring-</a:t>
            </a:r>
            <a:r>
              <a:rPr lang="ru-RU" dirty="0"/>
              <a:t>контейнер</a:t>
            </a:r>
            <a:r>
              <a:rPr lang="en-US" dirty="0"/>
              <a:t>. </a:t>
            </a:r>
            <a:r>
              <a:rPr lang="en-US" dirty="0" err="1"/>
              <a:t>IoC</a:t>
            </a:r>
            <a:r>
              <a:rPr lang="ru-RU" dirty="0"/>
              <a:t>-контейнер</a:t>
            </a:r>
          </a:p>
        </p:txBody>
      </p:sp>
      <p:sp>
        <p:nvSpPr>
          <p:cNvPr id="1013" name="Начало контента"/>
          <p:cNvSpPr txBox="1"/>
          <p:nvPr/>
        </p:nvSpPr>
        <p:spPr>
          <a:xfrm>
            <a:off x="1524001" y="3161014"/>
            <a:ext cx="21498560" cy="4624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rPr lang="en-US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ApplicationContext</a:t>
            </a:r>
            <a:r>
              <a:rPr lang="en-US" sz="5400" dirty="0"/>
              <a:t> — </a:t>
            </a:r>
            <a:r>
              <a:rPr lang="ru-RU" sz="5400" dirty="0"/>
              <a:t>это интерфейс в </a:t>
            </a:r>
            <a:r>
              <a:rPr lang="en-US" sz="5400" dirty="0"/>
              <a:t>Spring Framework, </a:t>
            </a:r>
            <a:r>
              <a:rPr lang="ru-RU" sz="5400" dirty="0"/>
              <a:t>представляющий </a:t>
            </a:r>
            <a:r>
              <a:rPr lang="en-US" sz="5400" dirty="0" err="1"/>
              <a:t>IoC</a:t>
            </a:r>
            <a:r>
              <a:rPr lang="en-US" sz="5400" dirty="0"/>
              <a:t>-</a:t>
            </a:r>
            <a:r>
              <a:rPr lang="ru-RU" sz="5400" dirty="0"/>
              <a:t>контейнер.</a:t>
            </a:r>
          </a:p>
          <a:p>
            <a:endParaRPr lang="ru-RU" sz="5400" dirty="0"/>
          </a:p>
          <a:p>
            <a:pPr lvl="0" eaLnBrk="0"/>
            <a:r>
              <a:rPr lang="ru-RU" alt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AnnotationConfigApplicationContext</a:t>
            </a:r>
            <a:r>
              <a:rPr lang="ru-RU" alt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 </a:t>
            </a:r>
            <a:r>
              <a:rPr lang="ru-RU" altLang="ru-RU" sz="5400" dirty="0"/>
              <a:t>- используется для конфигурации </a:t>
            </a:r>
            <a:r>
              <a:rPr lang="ru-RU" altLang="ru-RU" sz="5400" dirty="0" err="1"/>
              <a:t>Spring</a:t>
            </a:r>
            <a:r>
              <a:rPr lang="ru-RU" altLang="ru-RU" sz="5400" dirty="0"/>
              <a:t>-контекста через аннотации.</a:t>
            </a:r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19AE9B5-5561-4F75-A9E3-3DDC24D6FA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5" y="7539036"/>
            <a:ext cx="24445031" cy="496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321661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21693439" cy="129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ru-RU" dirty="0"/>
              <a:t>4</a:t>
            </a:r>
            <a:r>
              <a:rPr lang="en-US" dirty="0"/>
              <a:t>) </a:t>
            </a:r>
            <a:r>
              <a:rPr lang="ru-RU" dirty="0"/>
              <a:t>Получение </a:t>
            </a:r>
            <a:r>
              <a:rPr lang="ru-RU" dirty="0" err="1"/>
              <a:t>бинов</a:t>
            </a:r>
            <a:r>
              <a:rPr lang="ru-RU" dirty="0"/>
              <a:t> из контейнера</a:t>
            </a:r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9492A82-F44E-4AFE-B152-C2FD845CC1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69" y="3655383"/>
            <a:ext cx="24220699" cy="8320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987385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21214141" cy="129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ru-RU" b="1" dirty="0"/>
              <a:t>Типичные шаги в работе со </a:t>
            </a:r>
            <a:r>
              <a:rPr lang="ru-RU" b="1" dirty="0" err="1"/>
              <a:t>Spring</a:t>
            </a:r>
            <a:endParaRPr lang="ru-RU" b="1" dirty="0"/>
          </a:p>
        </p:txBody>
      </p:sp>
      <p:sp>
        <p:nvSpPr>
          <p:cNvPr id="1013" name="Начало контента"/>
          <p:cNvSpPr txBox="1"/>
          <p:nvPr/>
        </p:nvSpPr>
        <p:spPr>
          <a:xfrm>
            <a:off x="1549400" y="2844981"/>
            <a:ext cx="21498560" cy="37106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pPr marL="914400" indent="-914400">
              <a:buAutoNum type="arabicPeriod"/>
            </a:pPr>
            <a:r>
              <a:rPr lang="ru-RU" sz="5400" dirty="0"/>
              <a:t>Создать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конфигурационные классы</a:t>
            </a:r>
          </a:p>
          <a:p>
            <a:pPr marL="914400" indent="-914400">
              <a:buAutoNum type="arabicPeriod"/>
            </a:pP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Объявить 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бины</a:t>
            </a:r>
            <a:r>
              <a:rPr lang="ru-RU" sz="5400" dirty="0"/>
              <a:t> внутри конфигурационных классов</a:t>
            </a:r>
          </a:p>
          <a:p>
            <a:r>
              <a:rPr lang="ru-RU" sz="5400" dirty="0"/>
              <a:t>3.</a:t>
            </a:r>
            <a:r>
              <a:rPr lang="en-US" sz="5400" dirty="0"/>
              <a:t> </a:t>
            </a:r>
            <a:r>
              <a:rPr lang="ru-RU" sz="5400" dirty="0"/>
              <a:t>Проинициализировать </a:t>
            </a:r>
            <a:r>
              <a:rPr lang="en-US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ApplicationContext</a:t>
            </a:r>
            <a:endParaRPr lang="ru-RU" sz="5400" dirty="0">
              <a:gradFill flip="none" rotWithShape="1">
                <a:gsLst>
                  <a:gs pos="0">
                    <a:srgbClr val="34E234"/>
                  </a:gs>
                  <a:gs pos="50594">
                    <a:srgbClr val="22E5A0"/>
                  </a:gs>
                  <a:gs pos="100000">
                    <a:srgbClr val="5AB0FF"/>
                  </a:gs>
                </a:gsLst>
                <a:lin ang="0" scaled="0"/>
              </a:gradFill>
              <a:latin typeface="SB Sans Display Semibold"/>
              <a:cs typeface="SB Sans Display Semibold"/>
            </a:endParaRPr>
          </a:p>
          <a:p>
            <a:r>
              <a:rPr lang="ru-RU" sz="5400" dirty="0"/>
              <a:t>4. Использовать </a:t>
            </a:r>
            <a:r>
              <a:rPr lang="en-US" sz="5400" dirty="0" err="1"/>
              <a:t>ApplicationContext</a:t>
            </a:r>
            <a:r>
              <a:rPr lang="ru-RU" sz="5400" dirty="0"/>
              <a:t> для получения </a:t>
            </a:r>
            <a:r>
              <a:rPr lang="ru-RU" sz="5400" dirty="0" err="1"/>
              <a:t>бинов</a:t>
            </a:r>
            <a:r>
              <a:rPr lang="ru-RU" sz="5400" dirty="0"/>
              <a:t>.</a:t>
            </a:r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0FF431E-04C1-42CA-973F-BDC0C6F488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4010" y="5296748"/>
            <a:ext cx="17891979" cy="9333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124157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1" name="Заголовок"/>
          <p:cNvSpPr txBox="1"/>
          <p:nvPr/>
        </p:nvSpPr>
        <p:spPr>
          <a:xfrm>
            <a:off x="1524000" y="5810849"/>
            <a:ext cx="7958910" cy="2094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70000"/>
              </a:lnSpc>
              <a:defRPr sz="20000" spc="-400">
                <a:gradFill flip="none" rotWithShape="1">
                  <a:gsLst>
                    <a:gs pos="0">
                      <a:srgbClr val="34E234"/>
                    </a:gs>
                    <a:gs pos="19133">
                      <a:srgbClr val="9DCD25"/>
                    </a:gs>
                    <a:gs pos="39357">
                      <a:srgbClr val="F2E800"/>
                    </a:gs>
                    <a:gs pos="58861">
                      <a:srgbClr val="9DCD25"/>
                    </a:gs>
                    <a:gs pos="79839">
                      <a:srgbClr val="00A4E0"/>
                    </a:gs>
                    <a:gs pos="100000">
                      <a:srgbClr val="0086D0"/>
                    </a:gs>
                  </a:gsLst>
                  <a:lin ang="3000000" scaled="0"/>
                </a:gradFill>
                <a:latin typeface="SB Sans Display Light"/>
                <a:ea typeface="SB Sans Display Light"/>
                <a:cs typeface="SB Sans Display Light"/>
                <a:sym typeface="SB Sans Display Light"/>
              </a:defRPr>
            </a:lvl1pPr>
          </a:lstStyle>
          <a:p>
            <a:r>
              <a:rPr lang="ru-RU" sz="16700" dirty="0" err="1"/>
              <a:t>Демо</a:t>
            </a:r>
            <a:r>
              <a:rPr lang="ru-RU" sz="16700" dirty="0"/>
              <a:t> </a:t>
            </a:r>
            <a:r>
              <a:rPr lang="en-US" sz="16700" dirty="0"/>
              <a:t>01</a:t>
            </a:r>
            <a:endParaRPr lang="ru-RU" sz="16700" dirty="0"/>
          </a:p>
        </p:txBody>
      </p:sp>
      <p:grpSp>
        <p:nvGrpSpPr>
          <p:cNvPr id="4594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459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597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459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0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459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3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460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6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460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9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460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2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461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5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461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8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461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1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461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4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462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7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462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0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462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3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463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6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463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9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463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2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464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5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464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8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464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71941570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12867305" cy="129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ru-RU" dirty="0"/>
              <a:t>Выводы после главы</a:t>
            </a:r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18562088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12867305" cy="129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ru-RU" dirty="0"/>
              <a:t>Выводы после главы</a:t>
            </a:r>
          </a:p>
        </p:txBody>
      </p:sp>
      <p:sp>
        <p:nvSpPr>
          <p:cNvPr id="1013" name="Начало контента"/>
          <p:cNvSpPr txBox="1"/>
          <p:nvPr/>
        </p:nvSpPr>
        <p:spPr>
          <a:xfrm>
            <a:off x="1549400" y="2844981"/>
            <a:ext cx="21498560" cy="4624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pPr marL="914400" indent="-914400">
              <a:buAutoNum type="arabicPeriod"/>
            </a:pPr>
            <a:r>
              <a:rPr lang="ru-RU" sz="5400" dirty="0"/>
              <a:t>Контроль приложением осуществляется </a:t>
            </a:r>
            <a:r>
              <a:rPr lang="en-US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IoC</a:t>
            </a: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-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контейнером 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а.к.а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 </a:t>
            </a: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Spring-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контейнером 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а.к.а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 </a:t>
            </a:r>
            <a:r>
              <a:rPr lang="en-US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ApplicationContext</a:t>
            </a: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.</a:t>
            </a:r>
            <a:endParaRPr lang="ru-RU" sz="5400" dirty="0">
              <a:gradFill flip="none" rotWithShape="1">
                <a:gsLst>
                  <a:gs pos="0">
                    <a:srgbClr val="34E234"/>
                  </a:gs>
                  <a:gs pos="50594">
                    <a:srgbClr val="22E5A0"/>
                  </a:gs>
                  <a:gs pos="100000">
                    <a:srgbClr val="5AB0FF"/>
                  </a:gs>
                </a:gsLst>
                <a:lin ang="0" scaled="0"/>
              </a:gradFill>
              <a:latin typeface="SB Sans Display Semibold"/>
              <a:cs typeface="SB Sans Display Semibold"/>
            </a:endParaRPr>
          </a:p>
          <a:p>
            <a:pPr marL="914400" indent="-914400">
              <a:buAutoNum type="arabicPeriod"/>
            </a:pPr>
            <a:endParaRPr lang="ru-RU" sz="5400" dirty="0"/>
          </a:p>
          <a:p>
            <a:pPr marL="914400" indent="-914400">
              <a:buAutoNum type="arabicPeriod"/>
            </a:pPr>
            <a:endParaRPr lang="ru-RU" sz="5400" dirty="0"/>
          </a:p>
          <a:p>
            <a:pPr marL="914400" indent="-914400">
              <a:buAutoNum type="arabicPeriod"/>
            </a:pPr>
            <a:endParaRPr lang="en-US" sz="5400" dirty="0"/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05395560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12867305" cy="129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ru-RU" dirty="0"/>
              <a:t>Выводы после главы</a:t>
            </a:r>
          </a:p>
        </p:txBody>
      </p:sp>
      <p:sp>
        <p:nvSpPr>
          <p:cNvPr id="1013" name="Начало контента"/>
          <p:cNvSpPr txBox="1"/>
          <p:nvPr/>
        </p:nvSpPr>
        <p:spPr>
          <a:xfrm>
            <a:off x="1549400" y="2844981"/>
            <a:ext cx="21498560" cy="7367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pPr marL="914400" indent="-914400">
              <a:buAutoNum type="arabicPeriod"/>
            </a:pPr>
            <a:r>
              <a:rPr lang="ru-RU" sz="5400" dirty="0"/>
              <a:t>Контроль приложением осуществляется </a:t>
            </a:r>
            <a:r>
              <a:rPr lang="en-US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IoC</a:t>
            </a: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-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контейнером 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а.к.а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 </a:t>
            </a: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Spring-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контейнером 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а.к.а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 </a:t>
            </a:r>
            <a:r>
              <a:rPr lang="en-US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ApplicationContext</a:t>
            </a: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.</a:t>
            </a:r>
            <a:endParaRPr lang="ru-RU" sz="5400" dirty="0">
              <a:gradFill flip="none" rotWithShape="1">
                <a:gsLst>
                  <a:gs pos="0">
                    <a:srgbClr val="34E234"/>
                  </a:gs>
                  <a:gs pos="50594">
                    <a:srgbClr val="22E5A0"/>
                  </a:gs>
                  <a:gs pos="100000">
                    <a:srgbClr val="5AB0FF"/>
                  </a:gs>
                </a:gsLst>
                <a:lin ang="0" scaled="0"/>
              </a:gradFill>
              <a:latin typeface="SB Sans Display Semibold"/>
              <a:cs typeface="SB Sans Display Semibold"/>
            </a:endParaRPr>
          </a:p>
          <a:p>
            <a:pPr marL="914400" indent="-914400">
              <a:buAutoNum type="arabicPeriod"/>
            </a:pPr>
            <a:r>
              <a:rPr lang="en-US" sz="5400" dirty="0"/>
              <a:t>Spring-</a:t>
            </a:r>
            <a:r>
              <a:rPr lang="ru-RU" sz="5400" dirty="0"/>
              <a:t>контейнер содержит 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бины</a:t>
            </a:r>
            <a:r>
              <a:rPr lang="ru-RU" sz="5400" dirty="0"/>
              <a:t> – специальные объекты, помеченные аннотацией </a:t>
            </a: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@Bean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 </a:t>
            </a:r>
            <a:r>
              <a:rPr lang="ru-RU" sz="5400" dirty="0"/>
              <a:t>создаваемые, конфигурируемые и управляемые </a:t>
            </a:r>
            <a:r>
              <a:rPr lang="en-US" sz="5400" dirty="0"/>
              <a:t>Spring</a:t>
            </a:r>
            <a:r>
              <a:rPr lang="ru-RU" sz="5400" dirty="0"/>
              <a:t>.</a:t>
            </a:r>
          </a:p>
          <a:p>
            <a:pPr marL="914400" indent="-914400">
              <a:buAutoNum type="arabicPeriod"/>
            </a:pPr>
            <a:endParaRPr lang="ru-RU" sz="5400" dirty="0"/>
          </a:p>
          <a:p>
            <a:pPr marL="914400" indent="-914400">
              <a:buAutoNum type="arabicPeriod"/>
            </a:pPr>
            <a:endParaRPr lang="ru-RU" sz="5400" dirty="0"/>
          </a:p>
          <a:p>
            <a:pPr marL="914400" indent="-914400">
              <a:buAutoNum type="arabicPeriod"/>
            </a:pPr>
            <a:endParaRPr lang="en-US" sz="5400" dirty="0"/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693057118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12867305" cy="129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ru-RU" dirty="0"/>
              <a:t>Выводы после главы</a:t>
            </a:r>
          </a:p>
        </p:txBody>
      </p:sp>
      <p:sp>
        <p:nvSpPr>
          <p:cNvPr id="1013" name="Начало контента"/>
          <p:cNvSpPr txBox="1"/>
          <p:nvPr/>
        </p:nvSpPr>
        <p:spPr>
          <a:xfrm>
            <a:off x="1549400" y="2844981"/>
            <a:ext cx="21498560" cy="9195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pPr marL="914400" indent="-914400">
              <a:buAutoNum type="arabicPeriod"/>
            </a:pPr>
            <a:r>
              <a:rPr lang="ru-RU" sz="5400" dirty="0"/>
              <a:t>Контроль приложением осуществляется </a:t>
            </a:r>
            <a:r>
              <a:rPr lang="en-US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IoC</a:t>
            </a: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-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контейнером 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а.к.а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 </a:t>
            </a: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Spring-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контейнером 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а.к.а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 </a:t>
            </a:r>
            <a:r>
              <a:rPr lang="en-US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ApplicationContext</a:t>
            </a: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.</a:t>
            </a:r>
            <a:endParaRPr lang="ru-RU" sz="5400" dirty="0">
              <a:gradFill flip="none" rotWithShape="1">
                <a:gsLst>
                  <a:gs pos="0">
                    <a:srgbClr val="34E234"/>
                  </a:gs>
                  <a:gs pos="50594">
                    <a:srgbClr val="22E5A0"/>
                  </a:gs>
                  <a:gs pos="100000">
                    <a:srgbClr val="5AB0FF"/>
                  </a:gs>
                </a:gsLst>
                <a:lin ang="0" scaled="0"/>
              </a:gradFill>
              <a:latin typeface="SB Sans Display Semibold"/>
              <a:cs typeface="SB Sans Display Semibold"/>
            </a:endParaRPr>
          </a:p>
          <a:p>
            <a:pPr marL="914400" indent="-914400">
              <a:buAutoNum type="arabicPeriod"/>
            </a:pPr>
            <a:r>
              <a:rPr lang="en-US" sz="5400" dirty="0"/>
              <a:t>Spring-</a:t>
            </a:r>
            <a:r>
              <a:rPr lang="ru-RU" sz="5400" dirty="0"/>
              <a:t>контейнер содержит 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бины</a:t>
            </a:r>
            <a:r>
              <a:rPr lang="ru-RU" sz="5400" dirty="0"/>
              <a:t> – специальные объекты, помеченные аннотацией </a:t>
            </a: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@Bean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 </a:t>
            </a:r>
            <a:r>
              <a:rPr lang="ru-RU" sz="5400" dirty="0"/>
              <a:t>создаваемые, конфигурируемые и управляемые </a:t>
            </a:r>
            <a:r>
              <a:rPr lang="en-US" sz="5400" dirty="0"/>
              <a:t>Spring</a:t>
            </a:r>
            <a:r>
              <a:rPr lang="ru-RU" sz="5400" dirty="0"/>
              <a:t>.</a:t>
            </a:r>
          </a:p>
          <a:p>
            <a:pPr marL="914400" indent="-914400">
              <a:buAutoNum type="arabicPeriod"/>
            </a:pPr>
            <a:r>
              <a:rPr lang="ru-RU" sz="5400" dirty="0"/>
              <a:t>Информация о </a:t>
            </a:r>
            <a:r>
              <a:rPr lang="ru-RU" sz="5400" dirty="0" err="1"/>
              <a:t>бинах</a:t>
            </a:r>
            <a:r>
              <a:rPr lang="ru-RU" sz="5400" dirty="0"/>
              <a:t> содержится в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конфигурационных классах</a:t>
            </a:r>
            <a:r>
              <a:rPr lang="ru-RU" sz="5400" dirty="0"/>
              <a:t>, помеченных аннотацией </a:t>
            </a: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@Configuration</a:t>
            </a:r>
            <a:endParaRPr lang="ru-RU" sz="5400" dirty="0">
              <a:gradFill flip="none" rotWithShape="1">
                <a:gsLst>
                  <a:gs pos="0">
                    <a:srgbClr val="34E234"/>
                  </a:gs>
                  <a:gs pos="50594">
                    <a:srgbClr val="22E5A0"/>
                  </a:gs>
                  <a:gs pos="100000">
                    <a:srgbClr val="5AB0FF"/>
                  </a:gs>
                </a:gsLst>
                <a:lin ang="0" scaled="0"/>
              </a:gradFill>
              <a:latin typeface="SB Sans Display Semibold"/>
              <a:cs typeface="SB Sans Display Semibold"/>
            </a:endParaRPr>
          </a:p>
          <a:p>
            <a:pPr marL="914400" indent="-914400">
              <a:buAutoNum type="arabicPeriod"/>
            </a:pPr>
            <a:endParaRPr lang="ru-RU" sz="5400" dirty="0"/>
          </a:p>
          <a:p>
            <a:pPr marL="914400" indent="-914400">
              <a:buAutoNum type="arabicPeriod"/>
            </a:pPr>
            <a:endParaRPr lang="ru-RU" sz="5400" dirty="0"/>
          </a:p>
          <a:p>
            <a:pPr marL="914400" indent="-914400">
              <a:buAutoNum type="arabicPeriod"/>
            </a:pPr>
            <a:endParaRPr lang="en-US" sz="5400" dirty="0"/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16160164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12867305" cy="129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ru-RU" dirty="0"/>
              <a:t>Выводы после главы</a:t>
            </a:r>
          </a:p>
        </p:txBody>
      </p:sp>
      <p:sp>
        <p:nvSpPr>
          <p:cNvPr id="1013" name="Начало контента"/>
          <p:cNvSpPr txBox="1"/>
          <p:nvPr/>
        </p:nvSpPr>
        <p:spPr>
          <a:xfrm>
            <a:off x="1549400" y="2844981"/>
            <a:ext cx="21498560" cy="110234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pPr marL="914400" indent="-914400">
              <a:buAutoNum type="arabicPeriod"/>
            </a:pPr>
            <a:r>
              <a:rPr lang="ru-RU" sz="5400" dirty="0"/>
              <a:t>Контроль приложением осуществляется </a:t>
            </a:r>
            <a:r>
              <a:rPr lang="en-US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IoC</a:t>
            </a: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-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контейнером 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а.к.а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 </a:t>
            </a: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Spring-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контейнером 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а.к.а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 </a:t>
            </a:r>
            <a:r>
              <a:rPr lang="en-US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ApplicationContext</a:t>
            </a: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.</a:t>
            </a:r>
            <a:endParaRPr lang="ru-RU" sz="5400" dirty="0">
              <a:gradFill flip="none" rotWithShape="1">
                <a:gsLst>
                  <a:gs pos="0">
                    <a:srgbClr val="34E234"/>
                  </a:gs>
                  <a:gs pos="50594">
                    <a:srgbClr val="22E5A0"/>
                  </a:gs>
                  <a:gs pos="100000">
                    <a:srgbClr val="5AB0FF"/>
                  </a:gs>
                </a:gsLst>
                <a:lin ang="0" scaled="0"/>
              </a:gradFill>
              <a:latin typeface="SB Sans Display Semibold"/>
              <a:cs typeface="SB Sans Display Semibold"/>
            </a:endParaRPr>
          </a:p>
          <a:p>
            <a:pPr marL="914400" indent="-914400">
              <a:buAutoNum type="arabicPeriod"/>
            </a:pPr>
            <a:r>
              <a:rPr lang="en-US" sz="5400" dirty="0"/>
              <a:t>Spring-</a:t>
            </a:r>
            <a:r>
              <a:rPr lang="ru-RU" sz="5400" dirty="0"/>
              <a:t>контейнер содержит 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бины</a:t>
            </a:r>
            <a:r>
              <a:rPr lang="ru-RU" sz="5400" dirty="0"/>
              <a:t> – специальные объекты, помеченные аннотацией </a:t>
            </a: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@Bean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 </a:t>
            </a:r>
            <a:r>
              <a:rPr lang="ru-RU" sz="5400" dirty="0"/>
              <a:t>создаваемые, конфигурируемые и управляемые </a:t>
            </a:r>
            <a:r>
              <a:rPr lang="en-US" sz="5400" dirty="0"/>
              <a:t>Spring</a:t>
            </a:r>
            <a:r>
              <a:rPr lang="ru-RU" sz="5400" dirty="0"/>
              <a:t>.</a:t>
            </a:r>
          </a:p>
          <a:p>
            <a:pPr marL="914400" indent="-914400">
              <a:buAutoNum type="arabicPeriod"/>
            </a:pPr>
            <a:r>
              <a:rPr lang="ru-RU" sz="5400" dirty="0"/>
              <a:t>Информация о </a:t>
            </a:r>
            <a:r>
              <a:rPr lang="ru-RU" sz="5400" dirty="0" err="1"/>
              <a:t>бинах</a:t>
            </a:r>
            <a:r>
              <a:rPr lang="ru-RU" sz="5400" dirty="0"/>
              <a:t> содержится в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конфигурационных классах</a:t>
            </a:r>
            <a:r>
              <a:rPr lang="ru-RU" sz="5400" dirty="0"/>
              <a:t>, помеченных аннотацией </a:t>
            </a: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@Configuration</a:t>
            </a:r>
            <a:endParaRPr lang="ru-RU" sz="5400" dirty="0">
              <a:gradFill flip="none" rotWithShape="1">
                <a:gsLst>
                  <a:gs pos="0">
                    <a:srgbClr val="34E234"/>
                  </a:gs>
                  <a:gs pos="50594">
                    <a:srgbClr val="22E5A0"/>
                  </a:gs>
                  <a:gs pos="100000">
                    <a:srgbClr val="5AB0FF"/>
                  </a:gs>
                </a:gsLst>
                <a:lin ang="0" scaled="0"/>
              </a:gradFill>
              <a:latin typeface="SB Sans Display Semibold"/>
              <a:cs typeface="SB Sans Display Semibold"/>
            </a:endParaRPr>
          </a:p>
          <a:p>
            <a:pPr marL="914400" indent="-914400">
              <a:buAutoNum type="arabicPeriod"/>
            </a:pPr>
            <a:r>
              <a:rPr lang="ru-RU" sz="5400" dirty="0"/>
              <a:t>Для создания </a:t>
            </a:r>
            <a:r>
              <a:rPr lang="ru-RU" sz="5400" dirty="0" err="1"/>
              <a:t>бинов</a:t>
            </a:r>
            <a:r>
              <a:rPr lang="ru-RU" sz="5400" dirty="0"/>
              <a:t> могут требоваться вспомогательные </a:t>
            </a:r>
            <a:r>
              <a:rPr lang="ru-RU" sz="5400" dirty="0" err="1"/>
              <a:t>бины</a:t>
            </a:r>
            <a:r>
              <a:rPr lang="ru-RU" sz="5400" dirty="0"/>
              <a:t> –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зависимости</a:t>
            </a:r>
            <a:r>
              <a:rPr lang="ru-RU" sz="5400" dirty="0"/>
              <a:t>.</a:t>
            </a:r>
          </a:p>
          <a:p>
            <a:pPr marL="914400" indent="-914400">
              <a:buAutoNum type="arabicPeriod"/>
            </a:pPr>
            <a:endParaRPr lang="ru-RU" sz="5400" dirty="0"/>
          </a:p>
          <a:p>
            <a:pPr marL="914400" indent="-914400">
              <a:buAutoNum type="arabicPeriod"/>
            </a:pPr>
            <a:endParaRPr lang="ru-RU" sz="5400" dirty="0"/>
          </a:p>
          <a:p>
            <a:pPr marL="914400" indent="-914400">
              <a:buAutoNum type="arabicPeriod"/>
            </a:pPr>
            <a:endParaRPr lang="en-US" sz="5400" dirty="0"/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653032290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12867305" cy="129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ru-RU" dirty="0"/>
              <a:t>Выводы после главы</a:t>
            </a:r>
          </a:p>
        </p:txBody>
      </p:sp>
      <p:sp>
        <p:nvSpPr>
          <p:cNvPr id="1013" name="Начало контента"/>
          <p:cNvSpPr txBox="1"/>
          <p:nvPr/>
        </p:nvSpPr>
        <p:spPr>
          <a:xfrm>
            <a:off x="1549400" y="2844981"/>
            <a:ext cx="21498560" cy="12851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pPr marL="914400" indent="-914400">
              <a:buAutoNum type="arabicPeriod"/>
            </a:pPr>
            <a:r>
              <a:rPr lang="ru-RU" sz="5400" dirty="0"/>
              <a:t>Контроль приложением осуществляется </a:t>
            </a:r>
            <a:r>
              <a:rPr lang="en-US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IoC</a:t>
            </a: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-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контейнером 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а.к.а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 </a:t>
            </a: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Spring-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контейнером 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а.к.а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 </a:t>
            </a:r>
            <a:r>
              <a:rPr lang="en-US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ApplicationContext</a:t>
            </a: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.</a:t>
            </a:r>
            <a:endParaRPr lang="ru-RU" sz="5400" dirty="0">
              <a:gradFill flip="none" rotWithShape="1">
                <a:gsLst>
                  <a:gs pos="0">
                    <a:srgbClr val="34E234"/>
                  </a:gs>
                  <a:gs pos="50594">
                    <a:srgbClr val="22E5A0"/>
                  </a:gs>
                  <a:gs pos="100000">
                    <a:srgbClr val="5AB0FF"/>
                  </a:gs>
                </a:gsLst>
                <a:lin ang="0" scaled="0"/>
              </a:gradFill>
              <a:latin typeface="SB Sans Display Semibold"/>
              <a:cs typeface="SB Sans Display Semibold"/>
            </a:endParaRPr>
          </a:p>
          <a:p>
            <a:pPr marL="914400" indent="-914400">
              <a:buAutoNum type="arabicPeriod"/>
            </a:pPr>
            <a:r>
              <a:rPr lang="en-US" sz="5400" dirty="0"/>
              <a:t>Spring-</a:t>
            </a:r>
            <a:r>
              <a:rPr lang="ru-RU" sz="5400" dirty="0"/>
              <a:t>контейнер содержит 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бины</a:t>
            </a:r>
            <a:r>
              <a:rPr lang="ru-RU" sz="5400" dirty="0"/>
              <a:t> – специальные объекты, помеченные аннотацией </a:t>
            </a: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@Bean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 </a:t>
            </a:r>
            <a:r>
              <a:rPr lang="ru-RU" sz="5400" dirty="0"/>
              <a:t>создаваемые, конфигурируемые и управляемые </a:t>
            </a:r>
            <a:r>
              <a:rPr lang="en-US" sz="5400" dirty="0"/>
              <a:t>Spring</a:t>
            </a:r>
            <a:r>
              <a:rPr lang="ru-RU" sz="5400" dirty="0"/>
              <a:t>.</a:t>
            </a:r>
          </a:p>
          <a:p>
            <a:pPr marL="914400" indent="-914400">
              <a:buAutoNum type="arabicPeriod"/>
            </a:pPr>
            <a:r>
              <a:rPr lang="ru-RU" sz="5400" dirty="0"/>
              <a:t>Информация о </a:t>
            </a:r>
            <a:r>
              <a:rPr lang="ru-RU" sz="5400" dirty="0" err="1"/>
              <a:t>бинах</a:t>
            </a:r>
            <a:r>
              <a:rPr lang="ru-RU" sz="5400" dirty="0"/>
              <a:t> содержится в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конфигурационных классах</a:t>
            </a:r>
            <a:r>
              <a:rPr lang="ru-RU" sz="5400" dirty="0"/>
              <a:t>, помеченных аннотацией </a:t>
            </a: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@Configuration</a:t>
            </a:r>
            <a:endParaRPr lang="ru-RU" sz="5400" dirty="0">
              <a:gradFill flip="none" rotWithShape="1">
                <a:gsLst>
                  <a:gs pos="0">
                    <a:srgbClr val="34E234"/>
                  </a:gs>
                  <a:gs pos="50594">
                    <a:srgbClr val="22E5A0"/>
                  </a:gs>
                  <a:gs pos="100000">
                    <a:srgbClr val="5AB0FF"/>
                  </a:gs>
                </a:gsLst>
                <a:lin ang="0" scaled="0"/>
              </a:gradFill>
              <a:latin typeface="SB Sans Display Semibold"/>
              <a:cs typeface="SB Sans Display Semibold"/>
            </a:endParaRPr>
          </a:p>
          <a:p>
            <a:pPr marL="914400" indent="-914400">
              <a:buAutoNum type="arabicPeriod"/>
            </a:pPr>
            <a:r>
              <a:rPr lang="ru-RU" sz="5400" dirty="0"/>
              <a:t>Для создания </a:t>
            </a:r>
            <a:r>
              <a:rPr lang="ru-RU" sz="5400" dirty="0" err="1"/>
              <a:t>бинов</a:t>
            </a:r>
            <a:r>
              <a:rPr lang="ru-RU" sz="5400" dirty="0"/>
              <a:t> могут требоваться вспомогательные </a:t>
            </a:r>
            <a:r>
              <a:rPr lang="ru-RU" sz="5400" dirty="0" err="1"/>
              <a:t>бины</a:t>
            </a:r>
            <a:r>
              <a:rPr lang="ru-RU" sz="5400" dirty="0"/>
              <a:t> –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зависимости</a:t>
            </a:r>
            <a:r>
              <a:rPr lang="ru-RU" sz="5400" dirty="0"/>
              <a:t>.</a:t>
            </a:r>
          </a:p>
          <a:p>
            <a:pPr marL="914400" indent="-914400">
              <a:buFontTx/>
              <a:buAutoNum type="arabicPeriod"/>
            </a:pPr>
            <a:r>
              <a:rPr lang="ru-RU" sz="5400" dirty="0" err="1"/>
              <a:t>Spring</a:t>
            </a:r>
            <a:r>
              <a:rPr lang="ru-RU" sz="5400" dirty="0"/>
              <a:t>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определяет порядок инициализации 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бинов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 </a:t>
            </a:r>
            <a:r>
              <a:rPr lang="ru-RU" sz="5400" dirty="0"/>
              <a:t>на основе их зависимостей. Он сам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создает и внедряет </a:t>
            </a:r>
            <a:r>
              <a:rPr lang="ru-RU" sz="5400" dirty="0"/>
              <a:t>зависимости.</a:t>
            </a:r>
          </a:p>
          <a:p>
            <a:pPr marL="914400" indent="-914400">
              <a:buAutoNum type="arabicPeriod"/>
            </a:pPr>
            <a:endParaRPr lang="ru-RU" sz="5400" dirty="0"/>
          </a:p>
          <a:p>
            <a:pPr marL="914400" indent="-914400">
              <a:buAutoNum type="arabicPeriod"/>
            </a:pPr>
            <a:endParaRPr lang="ru-RU" sz="5400" dirty="0"/>
          </a:p>
          <a:p>
            <a:pPr marL="914400" indent="-914400">
              <a:buAutoNum type="arabicPeriod"/>
            </a:pPr>
            <a:endParaRPr lang="en-US" sz="5400" dirty="0"/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91987023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1" name="Заголовок"/>
          <p:cNvSpPr txBox="1"/>
          <p:nvPr/>
        </p:nvSpPr>
        <p:spPr>
          <a:xfrm>
            <a:off x="1524000" y="5810849"/>
            <a:ext cx="12056186" cy="2094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70000"/>
              </a:lnSpc>
              <a:defRPr sz="20000" spc="-400">
                <a:gradFill flip="none" rotWithShape="1">
                  <a:gsLst>
                    <a:gs pos="0">
                      <a:srgbClr val="34E234"/>
                    </a:gs>
                    <a:gs pos="19133">
                      <a:srgbClr val="9DCD25"/>
                    </a:gs>
                    <a:gs pos="39357">
                      <a:srgbClr val="F2E800"/>
                    </a:gs>
                    <a:gs pos="58861">
                      <a:srgbClr val="9DCD25"/>
                    </a:gs>
                    <a:gs pos="79839">
                      <a:srgbClr val="00A4E0"/>
                    </a:gs>
                    <a:gs pos="100000">
                      <a:srgbClr val="0086D0"/>
                    </a:gs>
                  </a:gsLst>
                  <a:lin ang="3000000" scaled="0"/>
                </a:gradFill>
                <a:latin typeface="SB Sans Display Light"/>
                <a:ea typeface="SB Sans Display Light"/>
                <a:cs typeface="SB Sans Display Light"/>
                <a:sym typeface="SB Sans Display Light"/>
              </a:defRPr>
            </a:lvl1pPr>
          </a:lstStyle>
          <a:p>
            <a:r>
              <a:rPr lang="ru-RU" sz="16700" dirty="0"/>
              <a:t>Мелководье</a:t>
            </a:r>
          </a:p>
        </p:txBody>
      </p:sp>
      <p:grpSp>
        <p:nvGrpSpPr>
          <p:cNvPr id="4594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459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597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459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0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459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3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460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6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460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9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460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2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461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5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461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8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461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1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461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4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462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7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462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0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462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3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463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6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463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9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463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2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464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5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464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8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464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pic>
        <p:nvPicPr>
          <p:cNvPr id="61" name="Рисунок 60">
            <a:extLst>
              <a:ext uri="{FF2B5EF4-FFF2-40B4-BE49-F238E27FC236}">
                <a16:creationId xmlns:a16="http://schemas.microsoft.com/office/drawing/2014/main" id="{6E73023F-87BC-4A57-81A2-998D24B8E60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90427"/>
          <a:stretch/>
        </p:blipFill>
        <p:spPr>
          <a:xfrm>
            <a:off x="1758562" y="8231736"/>
            <a:ext cx="17611790" cy="20942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21" y="0"/>
                </a:moveTo>
                <a:cubicBezTo>
                  <a:pt x="439" y="0"/>
                  <a:pt x="329" y="0"/>
                  <a:pt x="256" y="46"/>
                </a:cubicBezTo>
                <a:cubicBezTo>
                  <a:pt x="151" y="103"/>
                  <a:pt x="69" y="227"/>
                  <a:pt x="30" y="385"/>
                </a:cubicBezTo>
                <a:cubicBezTo>
                  <a:pt x="0" y="495"/>
                  <a:pt x="0" y="660"/>
                  <a:pt x="0" y="934"/>
                </a:cubicBezTo>
                <a:lnTo>
                  <a:pt x="0" y="20666"/>
                </a:lnTo>
                <a:cubicBezTo>
                  <a:pt x="0" y="20940"/>
                  <a:pt x="0" y="21104"/>
                  <a:pt x="30" y="21213"/>
                </a:cubicBezTo>
                <a:cubicBezTo>
                  <a:pt x="69" y="21371"/>
                  <a:pt x="151" y="21497"/>
                  <a:pt x="256" y="21554"/>
                </a:cubicBezTo>
                <a:cubicBezTo>
                  <a:pt x="329" y="21600"/>
                  <a:pt x="439" y="21600"/>
                  <a:pt x="621" y="21600"/>
                </a:cubicBezTo>
                <a:lnTo>
                  <a:pt x="20988" y="21600"/>
                </a:lnTo>
                <a:cubicBezTo>
                  <a:pt x="21170" y="21600"/>
                  <a:pt x="21279" y="21600"/>
                  <a:pt x="21352" y="21554"/>
                </a:cubicBezTo>
                <a:cubicBezTo>
                  <a:pt x="21457" y="21497"/>
                  <a:pt x="21540" y="21371"/>
                  <a:pt x="21578" y="21213"/>
                </a:cubicBezTo>
                <a:cubicBezTo>
                  <a:pt x="21590" y="21169"/>
                  <a:pt x="21596" y="21107"/>
                  <a:pt x="21600" y="21040"/>
                </a:cubicBezTo>
                <a:lnTo>
                  <a:pt x="21600" y="560"/>
                </a:lnTo>
                <a:cubicBezTo>
                  <a:pt x="21596" y="493"/>
                  <a:pt x="21590" y="430"/>
                  <a:pt x="21578" y="385"/>
                </a:cubicBezTo>
                <a:cubicBezTo>
                  <a:pt x="21540" y="227"/>
                  <a:pt x="21457" y="103"/>
                  <a:pt x="21352" y="46"/>
                </a:cubicBezTo>
                <a:cubicBezTo>
                  <a:pt x="21279" y="0"/>
                  <a:pt x="21170" y="0"/>
                  <a:pt x="20988" y="0"/>
                </a:cubicBezTo>
                <a:lnTo>
                  <a:pt x="621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63" name="Picture 2" descr="Уровни айсберга мем - фото и картинки abrakadabra.fun">
            <a:extLst>
              <a:ext uri="{FF2B5EF4-FFF2-40B4-BE49-F238E27FC236}">
                <a16:creationId xmlns:a16="http://schemas.microsoft.com/office/drawing/2014/main" id="{2D6625AC-A242-4067-ADBE-AE6CC0BC50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3" t="24578" r="539" b="64036"/>
          <a:stretch/>
        </p:blipFill>
        <p:spPr bwMode="auto">
          <a:xfrm>
            <a:off x="1758562" y="8231736"/>
            <a:ext cx="21634838" cy="35420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21" y="0"/>
                </a:moveTo>
                <a:cubicBezTo>
                  <a:pt x="439" y="0"/>
                  <a:pt x="329" y="0"/>
                  <a:pt x="256" y="46"/>
                </a:cubicBezTo>
                <a:cubicBezTo>
                  <a:pt x="151" y="103"/>
                  <a:pt x="69" y="227"/>
                  <a:pt x="30" y="385"/>
                </a:cubicBezTo>
                <a:cubicBezTo>
                  <a:pt x="0" y="495"/>
                  <a:pt x="0" y="660"/>
                  <a:pt x="0" y="934"/>
                </a:cubicBezTo>
                <a:lnTo>
                  <a:pt x="0" y="20666"/>
                </a:lnTo>
                <a:cubicBezTo>
                  <a:pt x="0" y="20940"/>
                  <a:pt x="0" y="21104"/>
                  <a:pt x="30" y="21213"/>
                </a:cubicBezTo>
                <a:cubicBezTo>
                  <a:pt x="69" y="21371"/>
                  <a:pt x="151" y="21497"/>
                  <a:pt x="256" y="21554"/>
                </a:cubicBezTo>
                <a:cubicBezTo>
                  <a:pt x="329" y="21600"/>
                  <a:pt x="439" y="21600"/>
                  <a:pt x="621" y="21600"/>
                </a:cubicBezTo>
                <a:lnTo>
                  <a:pt x="20988" y="21600"/>
                </a:lnTo>
                <a:cubicBezTo>
                  <a:pt x="21170" y="21600"/>
                  <a:pt x="21279" y="21600"/>
                  <a:pt x="21352" y="21554"/>
                </a:cubicBezTo>
                <a:cubicBezTo>
                  <a:pt x="21457" y="21497"/>
                  <a:pt x="21540" y="21371"/>
                  <a:pt x="21578" y="21213"/>
                </a:cubicBezTo>
                <a:cubicBezTo>
                  <a:pt x="21590" y="21169"/>
                  <a:pt x="21596" y="21107"/>
                  <a:pt x="21600" y="21040"/>
                </a:cubicBezTo>
                <a:lnTo>
                  <a:pt x="21600" y="560"/>
                </a:lnTo>
                <a:cubicBezTo>
                  <a:pt x="21596" y="493"/>
                  <a:pt x="21590" y="430"/>
                  <a:pt x="21578" y="385"/>
                </a:cubicBezTo>
                <a:cubicBezTo>
                  <a:pt x="21540" y="227"/>
                  <a:pt x="21457" y="103"/>
                  <a:pt x="21352" y="46"/>
                </a:cubicBezTo>
                <a:cubicBezTo>
                  <a:pt x="21279" y="0"/>
                  <a:pt x="21170" y="0"/>
                  <a:pt x="20988" y="0"/>
                </a:cubicBezTo>
                <a:lnTo>
                  <a:pt x="621" y="0"/>
                </a:lnTo>
                <a:close/>
              </a:path>
            </a:pathLst>
          </a:custGeom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3698546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7474803" cy="129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ru-RU" dirty="0"/>
              <a:t>Виды </a:t>
            </a:r>
            <a:r>
              <a:rPr lang="ru-RU" dirty="0" err="1"/>
              <a:t>бинов</a:t>
            </a:r>
            <a:endParaRPr lang="ru-RU" dirty="0"/>
          </a:p>
        </p:txBody>
      </p:sp>
      <p:sp>
        <p:nvSpPr>
          <p:cNvPr id="1013" name="Начало контента"/>
          <p:cNvSpPr txBox="1"/>
          <p:nvPr/>
        </p:nvSpPr>
        <p:spPr>
          <a:xfrm>
            <a:off x="1549400" y="2844981"/>
            <a:ext cx="21498560" cy="99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endParaRPr lang="ru-RU" sz="5400" dirty="0">
              <a:gradFill flip="none" rotWithShape="1">
                <a:gsLst>
                  <a:gs pos="0">
                    <a:srgbClr val="34E234"/>
                  </a:gs>
                  <a:gs pos="50594">
                    <a:srgbClr val="22E5A0"/>
                  </a:gs>
                  <a:gs pos="100000">
                    <a:srgbClr val="5AB0FF"/>
                  </a:gs>
                </a:gsLst>
                <a:lin ang="0" scaled="0"/>
              </a:gradFill>
              <a:latin typeface="SB Sans Display Semibold"/>
              <a:cs typeface="SB Sans Display Semibold"/>
            </a:endParaRPr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62" name="Начало контента">
            <a:extLst>
              <a:ext uri="{FF2B5EF4-FFF2-40B4-BE49-F238E27FC236}">
                <a16:creationId xmlns:a16="http://schemas.microsoft.com/office/drawing/2014/main" id="{43C57DF5-7879-4338-BE40-74A9168FBB41}"/>
              </a:ext>
            </a:extLst>
          </p:cNvPr>
          <p:cNvSpPr txBox="1"/>
          <p:nvPr/>
        </p:nvSpPr>
        <p:spPr>
          <a:xfrm>
            <a:off x="1549400" y="2844981"/>
            <a:ext cx="21498560" cy="11937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@Bean </a:t>
            </a:r>
            <a:r>
              <a:rPr lang="en-US" sz="5400" dirty="0"/>
              <a:t>–</a:t>
            </a:r>
            <a:r>
              <a:rPr lang="ru-RU" sz="5400" dirty="0"/>
              <a:t> </a:t>
            </a:r>
            <a:r>
              <a:rPr lang="en-US" sz="5400" dirty="0"/>
              <a:t>POJO</a:t>
            </a:r>
            <a:r>
              <a:rPr lang="ru-RU" sz="5400" dirty="0"/>
              <a:t> или объект с простой логикой. Применяется для создания промежуточных объектов (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зависимостей</a:t>
            </a:r>
            <a:r>
              <a:rPr lang="ru-RU" sz="5400" dirty="0"/>
              <a:t>), которые нужны для создания других, более сложных </a:t>
            </a:r>
            <a:r>
              <a:rPr lang="ru-RU" sz="5400" dirty="0" err="1"/>
              <a:t>бинов</a:t>
            </a:r>
            <a:r>
              <a:rPr lang="ru-RU" sz="5400" dirty="0"/>
              <a:t> –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компонентов</a:t>
            </a:r>
            <a:r>
              <a:rPr lang="ru-RU" sz="5400" dirty="0"/>
              <a:t>.</a:t>
            </a:r>
            <a:endParaRPr lang="ru-RU" sz="5400" dirty="0">
              <a:gradFill flip="none" rotWithShape="1">
                <a:gsLst>
                  <a:gs pos="0">
                    <a:srgbClr val="34E234"/>
                  </a:gs>
                  <a:gs pos="50594">
                    <a:srgbClr val="22E5A0"/>
                  </a:gs>
                  <a:gs pos="100000">
                    <a:srgbClr val="5AB0FF"/>
                  </a:gs>
                </a:gsLst>
                <a:lin ang="0" scaled="0"/>
              </a:gradFill>
              <a:latin typeface="SB Sans Display Semibold"/>
              <a:cs typeface="SB Sans Display Semibold"/>
            </a:endParaRPr>
          </a:p>
          <a:p>
            <a:endParaRPr lang="ru-RU" sz="5400" dirty="0">
              <a:gradFill flip="none" rotWithShape="1">
                <a:gsLst>
                  <a:gs pos="0">
                    <a:srgbClr val="34E234"/>
                  </a:gs>
                  <a:gs pos="50594">
                    <a:srgbClr val="22E5A0"/>
                  </a:gs>
                  <a:gs pos="100000">
                    <a:srgbClr val="5AB0FF"/>
                  </a:gs>
                </a:gsLst>
                <a:lin ang="0" scaled="0"/>
              </a:gradFill>
              <a:latin typeface="SB Sans Display Semibold"/>
              <a:cs typeface="SB Sans Display Semibold"/>
            </a:endParaRPr>
          </a:p>
          <a:p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@Component </a:t>
            </a:r>
            <a:r>
              <a:rPr lang="en-US" sz="5400" dirty="0"/>
              <a:t>– </a:t>
            </a:r>
            <a:r>
              <a:rPr lang="ru-RU" sz="5400" dirty="0"/>
              <a:t>бин, имеющий сложную или объемную логику. Содержат основную логику приложения.</a:t>
            </a:r>
          </a:p>
          <a:p>
            <a:endParaRPr lang="ru-RU" sz="5400" dirty="0">
              <a:gradFill flip="none" rotWithShape="1">
                <a:gsLst>
                  <a:gs pos="0">
                    <a:srgbClr val="34E234"/>
                  </a:gs>
                  <a:gs pos="50594">
                    <a:srgbClr val="22E5A0"/>
                  </a:gs>
                  <a:gs pos="100000">
                    <a:srgbClr val="5AB0FF"/>
                  </a:gs>
                </a:gsLst>
                <a:lin ang="0" scaled="0"/>
              </a:gradFill>
              <a:latin typeface="SB Sans Display Semibold"/>
              <a:cs typeface="SB Sans Display Semibold"/>
            </a:endParaRPr>
          </a:p>
          <a:p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@Configuration </a:t>
            </a:r>
            <a:r>
              <a:rPr lang="en-US" sz="5400" dirty="0"/>
              <a:t>– </a:t>
            </a:r>
            <a:r>
              <a:rPr lang="ru-RU" sz="5400" dirty="0"/>
              <a:t>бин, позволяющий настраивать как приложение в целом, так и другие </a:t>
            </a:r>
            <a:r>
              <a:rPr lang="en-US" sz="5400" dirty="0"/>
              <a:t>@Bean </a:t>
            </a:r>
            <a:r>
              <a:rPr lang="ru-RU" sz="5400" dirty="0"/>
              <a:t>в частности.</a:t>
            </a:r>
          </a:p>
          <a:p>
            <a:endParaRPr lang="ru-RU" sz="5400" dirty="0"/>
          </a:p>
          <a:p>
            <a:endParaRPr lang="ru-RU" sz="5400" dirty="0"/>
          </a:p>
          <a:p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1799496580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4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459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597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459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0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459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3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460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6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460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9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460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2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461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5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461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8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461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1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461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4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462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7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462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0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462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3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463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6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463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9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463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2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464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5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464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8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464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aphicFrame>
        <p:nvGraphicFramePr>
          <p:cNvPr id="60" name="Таблица 59">
            <a:extLst>
              <a:ext uri="{FF2B5EF4-FFF2-40B4-BE49-F238E27FC236}">
                <a16:creationId xmlns:a16="http://schemas.microsoft.com/office/drawing/2014/main" id="{DE17C902-B0F9-42E2-9000-90C916B88F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58382"/>
              </p:ext>
            </p:extLst>
          </p:nvPr>
        </p:nvGraphicFramePr>
        <p:xfrm>
          <a:off x="1245730" y="867668"/>
          <a:ext cx="22150874" cy="10827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01927">
                  <a:extLst>
                    <a:ext uri="{9D8B030D-6E8A-4147-A177-3AD203B41FA5}">
                      <a16:colId xmlns:a16="http://schemas.microsoft.com/office/drawing/2014/main" val="450810383"/>
                    </a:ext>
                  </a:extLst>
                </a:gridCol>
                <a:gridCol w="6923314">
                  <a:extLst>
                    <a:ext uri="{9D8B030D-6E8A-4147-A177-3AD203B41FA5}">
                      <a16:colId xmlns:a16="http://schemas.microsoft.com/office/drawing/2014/main" val="1401901608"/>
                    </a:ext>
                  </a:extLst>
                </a:gridCol>
                <a:gridCol w="10725633">
                  <a:extLst>
                    <a:ext uri="{9D8B030D-6E8A-4147-A177-3AD203B41FA5}">
                      <a16:colId xmlns:a16="http://schemas.microsoft.com/office/drawing/2014/main" val="3564009201"/>
                    </a:ext>
                  </a:extLst>
                </a:gridCol>
              </a:tblGrid>
              <a:tr h="108274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Аспект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en-US" sz="4800" b="0" i="0" u="none" strike="noStrike" cap="none" spc="0" normalizeH="0" baseline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@Bean</a:t>
                      </a:r>
                      <a:endParaRPr kumimoji="0" lang="ru-RU" sz="4800" b="0" i="0" u="none" strike="noStrike" cap="none" spc="0" normalizeH="0" baseline="0" dirty="0">
                        <a:ln>
                          <a:noFill/>
                        </a:ln>
                        <a:gradFill flip="none" rotWithShape="1">
                          <a:gsLst>
                            <a:gs pos="0">
                              <a:srgbClr val="34E234"/>
                            </a:gs>
                            <a:gs pos="50594">
                              <a:srgbClr val="22E5A0"/>
                            </a:gs>
                            <a:gs pos="100000">
                              <a:srgbClr val="5AB0FF"/>
                            </a:gs>
                          </a:gsLst>
                          <a:lin ang="0" scaled="0"/>
                        </a:gradFill>
                        <a:effectLst/>
                        <a:uFillTx/>
                        <a:latin typeface="SB Sans Display Semibold"/>
                        <a:ea typeface="SB Sans Display Semibold"/>
                        <a:cs typeface="SB Sans Display Semibold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en-US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@Component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0950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2944420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4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459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597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459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0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459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3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460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6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460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9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460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2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461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5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461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8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461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1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461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4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462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7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462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0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462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3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463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6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463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9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463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2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464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5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464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8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464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aphicFrame>
        <p:nvGraphicFramePr>
          <p:cNvPr id="60" name="Таблица 59">
            <a:extLst>
              <a:ext uri="{FF2B5EF4-FFF2-40B4-BE49-F238E27FC236}">
                <a16:creationId xmlns:a16="http://schemas.microsoft.com/office/drawing/2014/main" id="{DE17C902-B0F9-42E2-9000-90C916B88F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391728"/>
              </p:ext>
            </p:extLst>
          </p:nvPr>
        </p:nvGraphicFramePr>
        <p:xfrm>
          <a:off x="1245730" y="867668"/>
          <a:ext cx="22150874" cy="21460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01927">
                  <a:extLst>
                    <a:ext uri="{9D8B030D-6E8A-4147-A177-3AD203B41FA5}">
                      <a16:colId xmlns:a16="http://schemas.microsoft.com/office/drawing/2014/main" val="450810383"/>
                    </a:ext>
                  </a:extLst>
                </a:gridCol>
                <a:gridCol w="6923314">
                  <a:extLst>
                    <a:ext uri="{9D8B030D-6E8A-4147-A177-3AD203B41FA5}">
                      <a16:colId xmlns:a16="http://schemas.microsoft.com/office/drawing/2014/main" val="1401901608"/>
                    </a:ext>
                  </a:extLst>
                </a:gridCol>
                <a:gridCol w="10725633">
                  <a:extLst>
                    <a:ext uri="{9D8B030D-6E8A-4147-A177-3AD203B41FA5}">
                      <a16:colId xmlns:a16="http://schemas.microsoft.com/office/drawing/2014/main" val="3564009201"/>
                    </a:ext>
                  </a:extLst>
                </a:gridCol>
              </a:tblGrid>
              <a:tr h="108274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Аспект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en-US" sz="4800" b="0" i="0" u="none" strike="noStrike" cap="none" spc="0" normalizeH="0" baseline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@Bean</a:t>
                      </a:r>
                      <a:endParaRPr kumimoji="0" lang="ru-RU" sz="4800" b="0" i="0" u="none" strike="noStrike" cap="none" spc="0" normalizeH="0" baseline="0" dirty="0">
                        <a:ln>
                          <a:noFill/>
                        </a:ln>
                        <a:gradFill flip="none" rotWithShape="1">
                          <a:gsLst>
                            <a:gs pos="0">
                              <a:srgbClr val="34E234"/>
                            </a:gs>
                            <a:gs pos="50594">
                              <a:srgbClr val="22E5A0"/>
                            </a:gs>
                            <a:gs pos="100000">
                              <a:srgbClr val="5AB0FF"/>
                            </a:gs>
                          </a:gsLst>
                          <a:lin ang="0" scaled="0"/>
                        </a:gradFill>
                        <a:effectLst/>
                        <a:uFillTx/>
                        <a:latin typeface="SB Sans Display Semibold"/>
                        <a:ea typeface="SB Sans Display Semibold"/>
                        <a:cs typeface="SB Sans Display Semibold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en-US" sz="4800" b="0" i="0" u="none" strike="noStrike" cap="none" spc="0" normalizeH="0" baseline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@Component</a:t>
                      </a:r>
                      <a:endParaRPr kumimoji="0" lang="en-US" sz="4800" b="0" i="0" u="none" strike="noStrike" cap="none" spc="0" normalizeH="0" baseline="0" dirty="0">
                        <a:ln>
                          <a:noFill/>
                        </a:ln>
                        <a:gradFill flip="none" rotWithShape="1">
                          <a:gsLst>
                            <a:gs pos="0">
                              <a:srgbClr val="34E234"/>
                            </a:gs>
                            <a:gs pos="50594">
                              <a:srgbClr val="22E5A0"/>
                            </a:gs>
                            <a:gs pos="100000">
                              <a:srgbClr val="5AB0FF"/>
                            </a:gs>
                          </a:gsLst>
                          <a:lin ang="0" scaled="0"/>
                        </a:gradFill>
                        <a:effectLst/>
                        <a:uFillTx/>
                        <a:latin typeface="SB Sans Display Semibold"/>
                        <a:ea typeface="SB Sans Display Semibold"/>
                        <a:cs typeface="SB Sans Display Semibold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095045"/>
                  </a:ext>
                </a:extLst>
              </a:tr>
              <a:tr h="106330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Применяется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К методам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К классам</a:t>
                      </a:r>
                      <a:endParaRPr kumimoji="0" lang="en-US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626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3962517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4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459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597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459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0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459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3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460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6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460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9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460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2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461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5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461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8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461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1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461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4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462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7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462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0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462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3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463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6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463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9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463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2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464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5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464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8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464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aphicFrame>
        <p:nvGraphicFramePr>
          <p:cNvPr id="60" name="Таблица 59">
            <a:extLst>
              <a:ext uri="{FF2B5EF4-FFF2-40B4-BE49-F238E27FC236}">
                <a16:creationId xmlns:a16="http://schemas.microsoft.com/office/drawing/2014/main" id="{DE17C902-B0F9-42E2-9000-90C916B88F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5646930"/>
              </p:ext>
            </p:extLst>
          </p:nvPr>
        </p:nvGraphicFramePr>
        <p:xfrm>
          <a:off x="1245730" y="867668"/>
          <a:ext cx="22150874" cy="42491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01927">
                  <a:extLst>
                    <a:ext uri="{9D8B030D-6E8A-4147-A177-3AD203B41FA5}">
                      <a16:colId xmlns:a16="http://schemas.microsoft.com/office/drawing/2014/main" val="450810383"/>
                    </a:ext>
                  </a:extLst>
                </a:gridCol>
                <a:gridCol w="6923314">
                  <a:extLst>
                    <a:ext uri="{9D8B030D-6E8A-4147-A177-3AD203B41FA5}">
                      <a16:colId xmlns:a16="http://schemas.microsoft.com/office/drawing/2014/main" val="1401901608"/>
                    </a:ext>
                  </a:extLst>
                </a:gridCol>
                <a:gridCol w="10725633">
                  <a:extLst>
                    <a:ext uri="{9D8B030D-6E8A-4147-A177-3AD203B41FA5}">
                      <a16:colId xmlns:a16="http://schemas.microsoft.com/office/drawing/2014/main" val="3564009201"/>
                    </a:ext>
                  </a:extLst>
                </a:gridCol>
              </a:tblGrid>
              <a:tr h="108274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Аспект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en-US" sz="4800" b="0" i="0" u="none" strike="noStrike" cap="none" spc="0" normalizeH="0" baseline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@Bean</a:t>
                      </a:r>
                      <a:endParaRPr kumimoji="0" lang="ru-RU" sz="4800" b="0" i="0" u="none" strike="noStrike" cap="none" spc="0" normalizeH="0" baseline="0" dirty="0">
                        <a:ln>
                          <a:noFill/>
                        </a:ln>
                        <a:gradFill flip="none" rotWithShape="1">
                          <a:gsLst>
                            <a:gs pos="0">
                              <a:srgbClr val="34E234"/>
                            </a:gs>
                            <a:gs pos="50594">
                              <a:srgbClr val="22E5A0"/>
                            </a:gs>
                            <a:gs pos="100000">
                              <a:srgbClr val="5AB0FF"/>
                            </a:gs>
                          </a:gsLst>
                          <a:lin ang="0" scaled="0"/>
                        </a:gradFill>
                        <a:effectLst/>
                        <a:uFillTx/>
                        <a:latin typeface="SB Sans Display Semibold"/>
                        <a:ea typeface="SB Sans Display Semibold"/>
                        <a:cs typeface="SB Sans Display Semibold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en-US" sz="4800" b="0" i="0" u="none" strike="noStrike" cap="none" spc="0" normalizeH="0" baseline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@Component</a:t>
                      </a:r>
                      <a:endParaRPr kumimoji="0" lang="en-US" sz="4800" b="0" i="0" u="none" strike="noStrike" cap="none" spc="0" normalizeH="0" baseline="0" dirty="0">
                        <a:ln>
                          <a:noFill/>
                        </a:ln>
                        <a:gradFill flip="none" rotWithShape="1">
                          <a:gsLst>
                            <a:gs pos="0">
                              <a:srgbClr val="34E234"/>
                            </a:gs>
                            <a:gs pos="50594">
                              <a:srgbClr val="22E5A0"/>
                            </a:gs>
                            <a:gs pos="100000">
                              <a:srgbClr val="5AB0FF"/>
                            </a:gs>
                          </a:gsLst>
                          <a:lin ang="0" scaled="0"/>
                        </a:gradFill>
                        <a:effectLst/>
                        <a:uFillTx/>
                        <a:latin typeface="SB Sans Display Semibold"/>
                        <a:ea typeface="SB Sans Display Semibold"/>
                        <a:cs typeface="SB Sans Display Semibold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095045"/>
                  </a:ext>
                </a:extLst>
              </a:tr>
              <a:tr h="106330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Применяется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К методам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К классам</a:t>
                      </a:r>
                      <a:endParaRPr kumimoji="0" lang="en-US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626919"/>
                  </a:ext>
                </a:extLst>
              </a:tr>
              <a:tr h="2034409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Обнаружение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Внутри классов, помеченных </a:t>
                      </a:r>
                      <a:r>
                        <a:rPr kumimoji="0" lang="en-US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@Configuration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Классы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/</a:t>
                      </a: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пакеты, помеченные 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@</a:t>
                      </a: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ComponentScan</a:t>
                      </a:r>
                      <a:endParaRPr kumimoji="0" lang="en-US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0885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7434463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4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459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597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459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0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459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3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460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6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460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9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460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2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461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5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461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8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461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1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461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4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462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7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462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0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462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3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463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6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463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9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463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2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464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5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464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8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464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aphicFrame>
        <p:nvGraphicFramePr>
          <p:cNvPr id="60" name="Таблица 59">
            <a:extLst>
              <a:ext uri="{FF2B5EF4-FFF2-40B4-BE49-F238E27FC236}">
                <a16:creationId xmlns:a16="http://schemas.microsoft.com/office/drawing/2014/main" id="{DE17C902-B0F9-42E2-9000-90C916B88F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989907"/>
              </p:ext>
            </p:extLst>
          </p:nvPr>
        </p:nvGraphicFramePr>
        <p:xfrm>
          <a:off x="1245730" y="867668"/>
          <a:ext cx="22150874" cy="628357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01927">
                  <a:extLst>
                    <a:ext uri="{9D8B030D-6E8A-4147-A177-3AD203B41FA5}">
                      <a16:colId xmlns:a16="http://schemas.microsoft.com/office/drawing/2014/main" val="450810383"/>
                    </a:ext>
                  </a:extLst>
                </a:gridCol>
                <a:gridCol w="6923314">
                  <a:extLst>
                    <a:ext uri="{9D8B030D-6E8A-4147-A177-3AD203B41FA5}">
                      <a16:colId xmlns:a16="http://schemas.microsoft.com/office/drawing/2014/main" val="1401901608"/>
                    </a:ext>
                  </a:extLst>
                </a:gridCol>
                <a:gridCol w="10725633">
                  <a:extLst>
                    <a:ext uri="{9D8B030D-6E8A-4147-A177-3AD203B41FA5}">
                      <a16:colId xmlns:a16="http://schemas.microsoft.com/office/drawing/2014/main" val="3564009201"/>
                    </a:ext>
                  </a:extLst>
                </a:gridCol>
              </a:tblGrid>
              <a:tr h="108274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Аспект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en-US" sz="4800" b="0" i="0" u="none" strike="noStrike" cap="none" spc="0" normalizeH="0" baseline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@Bean</a:t>
                      </a:r>
                      <a:endParaRPr kumimoji="0" lang="ru-RU" sz="4800" b="0" i="0" u="none" strike="noStrike" cap="none" spc="0" normalizeH="0" baseline="0" dirty="0">
                        <a:ln>
                          <a:noFill/>
                        </a:ln>
                        <a:gradFill flip="none" rotWithShape="1">
                          <a:gsLst>
                            <a:gs pos="0">
                              <a:srgbClr val="34E234"/>
                            </a:gs>
                            <a:gs pos="50594">
                              <a:srgbClr val="22E5A0"/>
                            </a:gs>
                            <a:gs pos="100000">
                              <a:srgbClr val="5AB0FF"/>
                            </a:gs>
                          </a:gsLst>
                          <a:lin ang="0" scaled="0"/>
                        </a:gradFill>
                        <a:effectLst/>
                        <a:uFillTx/>
                        <a:latin typeface="SB Sans Display Semibold"/>
                        <a:ea typeface="SB Sans Display Semibold"/>
                        <a:cs typeface="SB Sans Display Semibold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en-US" sz="4800" b="0" i="0" u="none" strike="noStrike" cap="none" spc="0" normalizeH="0" baseline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@Component</a:t>
                      </a:r>
                      <a:endParaRPr kumimoji="0" lang="en-US" sz="4800" b="0" i="0" u="none" strike="noStrike" cap="none" spc="0" normalizeH="0" baseline="0" dirty="0">
                        <a:ln>
                          <a:noFill/>
                        </a:ln>
                        <a:gradFill flip="none" rotWithShape="1">
                          <a:gsLst>
                            <a:gs pos="0">
                              <a:srgbClr val="34E234"/>
                            </a:gs>
                            <a:gs pos="50594">
                              <a:srgbClr val="22E5A0"/>
                            </a:gs>
                            <a:gs pos="100000">
                              <a:srgbClr val="5AB0FF"/>
                            </a:gs>
                          </a:gsLst>
                          <a:lin ang="0" scaled="0"/>
                        </a:gradFill>
                        <a:effectLst/>
                        <a:uFillTx/>
                        <a:latin typeface="SB Sans Display Semibold"/>
                        <a:ea typeface="SB Sans Display Semibold"/>
                        <a:cs typeface="SB Sans Display Semibold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095045"/>
                  </a:ext>
                </a:extLst>
              </a:tr>
              <a:tr h="106330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Применяется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К методам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К классам</a:t>
                      </a:r>
                      <a:endParaRPr kumimoji="0" lang="en-US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626919"/>
                  </a:ext>
                </a:extLst>
              </a:tr>
              <a:tr h="2034409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Обнаружение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Внутри классов, помеченных </a:t>
                      </a:r>
                      <a:r>
                        <a:rPr kumimoji="0" lang="en-US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@Configuration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Классы</a:t>
                      </a:r>
                      <a:r>
                        <a:rPr kumimoji="0" lang="en-US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/</a:t>
                      </a:r>
                      <a:r>
                        <a:rPr kumimoji="0" lang="ru-RU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пакеты, помеченные </a:t>
                      </a:r>
                      <a:r>
                        <a:rPr kumimoji="0" lang="en-US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@ComponentScan</a:t>
                      </a:r>
                      <a:endParaRPr kumimoji="0" lang="en-US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088531"/>
                  </a:ext>
                </a:extLst>
              </a:tr>
              <a:tr h="2034409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Логика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Не сложная, не объемная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, POJO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Объемная, сложная, бизнес-логика</a:t>
                      </a:r>
                      <a:endParaRPr kumimoji="0" lang="en-US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021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7080968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4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459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597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459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0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459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3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460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6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460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9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460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2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461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5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461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8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461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1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461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4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462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7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462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0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462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3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463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6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463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9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463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2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464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5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464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8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464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aphicFrame>
        <p:nvGraphicFramePr>
          <p:cNvPr id="60" name="Таблица 59">
            <a:extLst>
              <a:ext uri="{FF2B5EF4-FFF2-40B4-BE49-F238E27FC236}">
                <a16:creationId xmlns:a16="http://schemas.microsoft.com/office/drawing/2014/main" id="{DE17C902-B0F9-42E2-9000-90C916B88F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677506"/>
              </p:ext>
            </p:extLst>
          </p:nvPr>
        </p:nvGraphicFramePr>
        <p:xfrm>
          <a:off x="1245730" y="867668"/>
          <a:ext cx="22150874" cy="83179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01927">
                  <a:extLst>
                    <a:ext uri="{9D8B030D-6E8A-4147-A177-3AD203B41FA5}">
                      <a16:colId xmlns:a16="http://schemas.microsoft.com/office/drawing/2014/main" val="450810383"/>
                    </a:ext>
                  </a:extLst>
                </a:gridCol>
                <a:gridCol w="6923314">
                  <a:extLst>
                    <a:ext uri="{9D8B030D-6E8A-4147-A177-3AD203B41FA5}">
                      <a16:colId xmlns:a16="http://schemas.microsoft.com/office/drawing/2014/main" val="1401901608"/>
                    </a:ext>
                  </a:extLst>
                </a:gridCol>
                <a:gridCol w="10725633">
                  <a:extLst>
                    <a:ext uri="{9D8B030D-6E8A-4147-A177-3AD203B41FA5}">
                      <a16:colId xmlns:a16="http://schemas.microsoft.com/office/drawing/2014/main" val="3564009201"/>
                    </a:ext>
                  </a:extLst>
                </a:gridCol>
              </a:tblGrid>
              <a:tr h="108274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Аспект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en-US" sz="4800" b="0" i="0" u="none" strike="noStrike" cap="none" spc="0" normalizeH="0" baseline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@Bean</a:t>
                      </a:r>
                      <a:endParaRPr kumimoji="0" lang="ru-RU" sz="4800" b="0" i="0" u="none" strike="noStrike" cap="none" spc="0" normalizeH="0" baseline="0" dirty="0">
                        <a:ln>
                          <a:noFill/>
                        </a:ln>
                        <a:gradFill flip="none" rotWithShape="1">
                          <a:gsLst>
                            <a:gs pos="0">
                              <a:srgbClr val="34E234"/>
                            </a:gs>
                            <a:gs pos="50594">
                              <a:srgbClr val="22E5A0"/>
                            </a:gs>
                            <a:gs pos="100000">
                              <a:srgbClr val="5AB0FF"/>
                            </a:gs>
                          </a:gsLst>
                          <a:lin ang="0" scaled="0"/>
                        </a:gradFill>
                        <a:effectLst/>
                        <a:uFillTx/>
                        <a:latin typeface="SB Sans Display Semibold"/>
                        <a:ea typeface="SB Sans Display Semibold"/>
                        <a:cs typeface="SB Sans Display Semibold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en-US" sz="4800" b="0" i="0" u="none" strike="noStrike" cap="none" spc="0" normalizeH="0" baseline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@Component</a:t>
                      </a:r>
                      <a:endParaRPr kumimoji="0" lang="en-US" sz="4800" b="0" i="0" u="none" strike="noStrike" cap="none" spc="0" normalizeH="0" baseline="0" dirty="0">
                        <a:ln>
                          <a:noFill/>
                        </a:ln>
                        <a:gradFill flip="none" rotWithShape="1">
                          <a:gsLst>
                            <a:gs pos="0">
                              <a:srgbClr val="34E234"/>
                            </a:gs>
                            <a:gs pos="50594">
                              <a:srgbClr val="22E5A0"/>
                            </a:gs>
                            <a:gs pos="100000">
                              <a:srgbClr val="5AB0FF"/>
                            </a:gs>
                          </a:gsLst>
                          <a:lin ang="0" scaled="0"/>
                        </a:gradFill>
                        <a:effectLst/>
                        <a:uFillTx/>
                        <a:latin typeface="SB Sans Display Semibold"/>
                        <a:ea typeface="SB Sans Display Semibold"/>
                        <a:cs typeface="SB Sans Display Semibold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095045"/>
                  </a:ext>
                </a:extLst>
              </a:tr>
              <a:tr h="106330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Применяется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К методам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К классам</a:t>
                      </a:r>
                      <a:endParaRPr kumimoji="0" lang="en-US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626919"/>
                  </a:ext>
                </a:extLst>
              </a:tr>
              <a:tr h="2034409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Обнаружение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Внутри классов, помеченных </a:t>
                      </a:r>
                      <a:r>
                        <a:rPr kumimoji="0" lang="en-US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@Configuration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Классы</a:t>
                      </a:r>
                      <a:r>
                        <a:rPr kumimoji="0" lang="en-US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/</a:t>
                      </a:r>
                      <a:r>
                        <a:rPr kumimoji="0" lang="ru-RU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пакеты, помеченные </a:t>
                      </a:r>
                      <a:r>
                        <a:rPr kumimoji="0" lang="en-US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@ComponentScan</a:t>
                      </a:r>
                      <a:endParaRPr kumimoji="0" lang="en-US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088531"/>
                  </a:ext>
                </a:extLst>
              </a:tr>
              <a:tr h="2034409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Логика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Не сложная, не объемная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, POJO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Объемная, сложная, бизнес-логика</a:t>
                      </a:r>
                      <a:endParaRPr kumimoji="0" lang="en-US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021159"/>
                  </a:ext>
                </a:extLst>
              </a:tr>
              <a:tr h="2034409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Требуемые зависимости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В основном требуется мало зависимостей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Может требоваться больше зависимостей</a:t>
                      </a:r>
                      <a:endParaRPr kumimoji="0" lang="en-US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883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2310580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4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459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597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459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0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459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3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460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6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460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9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460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2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461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5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461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8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461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1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461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4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462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7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462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0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462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3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463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6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463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9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463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2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464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5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464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8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464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aphicFrame>
        <p:nvGraphicFramePr>
          <p:cNvPr id="60" name="Таблица 59">
            <a:extLst>
              <a:ext uri="{FF2B5EF4-FFF2-40B4-BE49-F238E27FC236}">
                <a16:creationId xmlns:a16="http://schemas.microsoft.com/office/drawing/2014/main" id="{DE17C902-B0F9-42E2-9000-90C916B88F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3979177"/>
              </p:ext>
            </p:extLst>
          </p:nvPr>
        </p:nvGraphicFramePr>
        <p:xfrm>
          <a:off x="1245730" y="867668"/>
          <a:ext cx="22150874" cy="103523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01927">
                  <a:extLst>
                    <a:ext uri="{9D8B030D-6E8A-4147-A177-3AD203B41FA5}">
                      <a16:colId xmlns:a16="http://schemas.microsoft.com/office/drawing/2014/main" val="450810383"/>
                    </a:ext>
                  </a:extLst>
                </a:gridCol>
                <a:gridCol w="6923314">
                  <a:extLst>
                    <a:ext uri="{9D8B030D-6E8A-4147-A177-3AD203B41FA5}">
                      <a16:colId xmlns:a16="http://schemas.microsoft.com/office/drawing/2014/main" val="1401901608"/>
                    </a:ext>
                  </a:extLst>
                </a:gridCol>
                <a:gridCol w="10725633">
                  <a:extLst>
                    <a:ext uri="{9D8B030D-6E8A-4147-A177-3AD203B41FA5}">
                      <a16:colId xmlns:a16="http://schemas.microsoft.com/office/drawing/2014/main" val="3564009201"/>
                    </a:ext>
                  </a:extLst>
                </a:gridCol>
              </a:tblGrid>
              <a:tr h="108274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Аспект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en-US" sz="4800" b="0" i="0" u="none" strike="noStrike" cap="none" spc="0" normalizeH="0" baseline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@Bean</a:t>
                      </a:r>
                      <a:endParaRPr kumimoji="0" lang="ru-RU" sz="4800" b="0" i="0" u="none" strike="noStrike" cap="none" spc="0" normalizeH="0" baseline="0" dirty="0">
                        <a:ln>
                          <a:noFill/>
                        </a:ln>
                        <a:gradFill flip="none" rotWithShape="1">
                          <a:gsLst>
                            <a:gs pos="0">
                              <a:srgbClr val="34E234"/>
                            </a:gs>
                            <a:gs pos="50594">
                              <a:srgbClr val="22E5A0"/>
                            </a:gs>
                            <a:gs pos="100000">
                              <a:srgbClr val="5AB0FF"/>
                            </a:gs>
                          </a:gsLst>
                          <a:lin ang="0" scaled="0"/>
                        </a:gradFill>
                        <a:effectLst/>
                        <a:uFillTx/>
                        <a:latin typeface="SB Sans Display Semibold"/>
                        <a:ea typeface="SB Sans Display Semibold"/>
                        <a:cs typeface="SB Sans Display Semibold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en-US" sz="4800" b="0" i="0" u="none" strike="noStrike" cap="none" spc="0" normalizeH="0" baseline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@Component</a:t>
                      </a:r>
                      <a:endParaRPr kumimoji="0" lang="en-US" sz="4800" b="0" i="0" u="none" strike="noStrike" cap="none" spc="0" normalizeH="0" baseline="0" dirty="0">
                        <a:ln>
                          <a:noFill/>
                        </a:ln>
                        <a:gradFill flip="none" rotWithShape="1">
                          <a:gsLst>
                            <a:gs pos="0">
                              <a:srgbClr val="34E234"/>
                            </a:gs>
                            <a:gs pos="50594">
                              <a:srgbClr val="22E5A0"/>
                            </a:gs>
                            <a:gs pos="100000">
                              <a:srgbClr val="5AB0FF"/>
                            </a:gs>
                          </a:gsLst>
                          <a:lin ang="0" scaled="0"/>
                        </a:gradFill>
                        <a:effectLst/>
                        <a:uFillTx/>
                        <a:latin typeface="SB Sans Display Semibold"/>
                        <a:ea typeface="SB Sans Display Semibold"/>
                        <a:cs typeface="SB Sans Display Semibold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095045"/>
                  </a:ext>
                </a:extLst>
              </a:tr>
              <a:tr h="106330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Применяется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К методам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К классам</a:t>
                      </a:r>
                      <a:endParaRPr kumimoji="0" lang="en-US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626919"/>
                  </a:ext>
                </a:extLst>
              </a:tr>
              <a:tr h="2034409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Обнаружение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Внутри классов, помеченных </a:t>
                      </a:r>
                      <a:r>
                        <a:rPr kumimoji="0" lang="en-US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@Configuration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Классы</a:t>
                      </a:r>
                      <a:r>
                        <a:rPr kumimoji="0" lang="en-US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/</a:t>
                      </a:r>
                      <a:r>
                        <a:rPr kumimoji="0" lang="ru-RU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пакеты, помеченные </a:t>
                      </a:r>
                      <a:r>
                        <a:rPr kumimoji="0" lang="en-US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@ComponentScan</a:t>
                      </a:r>
                      <a:endParaRPr kumimoji="0" lang="en-US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088531"/>
                  </a:ext>
                </a:extLst>
              </a:tr>
              <a:tr h="2034409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Логика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Не сложная, не объемная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, POJO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Объемная, сложная, бизнес-логика</a:t>
                      </a:r>
                      <a:endParaRPr kumimoji="0" lang="en-US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021159"/>
                  </a:ext>
                </a:extLst>
              </a:tr>
              <a:tr h="2034409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Требуемые зависимости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В основном требуется мало зависимостей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Может требоваться больше зависимостей</a:t>
                      </a:r>
                      <a:endParaRPr kumimoji="0" lang="en-US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883393"/>
                  </a:ext>
                </a:extLst>
              </a:tr>
              <a:tr h="2034409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Контроль создания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Ты создаешь бин, 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Spring</a:t>
                      </a: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 помещает в контекст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Spring </a:t>
                      </a: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сам создает бин и помещает в контекст</a:t>
                      </a:r>
                      <a:endParaRPr kumimoji="0" lang="en-US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8488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2477780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4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459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597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459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0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459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3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460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6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460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9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460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2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461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5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461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8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461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1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461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4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462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7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462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0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462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3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463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6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463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9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463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2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464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5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464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8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464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aphicFrame>
        <p:nvGraphicFramePr>
          <p:cNvPr id="60" name="Таблица 59">
            <a:extLst>
              <a:ext uri="{FF2B5EF4-FFF2-40B4-BE49-F238E27FC236}">
                <a16:creationId xmlns:a16="http://schemas.microsoft.com/office/drawing/2014/main" id="{DE17C902-B0F9-42E2-9000-90C916B88FD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45730" y="867668"/>
          <a:ext cx="22150874" cy="124555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01927">
                  <a:extLst>
                    <a:ext uri="{9D8B030D-6E8A-4147-A177-3AD203B41FA5}">
                      <a16:colId xmlns:a16="http://schemas.microsoft.com/office/drawing/2014/main" val="450810383"/>
                    </a:ext>
                  </a:extLst>
                </a:gridCol>
                <a:gridCol w="6923314">
                  <a:extLst>
                    <a:ext uri="{9D8B030D-6E8A-4147-A177-3AD203B41FA5}">
                      <a16:colId xmlns:a16="http://schemas.microsoft.com/office/drawing/2014/main" val="1401901608"/>
                    </a:ext>
                  </a:extLst>
                </a:gridCol>
                <a:gridCol w="10725633">
                  <a:extLst>
                    <a:ext uri="{9D8B030D-6E8A-4147-A177-3AD203B41FA5}">
                      <a16:colId xmlns:a16="http://schemas.microsoft.com/office/drawing/2014/main" val="3564009201"/>
                    </a:ext>
                  </a:extLst>
                </a:gridCol>
              </a:tblGrid>
              <a:tr h="108274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Аспект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en-US" sz="4800" b="0" i="0" u="none" strike="noStrike" cap="none" spc="0" normalizeH="0" baseline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@Bean</a:t>
                      </a:r>
                      <a:endParaRPr kumimoji="0" lang="ru-RU" sz="4800" b="0" i="0" u="none" strike="noStrike" cap="none" spc="0" normalizeH="0" baseline="0" dirty="0">
                        <a:ln>
                          <a:noFill/>
                        </a:ln>
                        <a:gradFill flip="none" rotWithShape="1">
                          <a:gsLst>
                            <a:gs pos="0">
                              <a:srgbClr val="34E234"/>
                            </a:gs>
                            <a:gs pos="50594">
                              <a:srgbClr val="22E5A0"/>
                            </a:gs>
                            <a:gs pos="100000">
                              <a:srgbClr val="5AB0FF"/>
                            </a:gs>
                          </a:gsLst>
                          <a:lin ang="0" scaled="0"/>
                        </a:gradFill>
                        <a:effectLst/>
                        <a:uFillTx/>
                        <a:latin typeface="SB Sans Display Semibold"/>
                        <a:ea typeface="SB Sans Display Semibold"/>
                        <a:cs typeface="SB Sans Display Semibold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en-US" sz="4800" b="0" i="0" u="none" strike="noStrike" cap="none" spc="0" normalizeH="0" baseline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@Component</a:t>
                      </a:r>
                      <a:endParaRPr kumimoji="0" lang="en-US" sz="4800" b="0" i="0" u="none" strike="noStrike" cap="none" spc="0" normalizeH="0" baseline="0" dirty="0">
                        <a:ln>
                          <a:noFill/>
                        </a:ln>
                        <a:gradFill flip="none" rotWithShape="1">
                          <a:gsLst>
                            <a:gs pos="0">
                              <a:srgbClr val="34E234"/>
                            </a:gs>
                            <a:gs pos="50594">
                              <a:srgbClr val="22E5A0"/>
                            </a:gs>
                            <a:gs pos="100000">
                              <a:srgbClr val="5AB0FF"/>
                            </a:gs>
                          </a:gsLst>
                          <a:lin ang="0" scaled="0"/>
                        </a:gradFill>
                        <a:effectLst/>
                        <a:uFillTx/>
                        <a:latin typeface="SB Sans Display Semibold"/>
                        <a:ea typeface="SB Sans Display Semibold"/>
                        <a:cs typeface="SB Sans Display Semibold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095045"/>
                  </a:ext>
                </a:extLst>
              </a:tr>
              <a:tr h="106330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Применяется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К методам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К классам</a:t>
                      </a:r>
                      <a:endParaRPr kumimoji="0" lang="en-US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626919"/>
                  </a:ext>
                </a:extLst>
              </a:tr>
              <a:tr h="2034409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Обнаружение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Внутри классов, помеченных </a:t>
                      </a:r>
                      <a:r>
                        <a:rPr kumimoji="0" lang="en-US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@Configuration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Классы</a:t>
                      </a:r>
                      <a:r>
                        <a:rPr kumimoji="0" lang="en-US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/</a:t>
                      </a:r>
                      <a:r>
                        <a:rPr kumimoji="0" lang="ru-RU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пакеты, помеченные </a:t>
                      </a:r>
                      <a:r>
                        <a:rPr kumimoji="0" lang="en-US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@ComponentScan</a:t>
                      </a:r>
                      <a:endParaRPr kumimoji="0" lang="en-US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088531"/>
                  </a:ext>
                </a:extLst>
              </a:tr>
              <a:tr h="2034409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Логика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Не сложная, не объемная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, POJO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Объемная, сложная, бизнес-логика</a:t>
                      </a:r>
                      <a:endParaRPr kumimoji="0" lang="en-US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021159"/>
                  </a:ext>
                </a:extLst>
              </a:tr>
              <a:tr h="2034409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Требуемые зависимости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В основном требуется мало зависимостей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Может требоваться больше зависимостей</a:t>
                      </a:r>
                      <a:endParaRPr kumimoji="0" lang="en-US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883393"/>
                  </a:ext>
                </a:extLst>
              </a:tr>
              <a:tr h="2034409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Контроль создания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Ты создаешь бин, 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Spring</a:t>
                      </a: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 помещает в контекст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Spring </a:t>
                      </a: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сам создает бин и помещает в контекст</a:t>
                      </a:r>
                      <a:endParaRPr kumimoji="0" lang="en-US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8488252"/>
                  </a:ext>
                </a:extLst>
              </a:tr>
              <a:tr h="2034409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Применение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Промежуточные объекты для создания компонентов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Основная логика приложения</a:t>
                      </a:r>
                      <a:endParaRPr kumimoji="0" lang="en-US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0277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5865766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1" name="Заголовок"/>
          <p:cNvSpPr txBox="1"/>
          <p:nvPr/>
        </p:nvSpPr>
        <p:spPr>
          <a:xfrm>
            <a:off x="1524000" y="5810849"/>
            <a:ext cx="8386911" cy="2094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70000"/>
              </a:lnSpc>
              <a:defRPr sz="20000" spc="-400">
                <a:gradFill flip="none" rotWithShape="1">
                  <a:gsLst>
                    <a:gs pos="0">
                      <a:srgbClr val="34E234"/>
                    </a:gs>
                    <a:gs pos="19133">
                      <a:srgbClr val="9DCD25"/>
                    </a:gs>
                    <a:gs pos="39357">
                      <a:srgbClr val="F2E800"/>
                    </a:gs>
                    <a:gs pos="58861">
                      <a:srgbClr val="9DCD25"/>
                    </a:gs>
                    <a:gs pos="79839">
                      <a:srgbClr val="00A4E0"/>
                    </a:gs>
                    <a:gs pos="100000">
                      <a:srgbClr val="0086D0"/>
                    </a:gs>
                  </a:gsLst>
                  <a:lin ang="3000000" scaled="0"/>
                </a:gradFill>
                <a:latin typeface="SB Sans Display Light"/>
                <a:ea typeface="SB Sans Display Light"/>
                <a:cs typeface="SB Sans Display Light"/>
                <a:sym typeface="SB Sans Display Light"/>
              </a:defRPr>
            </a:lvl1pPr>
          </a:lstStyle>
          <a:p>
            <a:r>
              <a:rPr lang="ru-RU" sz="16700" dirty="0" err="1"/>
              <a:t>Демо</a:t>
            </a:r>
            <a:r>
              <a:rPr lang="ru-RU" sz="16700" dirty="0"/>
              <a:t> </a:t>
            </a:r>
            <a:r>
              <a:rPr lang="en-US" sz="16700" dirty="0"/>
              <a:t>00</a:t>
            </a:r>
            <a:endParaRPr lang="ru-RU" sz="16700" dirty="0"/>
          </a:p>
        </p:txBody>
      </p:sp>
      <p:grpSp>
        <p:nvGrpSpPr>
          <p:cNvPr id="4594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459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597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459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0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459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3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460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6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460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9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460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2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461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5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461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8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461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1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461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4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462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7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462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0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462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3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463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6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463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9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463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2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464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5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464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8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464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08258217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11251478" cy="129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en-US" dirty="0"/>
              <a:t>@</a:t>
            </a:r>
            <a:r>
              <a:rPr lang="en-US" dirty="0" err="1"/>
              <a:t>ComponentScan</a:t>
            </a:r>
            <a:endParaRPr lang="ru-RU" dirty="0"/>
          </a:p>
        </p:txBody>
      </p:sp>
      <p:sp>
        <p:nvSpPr>
          <p:cNvPr id="1013" name="Начало контента"/>
          <p:cNvSpPr txBox="1"/>
          <p:nvPr/>
        </p:nvSpPr>
        <p:spPr>
          <a:xfrm>
            <a:off x="1549400" y="2844981"/>
            <a:ext cx="21498560" cy="99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endParaRPr lang="ru-RU" sz="5400" dirty="0">
              <a:gradFill flip="none" rotWithShape="1">
                <a:gsLst>
                  <a:gs pos="0">
                    <a:srgbClr val="34E234"/>
                  </a:gs>
                  <a:gs pos="50594">
                    <a:srgbClr val="22E5A0"/>
                  </a:gs>
                  <a:gs pos="100000">
                    <a:srgbClr val="5AB0FF"/>
                  </a:gs>
                </a:gsLst>
                <a:lin ang="0" scaled="0"/>
              </a:gradFill>
              <a:latin typeface="SB Sans Display Semibold"/>
              <a:cs typeface="SB Sans Display Semibold"/>
            </a:endParaRPr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62" name="Начало контента">
            <a:extLst>
              <a:ext uri="{FF2B5EF4-FFF2-40B4-BE49-F238E27FC236}">
                <a16:creationId xmlns:a16="http://schemas.microsoft.com/office/drawing/2014/main" id="{43C57DF5-7879-4338-BE40-74A9168FBB41}"/>
              </a:ext>
            </a:extLst>
          </p:cNvPr>
          <p:cNvSpPr txBox="1"/>
          <p:nvPr/>
        </p:nvSpPr>
        <p:spPr>
          <a:xfrm>
            <a:off x="1549400" y="2844981"/>
            <a:ext cx="21498560" cy="4624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@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ComponentScan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 </a:t>
            </a:r>
            <a:r>
              <a:rPr lang="ru-RU" sz="5400" dirty="0"/>
              <a:t>указывает базовые классы</a:t>
            </a:r>
            <a:r>
              <a:rPr lang="en-US" sz="5400" dirty="0"/>
              <a:t> / </a:t>
            </a:r>
            <a:r>
              <a:rPr lang="ru-RU" sz="5400" dirty="0"/>
              <a:t>пакеты для сканирования. Позволяет </a:t>
            </a:r>
            <a:r>
              <a:rPr lang="ru-RU" sz="5400" dirty="0" err="1"/>
              <a:t>Spring</a:t>
            </a:r>
            <a:r>
              <a:rPr lang="ru-RU" sz="5400" dirty="0"/>
              <a:t> автоматически находить все виды компонентов (@</a:t>
            </a:r>
            <a:r>
              <a:rPr lang="ru-RU" sz="5400" dirty="0" err="1"/>
              <a:t>Component</a:t>
            </a:r>
            <a:r>
              <a:rPr lang="ru-RU" sz="5400" dirty="0"/>
              <a:t>, @</a:t>
            </a:r>
            <a:r>
              <a:rPr lang="ru-RU" sz="5400" dirty="0" err="1"/>
              <a:t>Service</a:t>
            </a:r>
            <a:r>
              <a:rPr lang="ru-RU" sz="5400" dirty="0"/>
              <a:t>, @</a:t>
            </a:r>
            <a:r>
              <a:rPr lang="ru-RU" sz="5400" dirty="0" err="1"/>
              <a:t>Repository</a:t>
            </a:r>
            <a:r>
              <a:rPr lang="ru-RU" sz="5400" dirty="0"/>
              <a:t>, @</a:t>
            </a:r>
            <a:r>
              <a:rPr lang="ru-RU" sz="5400" dirty="0" err="1"/>
              <a:t>Controller</a:t>
            </a:r>
            <a:r>
              <a:rPr lang="ru-RU" sz="5400" dirty="0"/>
              <a:t>) и регистрировать их как </a:t>
            </a:r>
            <a:r>
              <a:rPr lang="ru-RU" sz="5400" dirty="0" err="1"/>
              <a:t>бины</a:t>
            </a:r>
            <a:r>
              <a:rPr lang="ru-RU" sz="5400" dirty="0"/>
              <a:t> в контексте приложения.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C55CE1C-A7F3-4A3C-BED0-E911402238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15" y="6685876"/>
            <a:ext cx="23031170" cy="747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231390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1" name="Заголовок"/>
          <p:cNvSpPr txBox="1"/>
          <p:nvPr/>
        </p:nvSpPr>
        <p:spPr>
          <a:xfrm>
            <a:off x="1524000" y="5810849"/>
            <a:ext cx="8258671" cy="2094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70000"/>
              </a:lnSpc>
              <a:defRPr sz="20000" spc="-400">
                <a:gradFill flip="none" rotWithShape="1">
                  <a:gsLst>
                    <a:gs pos="0">
                      <a:srgbClr val="34E234"/>
                    </a:gs>
                    <a:gs pos="19133">
                      <a:srgbClr val="9DCD25"/>
                    </a:gs>
                    <a:gs pos="39357">
                      <a:srgbClr val="F2E800"/>
                    </a:gs>
                    <a:gs pos="58861">
                      <a:srgbClr val="9DCD25"/>
                    </a:gs>
                    <a:gs pos="79839">
                      <a:srgbClr val="00A4E0"/>
                    </a:gs>
                    <a:gs pos="100000">
                      <a:srgbClr val="0086D0"/>
                    </a:gs>
                  </a:gsLst>
                  <a:lin ang="3000000" scaled="0"/>
                </a:gradFill>
                <a:latin typeface="SB Sans Display Light"/>
                <a:ea typeface="SB Sans Display Light"/>
                <a:cs typeface="SB Sans Display Light"/>
                <a:sym typeface="SB Sans Display Light"/>
              </a:defRPr>
            </a:lvl1pPr>
          </a:lstStyle>
          <a:p>
            <a:r>
              <a:rPr lang="ru-RU" sz="16700" dirty="0" err="1"/>
              <a:t>Демо</a:t>
            </a:r>
            <a:r>
              <a:rPr lang="ru-RU" sz="16700" dirty="0"/>
              <a:t> </a:t>
            </a:r>
            <a:r>
              <a:rPr lang="en-US" sz="16700" dirty="0"/>
              <a:t>02</a:t>
            </a:r>
            <a:endParaRPr lang="ru-RU" sz="16700" dirty="0"/>
          </a:p>
        </p:txBody>
      </p:sp>
      <p:grpSp>
        <p:nvGrpSpPr>
          <p:cNvPr id="4594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459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597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459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0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459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3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460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6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460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9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460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2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461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5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461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8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461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1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461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4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462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7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462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0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462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3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463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6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463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9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463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2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464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5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464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8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464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761851343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11894282" cy="129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ru-RU" dirty="0"/>
              <a:t>Виды компонентов</a:t>
            </a:r>
          </a:p>
        </p:txBody>
      </p:sp>
      <p:sp>
        <p:nvSpPr>
          <p:cNvPr id="1013" name="Начало контента"/>
          <p:cNvSpPr txBox="1"/>
          <p:nvPr/>
        </p:nvSpPr>
        <p:spPr>
          <a:xfrm>
            <a:off x="1549400" y="2844981"/>
            <a:ext cx="21498560" cy="99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endParaRPr lang="ru-RU" sz="5400" dirty="0">
              <a:gradFill flip="none" rotWithShape="1">
                <a:gsLst>
                  <a:gs pos="0">
                    <a:srgbClr val="34E234"/>
                  </a:gs>
                  <a:gs pos="50594">
                    <a:srgbClr val="22E5A0"/>
                  </a:gs>
                  <a:gs pos="100000">
                    <a:srgbClr val="5AB0FF"/>
                  </a:gs>
                </a:gsLst>
                <a:lin ang="0" scaled="0"/>
              </a:gradFill>
              <a:latin typeface="SB Sans Display Semibold"/>
              <a:cs typeface="SB Sans Display Semibold"/>
            </a:endParaRPr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62" name="Начало контента">
            <a:extLst>
              <a:ext uri="{FF2B5EF4-FFF2-40B4-BE49-F238E27FC236}">
                <a16:creationId xmlns:a16="http://schemas.microsoft.com/office/drawing/2014/main" id="{43C57DF5-7879-4338-BE40-74A9168FBB41}"/>
              </a:ext>
            </a:extLst>
          </p:cNvPr>
          <p:cNvSpPr txBox="1"/>
          <p:nvPr/>
        </p:nvSpPr>
        <p:spPr>
          <a:xfrm>
            <a:off x="1549400" y="2844981"/>
            <a:ext cx="21498560" cy="8281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@Service </a:t>
            </a:r>
            <a:r>
              <a:rPr lang="en-US" sz="5400" dirty="0"/>
              <a:t>– </a:t>
            </a:r>
            <a:r>
              <a:rPr lang="ru-RU" sz="5400" dirty="0" err="1"/>
              <a:t>бины</a:t>
            </a:r>
            <a:r>
              <a:rPr lang="ru-RU" sz="5400" dirty="0"/>
              <a:t>, содержащие бизнес-логику приложения.</a:t>
            </a:r>
          </a:p>
          <a:p>
            <a:endParaRPr lang="ru-RU" sz="5400" dirty="0"/>
          </a:p>
          <a:p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@Repository </a:t>
            </a:r>
            <a:r>
              <a:rPr lang="en-US" sz="5400" dirty="0"/>
              <a:t>– </a:t>
            </a:r>
            <a:r>
              <a:rPr lang="ru-RU" sz="5400" dirty="0" err="1"/>
              <a:t>бины</a:t>
            </a:r>
            <a:r>
              <a:rPr lang="ru-RU" sz="5400" dirty="0"/>
              <a:t>, обеспечивающие доступ к данным, например, работают с БД. Обеспечивает обработку исключений, связанных с доступом к данным, преобразуя их в </a:t>
            </a:r>
            <a:r>
              <a:rPr lang="ru-RU" sz="5400" dirty="0" err="1"/>
              <a:t>DataAccessExeption</a:t>
            </a:r>
            <a:r>
              <a:rPr lang="ru-RU" sz="5400" dirty="0"/>
              <a:t>.</a:t>
            </a:r>
          </a:p>
          <a:p>
            <a:endParaRPr lang="en-US" sz="5400" dirty="0"/>
          </a:p>
          <a:p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@Controller</a:t>
            </a:r>
            <a:r>
              <a:rPr lang="ru-RU" sz="5400" dirty="0"/>
              <a:t> – </a:t>
            </a:r>
            <a:r>
              <a:rPr lang="ru-RU" sz="5400" dirty="0" err="1"/>
              <a:t>бины</a:t>
            </a:r>
            <a:r>
              <a:rPr lang="ru-RU" sz="5400" dirty="0"/>
              <a:t>, взаимодействующие с веб-слоем, обрабатывающие входящие запросы.</a:t>
            </a:r>
          </a:p>
        </p:txBody>
      </p:sp>
    </p:spTree>
    <p:extLst>
      <p:ext uri="{BB962C8B-B14F-4D97-AF65-F5344CB8AC3E}">
        <p14:creationId xmlns:p14="http://schemas.microsoft.com/office/powerpoint/2010/main" val="3166308347"/>
      </p:ext>
    </p:extLst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792E338-5663-41A4-8813-B01FCC2BC69A}"/>
              </a:ext>
            </a:extLst>
          </p:cNvPr>
          <p:cNvSpPr/>
          <p:nvPr/>
        </p:nvSpPr>
        <p:spPr>
          <a:xfrm>
            <a:off x="-127000" y="-25400"/>
            <a:ext cx="24672365" cy="137414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6390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638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8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3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639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6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639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99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639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39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2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640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5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640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08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640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0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1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640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4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641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7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64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0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64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3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64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6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64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29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64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2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64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5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64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38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64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1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64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44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64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63" name="Text 1">
            <a:extLst>
              <a:ext uri="{FF2B5EF4-FFF2-40B4-BE49-F238E27FC236}">
                <a16:creationId xmlns:a16="http://schemas.microsoft.com/office/drawing/2014/main" id="{79AB2086-D555-48BF-8A7C-96857B49D633}"/>
              </a:ext>
            </a:extLst>
          </p:cNvPr>
          <p:cNvSpPr/>
          <p:nvPr/>
        </p:nvSpPr>
        <p:spPr>
          <a:xfrm>
            <a:off x="1356966" y="1105917"/>
            <a:ext cx="21203588" cy="226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3000"/>
              </a:lnSpc>
            </a:pPr>
            <a:r>
              <a:rPr lang="ru-RU" sz="9600" b="1" dirty="0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Виды </a:t>
            </a:r>
            <a:r>
              <a:rPr lang="ru-RU" sz="9600" b="1" dirty="0" err="1">
                <a:solidFill>
                  <a:srgbClr val="000000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бинов</a:t>
            </a:r>
            <a:endParaRPr lang="en-US" sz="9600" b="1" dirty="0">
              <a:solidFill>
                <a:srgbClr val="000000"/>
              </a:solidFill>
              <a:latin typeface="SB Sans Display Semibold" panose="020B0503040504020204" pitchFamily="34" charset="0"/>
              <a:cs typeface="SB Sans Display Semibold" panose="020B0503040504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AA6C615-2F20-4748-9689-218A4A663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400" y="2826572"/>
            <a:ext cx="21652893" cy="10397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736367"/>
      </p:ext>
    </p:extLst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15775152" cy="129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ru-RU" dirty="0"/>
              <a:t>Внедрение зависимостей</a:t>
            </a:r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58262621"/>
      </p:ext>
    </p:extLst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15775152" cy="129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ru-RU" dirty="0"/>
              <a:t>Внедрение зависимостей</a:t>
            </a:r>
          </a:p>
        </p:txBody>
      </p:sp>
      <p:sp>
        <p:nvSpPr>
          <p:cNvPr id="1013" name="Начало контента"/>
          <p:cNvSpPr txBox="1"/>
          <p:nvPr/>
        </p:nvSpPr>
        <p:spPr>
          <a:xfrm>
            <a:off x="1549400" y="2844981"/>
            <a:ext cx="21498560" cy="373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rPr lang="en-US" sz="5400" dirty="0"/>
              <a:t>Spring </a:t>
            </a:r>
            <a:r>
              <a:rPr lang="ru-RU" sz="5400" dirty="0"/>
              <a:t>автоматически внедряет в бин необходимые зависимости при создании - </a:t>
            </a: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Dependency Injection</a:t>
            </a:r>
            <a:r>
              <a:rPr lang="en-US" sz="5400" dirty="0"/>
              <a:t>.</a:t>
            </a:r>
            <a:endParaRPr lang="ru-RU" sz="5400" dirty="0"/>
          </a:p>
          <a:p>
            <a:pPr marL="914400" indent="-914400">
              <a:buAutoNum type="arabicPeriod"/>
            </a:pPr>
            <a:endParaRPr lang="ru-RU" sz="5400" dirty="0"/>
          </a:p>
          <a:p>
            <a:endParaRPr lang="ru-RU" sz="5400" dirty="0">
              <a:gradFill flip="none" rotWithShape="1">
                <a:gsLst>
                  <a:gs pos="0">
                    <a:srgbClr val="34E234"/>
                  </a:gs>
                  <a:gs pos="50594">
                    <a:srgbClr val="22E5A0"/>
                  </a:gs>
                  <a:gs pos="100000">
                    <a:srgbClr val="5AB0FF"/>
                  </a:gs>
                </a:gsLst>
                <a:lin ang="0" scaled="0"/>
              </a:gradFill>
              <a:latin typeface="SB Sans Display Semibold"/>
              <a:cs typeface="SB Sans Display Semibold"/>
            </a:endParaRPr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22472984"/>
      </p:ext>
    </p:extLst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15775152" cy="129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ru-RU" dirty="0"/>
              <a:t>Внедрение зависимостей</a:t>
            </a:r>
          </a:p>
        </p:txBody>
      </p:sp>
      <p:sp>
        <p:nvSpPr>
          <p:cNvPr id="1013" name="Начало контента"/>
          <p:cNvSpPr txBox="1"/>
          <p:nvPr/>
        </p:nvSpPr>
        <p:spPr>
          <a:xfrm>
            <a:off x="1549400" y="2844981"/>
            <a:ext cx="21498560" cy="9222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rPr lang="en-US" sz="5400" dirty="0"/>
              <a:t>Spring </a:t>
            </a:r>
            <a:r>
              <a:rPr lang="ru-RU" sz="5400" dirty="0"/>
              <a:t>автоматически внедряет в бин необходимые зависимости при создании - </a:t>
            </a: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Dependency Injection</a:t>
            </a:r>
            <a:r>
              <a:rPr lang="en-US" sz="5400" dirty="0"/>
              <a:t>.</a:t>
            </a:r>
            <a:endParaRPr lang="ru-RU" sz="5400" dirty="0"/>
          </a:p>
          <a:p>
            <a:endParaRPr lang="ru-RU" sz="5400" dirty="0">
              <a:gradFill flip="none" rotWithShape="1">
                <a:gsLst>
                  <a:gs pos="0">
                    <a:srgbClr val="34E234"/>
                  </a:gs>
                  <a:gs pos="50594">
                    <a:srgbClr val="22E5A0"/>
                  </a:gs>
                  <a:gs pos="100000">
                    <a:srgbClr val="5AB0FF"/>
                  </a:gs>
                </a:gsLst>
                <a:lin ang="0" scaled="0"/>
              </a:gradFill>
              <a:latin typeface="SB Sans Display Semibold"/>
              <a:cs typeface="SB Sans Display Semibold"/>
            </a:endParaRPr>
          </a:p>
          <a:p>
            <a:r>
              <a:rPr lang="ru-RU" sz="5400" dirty="0"/>
              <a:t>Основные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 способы внедрения зависимостей </a:t>
            </a:r>
            <a:r>
              <a:rPr lang="ru-RU" sz="5400" dirty="0"/>
              <a:t>в </a:t>
            </a:r>
            <a:r>
              <a:rPr lang="en-US" sz="5400" dirty="0"/>
              <a:t>Spring:</a:t>
            </a:r>
          </a:p>
          <a:p>
            <a:pPr marL="914400" indent="-914400">
              <a:buAutoNum type="arabicPeriod"/>
            </a:pPr>
            <a:r>
              <a:rPr lang="ru-RU" sz="5400" dirty="0"/>
              <a:t>Внедрение через конструктор</a:t>
            </a:r>
          </a:p>
          <a:p>
            <a:pPr marL="914400" indent="-914400">
              <a:buAutoNum type="arabicPeriod"/>
            </a:pPr>
            <a:r>
              <a:rPr lang="ru-RU" sz="5400" dirty="0"/>
              <a:t>Внедрение через поле</a:t>
            </a:r>
          </a:p>
          <a:p>
            <a:pPr marL="914400" indent="-914400">
              <a:buAutoNum type="arabicPeriod"/>
            </a:pPr>
            <a:r>
              <a:rPr lang="ru-RU" sz="5400" dirty="0"/>
              <a:t>Внедрение через сеттер</a:t>
            </a:r>
          </a:p>
          <a:p>
            <a:pPr marL="914400" indent="-914400">
              <a:buAutoNum type="arabicPeriod"/>
            </a:pPr>
            <a:endParaRPr lang="ru-RU" sz="5400" dirty="0"/>
          </a:p>
          <a:p>
            <a:pPr marL="914400" indent="-914400">
              <a:buAutoNum type="arabicPeriod"/>
            </a:pPr>
            <a:endParaRPr lang="ru-RU" sz="5400" dirty="0"/>
          </a:p>
          <a:p>
            <a:endParaRPr lang="ru-RU" sz="5400" dirty="0">
              <a:gradFill flip="none" rotWithShape="1">
                <a:gsLst>
                  <a:gs pos="0">
                    <a:srgbClr val="34E234"/>
                  </a:gs>
                  <a:gs pos="50594">
                    <a:srgbClr val="22E5A0"/>
                  </a:gs>
                  <a:gs pos="100000">
                    <a:srgbClr val="5AB0FF"/>
                  </a:gs>
                </a:gsLst>
                <a:lin ang="0" scaled="0"/>
              </a:gradFill>
              <a:latin typeface="SB Sans Display Semibold"/>
              <a:cs typeface="SB Sans Display Semibold"/>
            </a:endParaRPr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99696866"/>
      </p:ext>
    </p:extLst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15775152" cy="129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ru-RU" dirty="0"/>
              <a:t>Внедрение зависимостей</a:t>
            </a:r>
          </a:p>
        </p:txBody>
      </p:sp>
      <p:sp>
        <p:nvSpPr>
          <p:cNvPr id="1013" name="Начало контента"/>
          <p:cNvSpPr txBox="1"/>
          <p:nvPr/>
        </p:nvSpPr>
        <p:spPr>
          <a:xfrm>
            <a:off x="1549400" y="2844981"/>
            <a:ext cx="21498560" cy="12879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rPr lang="en-US" sz="5400" dirty="0"/>
              <a:t>Spring </a:t>
            </a:r>
            <a:r>
              <a:rPr lang="ru-RU" sz="5400" dirty="0"/>
              <a:t>автоматически внедряет в бин необходимые зависимости при создании - </a:t>
            </a: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Dependency Injection</a:t>
            </a:r>
            <a:r>
              <a:rPr lang="en-US" sz="5400" dirty="0"/>
              <a:t>.</a:t>
            </a:r>
            <a:endParaRPr lang="ru-RU" sz="5400" dirty="0"/>
          </a:p>
          <a:p>
            <a:endParaRPr lang="ru-RU" sz="5400" dirty="0">
              <a:gradFill flip="none" rotWithShape="1">
                <a:gsLst>
                  <a:gs pos="0">
                    <a:srgbClr val="34E234"/>
                  </a:gs>
                  <a:gs pos="50594">
                    <a:srgbClr val="22E5A0"/>
                  </a:gs>
                  <a:gs pos="100000">
                    <a:srgbClr val="5AB0FF"/>
                  </a:gs>
                </a:gsLst>
                <a:lin ang="0" scaled="0"/>
              </a:gradFill>
              <a:latin typeface="SB Sans Display Semibold"/>
              <a:cs typeface="SB Sans Display Semibold"/>
            </a:endParaRPr>
          </a:p>
          <a:p>
            <a:r>
              <a:rPr lang="ru-RU" sz="5400" dirty="0"/>
              <a:t>Основные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 способы внедрения зависимостей </a:t>
            </a:r>
            <a:r>
              <a:rPr lang="ru-RU" sz="5400" dirty="0"/>
              <a:t>в </a:t>
            </a:r>
            <a:r>
              <a:rPr lang="en-US" sz="5400" dirty="0"/>
              <a:t>Spring:</a:t>
            </a:r>
          </a:p>
          <a:p>
            <a:pPr marL="914400" indent="-914400">
              <a:buAutoNum type="arabicPeriod"/>
            </a:pPr>
            <a:r>
              <a:rPr lang="ru-RU" sz="5400" dirty="0"/>
              <a:t>Внедрение через конструктор</a:t>
            </a:r>
          </a:p>
          <a:p>
            <a:pPr marL="914400" indent="-914400">
              <a:buAutoNum type="arabicPeriod"/>
            </a:pPr>
            <a:r>
              <a:rPr lang="ru-RU" sz="5400" dirty="0"/>
              <a:t>Внедрение через поле</a:t>
            </a:r>
          </a:p>
          <a:p>
            <a:pPr marL="914400" indent="-914400">
              <a:buAutoNum type="arabicPeriod"/>
            </a:pPr>
            <a:r>
              <a:rPr lang="ru-RU" sz="5400" dirty="0"/>
              <a:t>Внедрение через сеттер</a:t>
            </a:r>
          </a:p>
          <a:p>
            <a:endParaRPr lang="ru-RU" sz="5400" dirty="0">
              <a:gradFill flip="none" rotWithShape="1">
                <a:gsLst>
                  <a:gs pos="0">
                    <a:srgbClr val="34E234"/>
                  </a:gs>
                  <a:gs pos="50594">
                    <a:srgbClr val="22E5A0"/>
                  </a:gs>
                  <a:gs pos="100000">
                    <a:srgbClr val="5AB0FF"/>
                  </a:gs>
                </a:gsLst>
                <a:lin ang="0" scaled="0"/>
              </a:gradFill>
              <a:latin typeface="SB Sans Display Semibold"/>
              <a:cs typeface="SB Sans Display Semibold"/>
            </a:endParaRPr>
          </a:p>
          <a:p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@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Autowired</a:t>
            </a:r>
            <a:r>
              <a:rPr lang="ru-RU" sz="5400" dirty="0"/>
              <a:t> используется для автоматического внедрения зависимостей, уменьшая необходимость явной конфигурации в коде.</a:t>
            </a:r>
          </a:p>
          <a:p>
            <a:pPr marL="914400" indent="-914400">
              <a:buAutoNum type="arabicPeriod"/>
            </a:pPr>
            <a:endParaRPr lang="ru-RU" sz="5400" dirty="0"/>
          </a:p>
          <a:p>
            <a:pPr marL="914400" indent="-914400">
              <a:buAutoNum type="arabicPeriod"/>
            </a:pPr>
            <a:endParaRPr lang="ru-RU" sz="5400" dirty="0"/>
          </a:p>
          <a:p>
            <a:endParaRPr lang="ru-RU" sz="5400" dirty="0">
              <a:gradFill flip="none" rotWithShape="1">
                <a:gsLst>
                  <a:gs pos="0">
                    <a:srgbClr val="34E234"/>
                  </a:gs>
                  <a:gs pos="50594">
                    <a:srgbClr val="22E5A0"/>
                  </a:gs>
                  <a:gs pos="100000">
                    <a:srgbClr val="5AB0FF"/>
                  </a:gs>
                </a:gsLst>
                <a:lin ang="0" scaled="0"/>
              </a:gradFill>
              <a:latin typeface="SB Sans Display Semibold"/>
              <a:cs typeface="SB Sans Display Semibold"/>
            </a:endParaRPr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76742599"/>
      </p:ext>
    </p:extLst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13364236" cy="129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en-US" dirty="0"/>
              <a:t>DI </a:t>
            </a:r>
            <a:r>
              <a:rPr lang="ru-RU" dirty="0"/>
              <a:t>через конструктор</a:t>
            </a:r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37039555"/>
      </p:ext>
    </p:extLst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13364236" cy="129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en-US" dirty="0"/>
              <a:t>DI </a:t>
            </a:r>
            <a:r>
              <a:rPr lang="ru-RU" dirty="0"/>
              <a:t>через конструктор</a:t>
            </a:r>
          </a:p>
        </p:txBody>
      </p:sp>
      <p:sp>
        <p:nvSpPr>
          <p:cNvPr id="1013" name="Начало контента"/>
          <p:cNvSpPr txBox="1"/>
          <p:nvPr/>
        </p:nvSpPr>
        <p:spPr>
          <a:xfrm>
            <a:off x="1549400" y="2844981"/>
            <a:ext cx="21498560" cy="19100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rPr lang="ru-RU" sz="5400" dirty="0"/>
              <a:t>Внедрение зависимостей через конструктор – </a:t>
            </a: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best practice</a:t>
            </a:r>
            <a:r>
              <a:rPr lang="en-US" sz="5400" dirty="0"/>
              <a:t>.</a:t>
            </a:r>
            <a:endParaRPr lang="ru-RU" sz="5400" dirty="0">
              <a:gradFill flip="none" rotWithShape="1">
                <a:gsLst>
                  <a:gs pos="0">
                    <a:srgbClr val="34E234"/>
                  </a:gs>
                  <a:gs pos="50594">
                    <a:srgbClr val="22E5A0"/>
                  </a:gs>
                  <a:gs pos="100000">
                    <a:srgbClr val="5AB0FF"/>
                  </a:gs>
                </a:gsLst>
                <a:lin ang="0" scaled="0"/>
              </a:gradFill>
              <a:latin typeface="SB Sans Display Semibold"/>
              <a:cs typeface="SB Sans Display Semibold"/>
            </a:endParaRPr>
          </a:p>
          <a:p>
            <a:endParaRPr lang="ru-RU" sz="5400" dirty="0">
              <a:gradFill flip="none" rotWithShape="1">
                <a:gsLst>
                  <a:gs pos="0">
                    <a:srgbClr val="34E234"/>
                  </a:gs>
                  <a:gs pos="50594">
                    <a:srgbClr val="22E5A0"/>
                  </a:gs>
                  <a:gs pos="100000">
                    <a:srgbClr val="5AB0FF"/>
                  </a:gs>
                </a:gsLst>
                <a:lin ang="0" scaled="0"/>
              </a:gradFill>
              <a:latin typeface="SB Sans Display Semibold"/>
              <a:cs typeface="SB Sans Display Semibold"/>
            </a:endParaRPr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727037672"/>
      </p:ext>
    </p:extLst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13364236" cy="129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en-US" dirty="0"/>
              <a:t>DI </a:t>
            </a:r>
            <a:r>
              <a:rPr lang="ru-RU" dirty="0"/>
              <a:t>через конструктор</a:t>
            </a:r>
          </a:p>
        </p:txBody>
      </p:sp>
      <p:sp>
        <p:nvSpPr>
          <p:cNvPr id="1013" name="Начало контента"/>
          <p:cNvSpPr txBox="1"/>
          <p:nvPr/>
        </p:nvSpPr>
        <p:spPr>
          <a:xfrm>
            <a:off x="1549400" y="2844981"/>
            <a:ext cx="21498560" cy="3737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rPr lang="ru-RU" sz="5400" dirty="0"/>
              <a:t>Внедрение зависимостей через конструктор – </a:t>
            </a: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best practice</a:t>
            </a:r>
            <a:r>
              <a:rPr lang="en-US" sz="5400" dirty="0"/>
              <a:t>.</a:t>
            </a:r>
            <a:endParaRPr lang="ru-RU" sz="5400" dirty="0"/>
          </a:p>
          <a:p>
            <a:pPr marL="685800" indent="-685800">
              <a:buFont typeface="Arial" panose="020B0604020202020204" pitchFamily="34" charset="0"/>
              <a:buChar char="•"/>
            </a:pPr>
            <a:endParaRPr lang="ru-RU" sz="5400" dirty="0">
              <a:gradFill flip="none" rotWithShape="1">
                <a:gsLst>
                  <a:gs pos="0">
                    <a:srgbClr val="34E234"/>
                  </a:gs>
                  <a:gs pos="50594">
                    <a:srgbClr val="22E5A0"/>
                  </a:gs>
                  <a:gs pos="100000">
                    <a:srgbClr val="5AB0FF"/>
                  </a:gs>
                </a:gsLst>
                <a:lin ang="0" scaled="0"/>
              </a:gradFill>
              <a:latin typeface="SB Sans Display Semibold"/>
              <a:cs typeface="SB Sans Display Semibold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Иммутабельность</a:t>
            </a:r>
            <a:r>
              <a:rPr lang="ru-RU" sz="5400" dirty="0"/>
              <a:t> за счет </a:t>
            </a:r>
            <a:r>
              <a:rPr lang="en-US" sz="5400" dirty="0"/>
              <a:t>final-</a:t>
            </a:r>
            <a:r>
              <a:rPr lang="ru-RU" sz="5400" dirty="0"/>
              <a:t>полей. Улучшает предсказуемость и стабильность кода.</a:t>
            </a:r>
            <a:endParaRPr lang="ru-RU" sz="5400" dirty="0">
              <a:gradFill flip="none" rotWithShape="1">
                <a:gsLst>
                  <a:gs pos="0">
                    <a:srgbClr val="34E234"/>
                  </a:gs>
                  <a:gs pos="50594">
                    <a:srgbClr val="22E5A0"/>
                  </a:gs>
                  <a:gs pos="100000">
                    <a:srgbClr val="5AB0FF"/>
                  </a:gs>
                </a:gsLst>
                <a:lin ang="0" scaled="0"/>
              </a:gradFill>
              <a:latin typeface="SB Sans Display Semibold"/>
              <a:cs typeface="SB Sans Display Semibold"/>
            </a:endParaRPr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61801727"/>
      </p:ext>
    </p:extLst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13364236" cy="129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en-US" dirty="0"/>
              <a:t>DI </a:t>
            </a:r>
            <a:r>
              <a:rPr lang="ru-RU" dirty="0"/>
              <a:t>через конструктор</a:t>
            </a:r>
          </a:p>
        </p:txBody>
      </p:sp>
      <p:sp>
        <p:nvSpPr>
          <p:cNvPr id="1013" name="Начало контента"/>
          <p:cNvSpPr txBox="1"/>
          <p:nvPr/>
        </p:nvSpPr>
        <p:spPr>
          <a:xfrm>
            <a:off x="1549400" y="2844981"/>
            <a:ext cx="21498560" cy="6479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rPr lang="ru-RU" sz="5400" dirty="0"/>
              <a:t>Внедрение зависимостей через конструктор – </a:t>
            </a: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best practice</a:t>
            </a:r>
            <a:r>
              <a:rPr lang="en-US" sz="5400" dirty="0"/>
              <a:t>.</a:t>
            </a:r>
            <a:endParaRPr lang="ru-RU" sz="5400" dirty="0"/>
          </a:p>
          <a:p>
            <a:pPr marL="685800" indent="-685800">
              <a:buFont typeface="Arial" panose="020B0604020202020204" pitchFamily="34" charset="0"/>
              <a:buChar char="•"/>
            </a:pPr>
            <a:endParaRPr lang="ru-RU" sz="5400" dirty="0">
              <a:gradFill flip="none" rotWithShape="1">
                <a:gsLst>
                  <a:gs pos="0">
                    <a:srgbClr val="34E234"/>
                  </a:gs>
                  <a:gs pos="50594">
                    <a:srgbClr val="22E5A0"/>
                  </a:gs>
                  <a:gs pos="100000">
                    <a:srgbClr val="5AB0FF"/>
                  </a:gs>
                </a:gsLst>
                <a:lin ang="0" scaled="0"/>
              </a:gradFill>
              <a:latin typeface="SB Sans Display Semibold"/>
              <a:cs typeface="SB Sans Display Semibold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Иммутабельность</a:t>
            </a:r>
            <a:r>
              <a:rPr lang="ru-RU" sz="5400" dirty="0"/>
              <a:t> за счет </a:t>
            </a:r>
            <a:r>
              <a:rPr lang="en-US" sz="5400" dirty="0"/>
              <a:t>final-</a:t>
            </a:r>
            <a:r>
              <a:rPr lang="ru-RU" sz="5400" dirty="0"/>
              <a:t>полей. Улучшает предсказуемость и стабильность кода.</a:t>
            </a:r>
            <a:endParaRPr lang="ru-RU" sz="5400" dirty="0">
              <a:gradFill flip="none" rotWithShape="1">
                <a:gsLst>
                  <a:gs pos="0">
                    <a:srgbClr val="34E234"/>
                  </a:gs>
                  <a:gs pos="50594">
                    <a:srgbClr val="22E5A0"/>
                  </a:gs>
                  <a:gs pos="100000">
                    <a:srgbClr val="5AB0FF"/>
                  </a:gs>
                </a:gsLst>
                <a:lin ang="0" scaled="0"/>
              </a:gradFill>
              <a:latin typeface="SB Sans Display Semibold"/>
              <a:cs typeface="SB Sans Display Semibold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endParaRPr lang="ru-RU" sz="5400" dirty="0">
              <a:gradFill flip="none" rotWithShape="1">
                <a:gsLst>
                  <a:gs pos="0">
                    <a:srgbClr val="34E234"/>
                  </a:gs>
                  <a:gs pos="50594">
                    <a:srgbClr val="22E5A0"/>
                  </a:gs>
                  <a:gs pos="100000">
                    <a:srgbClr val="5AB0FF"/>
                  </a:gs>
                </a:gsLst>
                <a:lin ang="0" scaled="0"/>
              </a:gradFill>
              <a:latin typeface="SB Sans Display Semibold"/>
              <a:cs typeface="SB Sans Display Semibold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Консистентность</a:t>
            </a:r>
            <a:r>
              <a:rPr lang="ru-RU" sz="5400" dirty="0"/>
              <a:t>. Гарантирует, что компонент получит все необходимые зависимости.</a:t>
            </a:r>
            <a:endParaRPr lang="ru-RU" sz="5400" dirty="0">
              <a:gradFill flip="none" rotWithShape="1">
                <a:gsLst>
                  <a:gs pos="0">
                    <a:srgbClr val="34E234"/>
                  </a:gs>
                  <a:gs pos="50594">
                    <a:srgbClr val="22E5A0"/>
                  </a:gs>
                  <a:gs pos="100000">
                    <a:srgbClr val="5AB0FF"/>
                  </a:gs>
                </a:gsLst>
                <a:lin ang="0" scaled="0"/>
              </a:gradFill>
              <a:latin typeface="SB Sans Display Semibold"/>
              <a:cs typeface="SB Sans Display Semibold"/>
            </a:endParaRPr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681449905"/>
      </p:ext>
    </p:extLst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13364236" cy="129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en-US" dirty="0"/>
              <a:t>DI </a:t>
            </a:r>
            <a:r>
              <a:rPr lang="ru-RU" dirty="0"/>
              <a:t>через конструктор</a:t>
            </a:r>
          </a:p>
        </p:txBody>
      </p:sp>
      <p:sp>
        <p:nvSpPr>
          <p:cNvPr id="1013" name="Начало контента"/>
          <p:cNvSpPr txBox="1"/>
          <p:nvPr/>
        </p:nvSpPr>
        <p:spPr>
          <a:xfrm>
            <a:off x="1549400" y="2844981"/>
            <a:ext cx="21498560" cy="110509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rPr lang="ru-RU" sz="5400" dirty="0"/>
              <a:t>Внедрение зависимостей через конструктор – </a:t>
            </a: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best practice</a:t>
            </a:r>
            <a:r>
              <a:rPr lang="en-US" sz="5400" dirty="0"/>
              <a:t>.</a:t>
            </a:r>
            <a:endParaRPr lang="ru-RU" sz="5400" dirty="0"/>
          </a:p>
          <a:p>
            <a:pPr marL="685800" indent="-685800">
              <a:buFont typeface="Arial" panose="020B0604020202020204" pitchFamily="34" charset="0"/>
              <a:buChar char="•"/>
            </a:pPr>
            <a:endParaRPr lang="ru-RU" sz="5400" dirty="0">
              <a:gradFill flip="none" rotWithShape="1">
                <a:gsLst>
                  <a:gs pos="0">
                    <a:srgbClr val="34E234"/>
                  </a:gs>
                  <a:gs pos="50594">
                    <a:srgbClr val="22E5A0"/>
                  </a:gs>
                  <a:gs pos="100000">
                    <a:srgbClr val="5AB0FF"/>
                  </a:gs>
                </a:gsLst>
                <a:lin ang="0" scaled="0"/>
              </a:gradFill>
              <a:latin typeface="SB Sans Display Semibold"/>
              <a:cs typeface="SB Sans Display Semibold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Иммутабельность</a:t>
            </a:r>
            <a:r>
              <a:rPr lang="ru-RU" sz="5400" dirty="0"/>
              <a:t> за счет </a:t>
            </a:r>
            <a:r>
              <a:rPr lang="en-US" sz="5400" dirty="0"/>
              <a:t>final-</a:t>
            </a:r>
            <a:r>
              <a:rPr lang="ru-RU" sz="5400" dirty="0"/>
              <a:t>полей. Улучшает предсказуемость и стабильность кода.</a:t>
            </a:r>
            <a:endParaRPr lang="ru-RU" sz="5400" dirty="0">
              <a:gradFill flip="none" rotWithShape="1">
                <a:gsLst>
                  <a:gs pos="0">
                    <a:srgbClr val="34E234"/>
                  </a:gs>
                  <a:gs pos="50594">
                    <a:srgbClr val="22E5A0"/>
                  </a:gs>
                  <a:gs pos="100000">
                    <a:srgbClr val="5AB0FF"/>
                  </a:gs>
                </a:gsLst>
                <a:lin ang="0" scaled="0"/>
              </a:gradFill>
              <a:latin typeface="SB Sans Display Semibold"/>
              <a:cs typeface="SB Sans Display Semibold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endParaRPr lang="ru-RU" sz="5400" dirty="0">
              <a:gradFill flip="none" rotWithShape="1">
                <a:gsLst>
                  <a:gs pos="0">
                    <a:srgbClr val="34E234"/>
                  </a:gs>
                  <a:gs pos="50594">
                    <a:srgbClr val="22E5A0"/>
                  </a:gs>
                  <a:gs pos="100000">
                    <a:srgbClr val="5AB0FF"/>
                  </a:gs>
                </a:gsLst>
                <a:lin ang="0" scaled="0"/>
              </a:gradFill>
              <a:latin typeface="SB Sans Display Semibold"/>
              <a:cs typeface="SB Sans Display Semibold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Консистентность</a:t>
            </a:r>
            <a:r>
              <a:rPr lang="ru-RU" sz="5400" dirty="0"/>
              <a:t>. Гарантирует, что компонент получит все необходимые зависимости.</a:t>
            </a:r>
            <a:endParaRPr lang="ru-RU" sz="5400" dirty="0">
              <a:gradFill flip="none" rotWithShape="1">
                <a:gsLst>
                  <a:gs pos="0">
                    <a:srgbClr val="34E234"/>
                  </a:gs>
                  <a:gs pos="50594">
                    <a:srgbClr val="22E5A0"/>
                  </a:gs>
                  <a:gs pos="100000">
                    <a:srgbClr val="5AB0FF"/>
                  </a:gs>
                </a:gsLst>
                <a:lin ang="0" scaled="0"/>
              </a:gradFill>
              <a:latin typeface="SB Sans Display Semibold"/>
              <a:cs typeface="SB Sans Display Semibold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endParaRPr lang="ru-RU" sz="5400" dirty="0">
              <a:gradFill flip="none" rotWithShape="1">
                <a:gsLst>
                  <a:gs pos="0">
                    <a:srgbClr val="34E234"/>
                  </a:gs>
                  <a:gs pos="50594">
                    <a:srgbClr val="22E5A0"/>
                  </a:gs>
                  <a:gs pos="100000">
                    <a:srgbClr val="5AB0FF"/>
                  </a:gs>
                </a:gsLst>
                <a:lin ang="0" scaled="0"/>
              </a:gradFill>
              <a:latin typeface="SB Sans Display Semibold"/>
              <a:cs typeface="SB Sans Display Semibold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Упрощенное тестирование</a:t>
            </a:r>
            <a:r>
              <a:rPr lang="ru-RU" sz="5400" dirty="0"/>
              <a:t>. Зависимости легко подменить </a:t>
            </a:r>
            <a:r>
              <a:rPr lang="ru-RU" sz="5400" dirty="0" err="1"/>
              <a:t>моками</a:t>
            </a:r>
            <a:r>
              <a:rPr lang="ru-RU" sz="5400" dirty="0"/>
              <a:t> при создании объекта в тестах.</a:t>
            </a:r>
          </a:p>
          <a:p>
            <a:endParaRPr lang="ru-RU" sz="5400" dirty="0">
              <a:gradFill flip="none" rotWithShape="1">
                <a:gsLst>
                  <a:gs pos="0">
                    <a:srgbClr val="34E234"/>
                  </a:gs>
                  <a:gs pos="50594">
                    <a:srgbClr val="22E5A0"/>
                  </a:gs>
                  <a:gs pos="100000">
                    <a:srgbClr val="5AB0FF"/>
                  </a:gs>
                </a:gsLst>
                <a:lin ang="0" scaled="0"/>
              </a:gradFill>
              <a:latin typeface="SB Sans Display Semibold"/>
              <a:cs typeface="SB Sans Display Semibold"/>
            </a:endParaRPr>
          </a:p>
          <a:p>
            <a:endParaRPr lang="ru-RU" sz="5400" dirty="0">
              <a:gradFill flip="none" rotWithShape="1">
                <a:gsLst>
                  <a:gs pos="0">
                    <a:srgbClr val="34E234"/>
                  </a:gs>
                  <a:gs pos="50594">
                    <a:srgbClr val="22E5A0"/>
                  </a:gs>
                  <a:gs pos="100000">
                    <a:srgbClr val="5AB0FF"/>
                  </a:gs>
                </a:gsLst>
                <a:lin ang="0" scaled="0"/>
              </a:gradFill>
              <a:latin typeface="SB Sans Display Semibold"/>
              <a:cs typeface="SB Sans Display Semibold"/>
            </a:endParaRPr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29390719"/>
      </p:ext>
    </p:extLst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1" name="Заголовок"/>
          <p:cNvSpPr txBox="1"/>
          <p:nvPr/>
        </p:nvSpPr>
        <p:spPr>
          <a:xfrm>
            <a:off x="1524000" y="5810849"/>
            <a:ext cx="8258671" cy="2094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70000"/>
              </a:lnSpc>
              <a:defRPr sz="20000" spc="-400">
                <a:gradFill flip="none" rotWithShape="1">
                  <a:gsLst>
                    <a:gs pos="0">
                      <a:srgbClr val="34E234"/>
                    </a:gs>
                    <a:gs pos="19133">
                      <a:srgbClr val="9DCD25"/>
                    </a:gs>
                    <a:gs pos="39357">
                      <a:srgbClr val="F2E800"/>
                    </a:gs>
                    <a:gs pos="58861">
                      <a:srgbClr val="9DCD25"/>
                    </a:gs>
                    <a:gs pos="79839">
                      <a:srgbClr val="00A4E0"/>
                    </a:gs>
                    <a:gs pos="100000">
                      <a:srgbClr val="0086D0"/>
                    </a:gs>
                  </a:gsLst>
                  <a:lin ang="3000000" scaled="0"/>
                </a:gradFill>
                <a:latin typeface="SB Sans Display Light"/>
                <a:ea typeface="SB Sans Display Light"/>
                <a:cs typeface="SB Sans Display Light"/>
                <a:sym typeface="SB Sans Display Light"/>
              </a:defRPr>
            </a:lvl1pPr>
          </a:lstStyle>
          <a:p>
            <a:r>
              <a:rPr lang="ru-RU" sz="16700" dirty="0" err="1"/>
              <a:t>Демо</a:t>
            </a:r>
            <a:r>
              <a:rPr lang="ru-RU" sz="16700" dirty="0"/>
              <a:t> </a:t>
            </a:r>
            <a:r>
              <a:rPr lang="en-US" sz="16700" dirty="0"/>
              <a:t>03</a:t>
            </a:r>
            <a:endParaRPr lang="ru-RU" sz="16700" dirty="0"/>
          </a:p>
        </p:txBody>
      </p:sp>
      <p:grpSp>
        <p:nvGrpSpPr>
          <p:cNvPr id="4594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459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597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459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0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459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3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460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6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460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9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460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2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461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5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461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8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461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1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461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4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462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7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462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0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462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3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463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6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463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9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463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2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464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5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464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8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464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42838067"/>
      </p:ext>
    </p:extLst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12867305" cy="129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ru-RU" dirty="0"/>
              <a:t>Выводы после главы</a:t>
            </a:r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47895726"/>
      </p:ext>
    </p:extLst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12867305" cy="129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ru-RU" dirty="0"/>
              <a:t>Выводы после главы</a:t>
            </a:r>
          </a:p>
        </p:txBody>
      </p:sp>
      <p:sp>
        <p:nvSpPr>
          <p:cNvPr id="1013" name="Начало контента"/>
          <p:cNvSpPr txBox="1"/>
          <p:nvPr/>
        </p:nvSpPr>
        <p:spPr>
          <a:xfrm>
            <a:off x="1549400" y="2844981"/>
            <a:ext cx="21498560" cy="4624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pPr marL="914400" indent="-914400">
              <a:buAutoNum type="arabicPeriod"/>
            </a:pP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@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Service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, @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Component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, @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Repository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, и @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Configuration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 </a:t>
            </a:r>
            <a:r>
              <a:rPr lang="ru-RU" sz="5400" dirty="0"/>
              <a:t>помогают определить роль </a:t>
            </a:r>
            <a:r>
              <a:rPr lang="ru-RU" sz="5400" dirty="0" err="1"/>
              <a:t>Spring</a:t>
            </a:r>
            <a:r>
              <a:rPr lang="ru-RU" sz="5400" dirty="0"/>
              <a:t>-компонентов в приложении,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@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Bean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 </a:t>
            </a:r>
            <a:r>
              <a:rPr lang="ru-RU" sz="5400" dirty="0"/>
              <a:t>используется для </a:t>
            </a:r>
            <a:r>
              <a:rPr lang="ru-RU" sz="5400" dirty="0" err="1"/>
              <a:t>бинов</a:t>
            </a:r>
            <a:r>
              <a:rPr lang="ru-RU" sz="5400" dirty="0"/>
              <a:t>-зависимостей в классах, помеченных @</a:t>
            </a:r>
            <a:r>
              <a:rPr lang="ru-RU" sz="5400" dirty="0" err="1"/>
              <a:t>Configuration</a:t>
            </a:r>
            <a:r>
              <a:rPr lang="ru-RU" sz="5400" dirty="0"/>
              <a:t>.</a:t>
            </a:r>
            <a:endParaRPr lang="en-US" sz="5400" dirty="0"/>
          </a:p>
          <a:p>
            <a:endParaRPr lang="en-US" sz="5400" dirty="0"/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18897156"/>
      </p:ext>
    </p:extLst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12867305" cy="129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ru-RU" dirty="0"/>
              <a:t>Выводы после главы</a:t>
            </a:r>
          </a:p>
        </p:txBody>
      </p:sp>
      <p:sp>
        <p:nvSpPr>
          <p:cNvPr id="1013" name="Начало контента"/>
          <p:cNvSpPr txBox="1"/>
          <p:nvPr/>
        </p:nvSpPr>
        <p:spPr>
          <a:xfrm>
            <a:off x="1549400" y="2844981"/>
            <a:ext cx="21498560" cy="64529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pPr marL="914400" indent="-914400">
              <a:buAutoNum type="arabicPeriod"/>
            </a:pP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@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Service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, @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Component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, @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Repository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, и @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Configuration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 </a:t>
            </a:r>
            <a:r>
              <a:rPr lang="ru-RU" sz="5400" dirty="0"/>
              <a:t>помогают определить роль </a:t>
            </a:r>
            <a:r>
              <a:rPr lang="ru-RU" sz="5400" dirty="0" err="1"/>
              <a:t>Spring</a:t>
            </a:r>
            <a:r>
              <a:rPr lang="ru-RU" sz="5400" dirty="0"/>
              <a:t>-компонентов в приложении,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@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Bean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 </a:t>
            </a:r>
            <a:r>
              <a:rPr lang="ru-RU" sz="5400" dirty="0"/>
              <a:t>используется для </a:t>
            </a:r>
            <a:r>
              <a:rPr lang="ru-RU" sz="5400" dirty="0" err="1"/>
              <a:t>бинов</a:t>
            </a:r>
            <a:r>
              <a:rPr lang="ru-RU" sz="5400" dirty="0"/>
              <a:t>-зависимостей в классах, помеченных @</a:t>
            </a:r>
            <a:r>
              <a:rPr lang="ru-RU" sz="5400" dirty="0" err="1"/>
              <a:t>Configuration</a:t>
            </a:r>
            <a:r>
              <a:rPr lang="ru-RU" sz="5400" dirty="0"/>
              <a:t>.</a:t>
            </a:r>
            <a:endParaRPr lang="en-US" sz="5400" dirty="0"/>
          </a:p>
          <a:p>
            <a:pPr marL="914400" indent="-914400">
              <a:buAutoNum type="arabicPeriod"/>
            </a:pPr>
            <a:r>
              <a:rPr lang="ru-RU" sz="5400" dirty="0"/>
              <a:t>Пакеты и классы для сканирования </a:t>
            </a:r>
            <a:r>
              <a:rPr lang="ru-RU" sz="5400" dirty="0" err="1"/>
              <a:t>бинов</a:t>
            </a:r>
            <a:r>
              <a:rPr lang="ru-RU" sz="5400" dirty="0"/>
              <a:t> </a:t>
            </a:r>
            <a:r>
              <a:rPr lang="en-US" sz="5400" dirty="0"/>
              <a:t>/ </a:t>
            </a:r>
            <a:r>
              <a:rPr lang="ru-RU" sz="5400" dirty="0"/>
              <a:t>компонентов задаются аннотацией </a:t>
            </a: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@</a:t>
            </a:r>
            <a:r>
              <a:rPr lang="en-US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ComponentScan</a:t>
            </a:r>
            <a:endParaRPr lang="ru-RU" sz="5400" dirty="0">
              <a:gradFill flip="none" rotWithShape="1">
                <a:gsLst>
                  <a:gs pos="0">
                    <a:srgbClr val="34E234"/>
                  </a:gs>
                  <a:gs pos="50594">
                    <a:srgbClr val="22E5A0"/>
                  </a:gs>
                  <a:gs pos="100000">
                    <a:srgbClr val="5AB0FF"/>
                  </a:gs>
                </a:gsLst>
                <a:lin ang="0" scaled="0"/>
              </a:gradFill>
              <a:latin typeface="SB Sans Display Semibold"/>
              <a:cs typeface="SB Sans Display Semibold"/>
            </a:endParaRPr>
          </a:p>
          <a:p>
            <a:endParaRPr lang="en-US" sz="5400" dirty="0"/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88517437"/>
      </p:ext>
    </p:extLst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12867305" cy="129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ru-RU" dirty="0"/>
              <a:t>Выводы после главы</a:t>
            </a:r>
          </a:p>
        </p:txBody>
      </p:sp>
      <p:sp>
        <p:nvSpPr>
          <p:cNvPr id="1013" name="Начало контента"/>
          <p:cNvSpPr txBox="1"/>
          <p:nvPr/>
        </p:nvSpPr>
        <p:spPr>
          <a:xfrm>
            <a:off x="1549400" y="2844981"/>
            <a:ext cx="21498560" cy="9195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pPr marL="914400" indent="-914400">
              <a:buAutoNum type="arabicPeriod"/>
            </a:pP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@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Service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, @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Component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, @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Repository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, и @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Configuration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 </a:t>
            </a:r>
            <a:r>
              <a:rPr lang="ru-RU" sz="5400" dirty="0"/>
              <a:t>помогают определить роль </a:t>
            </a:r>
            <a:r>
              <a:rPr lang="ru-RU" sz="5400" dirty="0" err="1"/>
              <a:t>Spring</a:t>
            </a:r>
            <a:r>
              <a:rPr lang="ru-RU" sz="5400" dirty="0"/>
              <a:t>-компонентов в приложении,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@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Bean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 </a:t>
            </a:r>
            <a:r>
              <a:rPr lang="ru-RU" sz="5400" dirty="0"/>
              <a:t>используется для </a:t>
            </a:r>
            <a:r>
              <a:rPr lang="ru-RU" sz="5400" dirty="0" err="1"/>
              <a:t>бинов</a:t>
            </a:r>
            <a:r>
              <a:rPr lang="ru-RU" sz="5400" dirty="0"/>
              <a:t>-зависимостей в классах, помеченных @</a:t>
            </a:r>
            <a:r>
              <a:rPr lang="ru-RU" sz="5400" dirty="0" err="1"/>
              <a:t>Configuration</a:t>
            </a:r>
            <a:r>
              <a:rPr lang="ru-RU" sz="5400" dirty="0"/>
              <a:t>.</a:t>
            </a:r>
            <a:endParaRPr lang="en-US" sz="5400" dirty="0"/>
          </a:p>
          <a:p>
            <a:pPr marL="914400" indent="-914400">
              <a:buAutoNum type="arabicPeriod"/>
            </a:pPr>
            <a:r>
              <a:rPr lang="ru-RU" sz="5400" dirty="0"/>
              <a:t>Пакеты и классы для сканирования </a:t>
            </a:r>
            <a:r>
              <a:rPr lang="ru-RU" sz="5400" dirty="0" err="1"/>
              <a:t>бинов</a:t>
            </a:r>
            <a:r>
              <a:rPr lang="ru-RU" sz="5400" dirty="0"/>
              <a:t> </a:t>
            </a:r>
            <a:r>
              <a:rPr lang="en-US" sz="5400" dirty="0"/>
              <a:t>/ </a:t>
            </a:r>
            <a:r>
              <a:rPr lang="ru-RU" sz="5400" dirty="0"/>
              <a:t>компонентов задаются аннотацией </a:t>
            </a: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@</a:t>
            </a:r>
            <a:r>
              <a:rPr lang="en-US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ComponentScan</a:t>
            </a:r>
            <a:endParaRPr lang="ru-RU" sz="5400" dirty="0">
              <a:gradFill flip="none" rotWithShape="1">
                <a:gsLst>
                  <a:gs pos="0">
                    <a:srgbClr val="34E234"/>
                  </a:gs>
                  <a:gs pos="50594">
                    <a:srgbClr val="22E5A0"/>
                  </a:gs>
                  <a:gs pos="100000">
                    <a:srgbClr val="5AB0FF"/>
                  </a:gs>
                </a:gsLst>
                <a:lin ang="0" scaled="0"/>
              </a:gradFill>
              <a:latin typeface="SB Sans Display Semibold"/>
              <a:cs typeface="SB Sans Display Semibold"/>
            </a:endParaRPr>
          </a:p>
          <a:p>
            <a:pPr marL="914400" indent="-914400">
              <a:buFontTx/>
              <a:buAutoNum type="arabicPeriod"/>
            </a:pP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@</a:t>
            </a:r>
            <a:r>
              <a:rPr lang="en-US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Autowired</a:t>
            </a: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 </a:t>
            </a:r>
            <a:r>
              <a:rPr lang="ru-RU" sz="5400" dirty="0"/>
              <a:t>автоматически внедряет зависимости. </a:t>
            </a:r>
            <a:r>
              <a:rPr lang="en-US" sz="5400" dirty="0"/>
              <a:t>Best practice – DI </a:t>
            </a:r>
            <a:r>
              <a:rPr lang="ru-RU" sz="5400" dirty="0"/>
              <a:t>через конструктор. </a:t>
            </a:r>
            <a:r>
              <a:rPr lang="en-US" sz="5400" dirty="0"/>
              <a:t>C</a:t>
            </a:r>
            <a:r>
              <a:rPr lang="ru-RU" sz="5400" dirty="0"/>
              <a:t> версии </a:t>
            </a:r>
            <a:r>
              <a:rPr lang="en-US" sz="5400" dirty="0"/>
              <a:t>Spring 4.5+</a:t>
            </a:r>
            <a:r>
              <a:rPr lang="ru-RU" sz="5400" dirty="0"/>
              <a:t> если имя </a:t>
            </a:r>
            <a:r>
              <a:rPr lang="ru-RU" sz="5400" dirty="0" err="1"/>
              <a:t>бина</a:t>
            </a:r>
            <a:r>
              <a:rPr lang="ru-RU" sz="5400" dirty="0"/>
              <a:t> совпадает с полем </a:t>
            </a:r>
            <a:r>
              <a:rPr lang="en-US" sz="5400" dirty="0"/>
              <a:t>@</a:t>
            </a:r>
            <a:r>
              <a:rPr lang="en-US" sz="5400" dirty="0" err="1"/>
              <a:t>Autowired</a:t>
            </a:r>
            <a:r>
              <a:rPr lang="en-US" sz="5400" dirty="0"/>
              <a:t>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можно опустить</a:t>
            </a:r>
            <a:r>
              <a:rPr lang="ru-RU" sz="5400" dirty="0"/>
              <a:t>.</a:t>
            </a:r>
          </a:p>
          <a:p>
            <a:pPr marL="914400" indent="-914400">
              <a:buAutoNum type="arabicPeriod"/>
            </a:pPr>
            <a:endParaRPr lang="en-US" sz="5400" dirty="0"/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73268677"/>
      </p:ext>
    </p:extLst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1" name="Заголовок"/>
          <p:cNvSpPr txBox="1"/>
          <p:nvPr/>
        </p:nvSpPr>
        <p:spPr>
          <a:xfrm>
            <a:off x="1524000" y="5810849"/>
            <a:ext cx="8385309" cy="2094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70000"/>
              </a:lnSpc>
              <a:defRPr sz="20000" spc="-400">
                <a:gradFill flip="none" rotWithShape="1">
                  <a:gsLst>
                    <a:gs pos="0">
                      <a:srgbClr val="34E234"/>
                    </a:gs>
                    <a:gs pos="19133">
                      <a:srgbClr val="9DCD25"/>
                    </a:gs>
                    <a:gs pos="39357">
                      <a:srgbClr val="F2E800"/>
                    </a:gs>
                    <a:gs pos="58861">
                      <a:srgbClr val="9DCD25"/>
                    </a:gs>
                    <a:gs pos="79839">
                      <a:srgbClr val="00A4E0"/>
                    </a:gs>
                    <a:gs pos="100000">
                      <a:srgbClr val="0086D0"/>
                    </a:gs>
                  </a:gsLst>
                  <a:lin ang="3000000" scaled="0"/>
                </a:gradFill>
                <a:latin typeface="SB Sans Display Light"/>
                <a:ea typeface="SB Sans Display Light"/>
                <a:cs typeface="SB Sans Display Light"/>
                <a:sym typeface="SB Sans Display Light"/>
              </a:defRPr>
            </a:lvl1pPr>
          </a:lstStyle>
          <a:p>
            <a:r>
              <a:rPr lang="ru-RU" sz="16700" dirty="0"/>
              <a:t>Глубины</a:t>
            </a:r>
          </a:p>
        </p:txBody>
      </p:sp>
      <p:grpSp>
        <p:nvGrpSpPr>
          <p:cNvPr id="4594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459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597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459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0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459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3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460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6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460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9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460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2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461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5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461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8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461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1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461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4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462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7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462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0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462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3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463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6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463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9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463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2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464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5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464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8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464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pic>
        <p:nvPicPr>
          <p:cNvPr id="61" name="Рисунок 60">
            <a:extLst>
              <a:ext uri="{FF2B5EF4-FFF2-40B4-BE49-F238E27FC236}">
                <a16:creationId xmlns:a16="http://schemas.microsoft.com/office/drawing/2014/main" id="{6E73023F-87BC-4A57-81A2-998D24B8E60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90427"/>
          <a:stretch/>
        </p:blipFill>
        <p:spPr>
          <a:xfrm>
            <a:off x="1758562" y="8231736"/>
            <a:ext cx="17611790" cy="20942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21" y="0"/>
                </a:moveTo>
                <a:cubicBezTo>
                  <a:pt x="439" y="0"/>
                  <a:pt x="329" y="0"/>
                  <a:pt x="256" y="46"/>
                </a:cubicBezTo>
                <a:cubicBezTo>
                  <a:pt x="151" y="103"/>
                  <a:pt x="69" y="227"/>
                  <a:pt x="30" y="385"/>
                </a:cubicBezTo>
                <a:cubicBezTo>
                  <a:pt x="0" y="495"/>
                  <a:pt x="0" y="660"/>
                  <a:pt x="0" y="934"/>
                </a:cubicBezTo>
                <a:lnTo>
                  <a:pt x="0" y="20666"/>
                </a:lnTo>
                <a:cubicBezTo>
                  <a:pt x="0" y="20940"/>
                  <a:pt x="0" y="21104"/>
                  <a:pt x="30" y="21213"/>
                </a:cubicBezTo>
                <a:cubicBezTo>
                  <a:pt x="69" y="21371"/>
                  <a:pt x="151" y="21497"/>
                  <a:pt x="256" y="21554"/>
                </a:cubicBezTo>
                <a:cubicBezTo>
                  <a:pt x="329" y="21600"/>
                  <a:pt x="439" y="21600"/>
                  <a:pt x="621" y="21600"/>
                </a:cubicBezTo>
                <a:lnTo>
                  <a:pt x="20988" y="21600"/>
                </a:lnTo>
                <a:cubicBezTo>
                  <a:pt x="21170" y="21600"/>
                  <a:pt x="21279" y="21600"/>
                  <a:pt x="21352" y="21554"/>
                </a:cubicBezTo>
                <a:cubicBezTo>
                  <a:pt x="21457" y="21497"/>
                  <a:pt x="21540" y="21371"/>
                  <a:pt x="21578" y="21213"/>
                </a:cubicBezTo>
                <a:cubicBezTo>
                  <a:pt x="21590" y="21169"/>
                  <a:pt x="21596" y="21107"/>
                  <a:pt x="21600" y="21040"/>
                </a:cubicBezTo>
                <a:lnTo>
                  <a:pt x="21600" y="560"/>
                </a:lnTo>
                <a:cubicBezTo>
                  <a:pt x="21596" y="493"/>
                  <a:pt x="21590" y="430"/>
                  <a:pt x="21578" y="385"/>
                </a:cubicBezTo>
                <a:cubicBezTo>
                  <a:pt x="21540" y="227"/>
                  <a:pt x="21457" y="103"/>
                  <a:pt x="21352" y="46"/>
                </a:cubicBezTo>
                <a:cubicBezTo>
                  <a:pt x="21279" y="0"/>
                  <a:pt x="21170" y="0"/>
                  <a:pt x="20988" y="0"/>
                </a:cubicBezTo>
                <a:lnTo>
                  <a:pt x="621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63" name="Picture 2" descr="Уровни айсберга мем - фото и картинки abrakadabra.fun">
            <a:extLst>
              <a:ext uri="{FF2B5EF4-FFF2-40B4-BE49-F238E27FC236}">
                <a16:creationId xmlns:a16="http://schemas.microsoft.com/office/drawing/2014/main" id="{2D6625AC-A242-4067-ADBE-AE6CC0BC50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" t="39152" r="654" b="49462"/>
          <a:stretch/>
        </p:blipFill>
        <p:spPr bwMode="auto">
          <a:xfrm>
            <a:off x="1758562" y="8231736"/>
            <a:ext cx="21749138" cy="35420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21" y="0"/>
                </a:moveTo>
                <a:cubicBezTo>
                  <a:pt x="439" y="0"/>
                  <a:pt x="329" y="0"/>
                  <a:pt x="256" y="46"/>
                </a:cubicBezTo>
                <a:cubicBezTo>
                  <a:pt x="151" y="103"/>
                  <a:pt x="69" y="227"/>
                  <a:pt x="30" y="385"/>
                </a:cubicBezTo>
                <a:cubicBezTo>
                  <a:pt x="0" y="495"/>
                  <a:pt x="0" y="660"/>
                  <a:pt x="0" y="934"/>
                </a:cubicBezTo>
                <a:lnTo>
                  <a:pt x="0" y="20666"/>
                </a:lnTo>
                <a:cubicBezTo>
                  <a:pt x="0" y="20940"/>
                  <a:pt x="0" y="21104"/>
                  <a:pt x="30" y="21213"/>
                </a:cubicBezTo>
                <a:cubicBezTo>
                  <a:pt x="69" y="21371"/>
                  <a:pt x="151" y="21497"/>
                  <a:pt x="256" y="21554"/>
                </a:cubicBezTo>
                <a:cubicBezTo>
                  <a:pt x="329" y="21600"/>
                  <a:pt x="439" y="21600"/>
                  <a:pt x="621" y="21600"/>
                </a:cubicBezTo>
                <a:lnTo>
                  <a:pt x="20988" y="21600"/>
                </a:lnTo>
                <a:cubicBezTo>
                  <a:pt x="21170" y="21600"/>
                  <a:pt x="21279" y="21600"/>
                  <a:pt x="21352" y="21554"/>
                </a:cubicBezTo>
                <a:cubicBezTo>
                  <a:pt x="21457" y="21497"/>
                  <a:pt x="21540" y="21371"/>
                  <a:pt x="21578" y="21213"/>
                </a:cubicBezTo>
                <a:cubicBezTo>
                  <a:pt x="21590" y="21169"/>
                  <a:pt x="21596" y="21107"/>
                  <a:pt x="21600" y="21040"/>
                </a:cubicBezTo>
                <a:lnTo>
                  <a:pt x="21600" y="560"/>
                </a:lnTo>
                <a:cubicBezTo>
                  <a:pt x="21596" y="493"/>
                  <a:pt x="21590" y="430"/>
                  <a:pt x="21578" y="385"/>
                </a:cubicBezTo>
                <a:cubicBezTo>
                  <a:pt x="21540" y="227"/>
                  <a:pt x="21457" y="103"/>
                  <a:pt x="21352" y="46"/>
                </a:cubicBezTo>
                <a:cubicBezTo>
                  <a:pt x="21279" y="0"/>
                  <a:pt x="21170" y="0"/>
                  <a:pt x="20988" y="0"/>
                </a:cubicBezTo>
                <a:lnTo>
                  <a:pt x="621" y="0"/>
                </a:lnTo>
                <a:close/>
              </a:path>
            </a:pathLst>
          </a:custGeom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9099178"/>
      </p:ext>
    </p:extLst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20906364" cy="129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en-US" dirty="0" err="1"/>
              <a:t>BeanFactory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 err="1"/>
              <a:t>ApplicationContext</a:t>
            </a:r>
            <a:endParaRPr lang="ru-RU" dirty="0"/>
          </a:p>
        </p:txBody>
      </p:sp>
      <p:sp>
        <p:nvSpPr>
          <p:cNvPr id="1013" name="Начало контента"/>
          <p:cNvSpPr txBox="1"/>
          <p:nvPr/>
        </p:nvSpPr>
        <p:spPr>
          <a:xfrm>
            <a:off x="1549400" y="2844981"/>
            <a:ext cx="21498560" cy="8281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BeanFactory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 </a:t>
            </a:r>
            <a:r>
              <a:rPr lang="ru-RU" sz="5400" dirty="0"/>
              <a:t>— это базовый контейнер </a:t>
            </a:r>
            <a:r>
              <a:rPr lang="ru-RU" sz="5400" dirty="0" err="1"/>
              <a:t>Spring</a:t>
            </a:r>
            <a:r>
              <a:rPr lang="ru-RU" sz="5400" dirty="0"/>
              <a:t>.</a:t>
            </a:r>
            <a:r>
              <a:rPr lang="en-US" sz="5400" dirty="0"/>
              <a:t> </a:t>
            </a:r>
            <a:r>
              <a:rPr lang="ru-RU" sz="5400" dirty="0"/>
              <a:t>Он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создает и управляет</a:t>
            </a:r>
            <a:r>
              <a:rPr lang="ru-RU" sz="5400" dirty="0"/>
              <a:t> жизненным циклом </a:t>
            </a:r>
            <a:r>
              <a:rPr lang="ru-RU" sz="5400" dirty="0" err="1"/>
              <a:t>бинов</a:t>
            </a:r>
            <a:r>
              <a:rPr lang="en-US" sz="5400" dirty="0"/>
              <a:t>,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внедряет</a:t>
            </a:r>
            <a:r>
              <a:rPr lang="ru-RU" sz="5400" dirty="0"/>
              <a:t> зависимости.</a:t>
            </a:r>
          </a:p>
          <a:p>
            <a:endParaRPr lang="ru-RU" sz="5400" dirty="0"/>
          </a:p>
          <a:p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ApplicationContext</a:t>
            </a:r>
            <a:r>
              <a:rPr lang="ru-RU" sz="5400" dirty="0"/>
              <a:t> — это расширенный контейнер, надстройка над </a:t>
            </a:r>
            <a:r>
              <a:rPr lang="ru-RU" sz="5400" dirty="0" err="1"/>
              <a:t>BeanFactory</a:t>
            </a:r>
            <a:r>
              <a:rPr lang="ru-RU" sz="5400" dirty="0"/>
              <a:t>. Он добавляет</a:t>
            </a:r>
            <a:r>
              <a:rPr lang="en-US" sz="5400" dirty="0"/>
              <a:t>: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автоматическое подключение 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бинов</a:t>
            </a:r>
            <a:r>
              <a:rPr lang="ru-RU" sz="5400" dirty="0"/>
              <a:t> (@</a:t>
            </a:r>
            <a:r>
              <a:rPr lang="ru-RU" sz="5400" dirty="0" err="1"/>
              <a:t>Autowired</a:t>
            </a:r>
            <a:r>
              <a:rPr lang="ru-RU" sz="5400" dirty="0"/>
              <a:t>,</a:t>
            </a:r>
            <a:r>
              <a:rPr lang="en-US" sz="5400" dirty="0"/>
              <a:t> </a:t>
            </a:r>
            <a:r>
              <a:rPr lang="ru-RU" sz="5400" dirty="0"/>
              <a:t>@</a:t>
            </a:r>
            <a:r>
              <a:rPr lang="ru-RU" sz="5400" dirty="0" err="1"/>
              <a:t>ComponentScan</a:t>
            </a:r>
            <a:r>
              <a:rPr lang="ru-RU" sz="5400" dirty="0"/>
              <a:t>)</a:t>
            </a:r>
            <a:endParaRPr lang="en-US" sz="5400" dirty="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поддержку аннотаций</a:t>
            </a:r>
            <a:r>
              <a:rPr lang="ru-RU" sz="5400" dirty="0"/>
              <a:t> @</a:t>
            </a:r>
            <a:r>
              <a:rPr lang="ru-RU" sz="5400" dirty="0" err="1"/>
              <a:t>PostConstruct</a:t>
            </a:r>
            <a:r>
              <a:rPr lang="ru-RU" sz="5400" dirty="0"/>
              <a:t>, @</a:t>
            </a:r>
            <a:r>
              <a:rPr lang="ru-RU" sz="5400" dirty="0" err="1"/>
              <a:t>PreDestroy</a:t>
            </a:r>
            <a:r>
              <a:rPr lang="ru-RU" sz="5400" dirty="0"/>
              <a:t> и </a:t>
            </a:r>
            <a:r>
              <a:rPr lang="ru-RU" sz="5400" dirty="0" err="1"/>
              <a:t>BeanPostProcessor</a:t>
            </a:r>
            <a:endParaRPr lang="en-US" sz="5400" dirty="0"/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29627363"/>
      </p:ext>
    </p:extLst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1" name="Заголовок"/>
          <p:cNvSpPr txBox="1"/>
          <p:nvPr/>
        </p:nvSpPr>
        <p:spPr>
          <a:xfrm>
            <a:off x="4052737" y="6114969"/>
            <a:ext cx="15787976" cy="1486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70000"/>
              </a:lnSpc>
              <a:defRPr sz="20000" spc="-400">
                <a:gradFill flip="none" rotWithShape="1">
                  <a:gsLst>
                    <a:gs pos="0">
                      <a:srgbClr val="34E234"/>
                    </a:gs>
                    <a:gs pos="19133">
                      <a:srgbClr val="9DCD25"/>
                    </a:gs>
                    <a:gs pos="39357">
                      <a:srgbClr val="F2E800"/>
                    </a:gs>
                    <a:gs pos="58861">
                      <a:srgbClr val="9DCD25"/>
                    </a:gs>
                    <a:gs pos="79839">
                      <a:srgbClr val="00A4E0"/>
                    </a:gs>
                    <a:gs pos="100000">
                      <a:srgbClr val="0086D0"/>
                    </a:gs>
                  </a:gsLst>
                  <a:lin ang="3000000" scaled="0"/>
                </a:gradFill>
                <a:latin typeface="SB Sans Display Light"/>
                <a:ea typeface="SB Sans Display Light"/>
                <a:cs typeface="SB Sans Display Light"/>
                <a:sym typeface="SB Sans Display Light"/>
              </a:defRPr>
            </a:lvl1pPr>
          </a:lstStyle>
          <a:p>
            <a:pPr algn="ctr"/>
            <a:r>
              <a:rPr lang="ru-RU" sz="11600" dirty="0"/>
              <a:t>Жизненный цикл </a:t>
            </a:r>
            <a:r>
              <a:rPr lang="ru-RU" sz="11600" dirty="0" err="1"/>
              <a:t>бинов</a:t>
            </a:r>
            <a:endParaRPr lang="ru-RU" sz="11600" dirty="0"/>
          </a:p>
        </p:txBody>
      </p:sp>
      <p:grpSp>
        <p:nvGrpSpPr>
          <p:cNvPr id="4594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459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597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459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0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459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3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460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6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460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9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460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2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461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5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461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8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461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1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461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4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462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7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462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0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462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3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463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6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463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9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463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2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464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5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464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8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464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60075095"/>
      </p:ext>
    </p:extLst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1" name="Заголовок"/>
          <p:cNvSpPr txBox="1"/>
          <p:nvPr/>
        </p:nvSpPr>
        <p:spPr>
          <a:xfrm>
            <a:off x="1524000" y="5810849"/>
            <a:ext cx="8386911" cy="2094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70000"/>
              </a:lnSpc>
              <a:defRPr sz="20000" spc="-400">
                <a:gradFill flip="none" rotWithShape="1">
                  <a:gsLst>
                    <a:gs pos="0">
                      <a:srgbClr val="34E234"/>
                    </a:gs>
                    <a:gs pos="19133">
                      <a:srgbClr val="9DCD25"/>
                    </a:gs>
                    <a:gs pos="39357">
                      <a:srgbClr val="F2E800"/>
                    </a:gs>
                    <a:gs pos="58861">
                      <a:srgbClr val="9DCD25"/>
                    </a:gs>
                    <a:gs pos="79839">
                      <a:srgbClr val="00A4E0"/>
                    </a:gs>
                    <a:gs pos="100000">
                      <a:srgbClr val="0086D0"/>
                    </a:gs>
                  </a:gsLst>
                  <a:lin ang="3000000" scaled="0"/>
                </a:gradFill>
                <a:latin typeface="SB Sans Display Light"/>
                <a:ea typeface="SB Sans Display Light"/>
                <a:cs typeface="SB Sans Display Light"/>
                <a:sym typeface="SB Sans Display Light"/>
              </a:defRPr>
            </a:lvl1pPr>
          </a:lstStyle>
          <a:p>
            <a:r>
              <a:rPr lang="ru-RU" sz="16700" dirty="0" err="1"/>
              <a:t>Демо</a:t>
            </a:r>
            <a:r>
              <a:rPr lang="ru-RU" sz="16700" dirty="0"/>
              <a:t> </a:t>
            </a:r>
            <a:r>
              <a:rPr lang="en-US" sz="16700" dirty="0"/>
              <a:t>0</a:t>
            </a:r>
            <a:r>
              <a:rPr lang="ru-RU" sz="16700" dirty="0"/>
              <a:t>4</a:t>
            </a:r>
          </a:p>
        </p:txBody>
      </p:sp>
      <p:grpSp>
        <p:nvGrpSpPr>
          <p:cNvPr id="4594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459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597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459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0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459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3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460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6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460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9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460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2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461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5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461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8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461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1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461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4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462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7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462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0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462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3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463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6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463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9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463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2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464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5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464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8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464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6196152"/>
      </p:ext>
    </p:extLst>
  </p:cSld>
  <p:clrMapOvr>
    <a:masterClrMapping/>
  </p:clrMapOvr>
  <p:transition spd="med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20906364" cy="129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en-US" dirty="0" err="1"/>
              <a:t>BeanFactory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 err="1"/>
              <a:t>ApplicationContext</a:t>
            </a:r>
            <a:endParaRPr lang="ru-RU" dirty="0"/>
          </a:p>
        </p:txBody>
      </p:sp>
      <p:sp>
        <p:nvSpPr>
          <p:cNvPr id="1013" name="Начало контента"/>
          <p:cNvSpPr txBox="1"/>
          <p:nvPr/>
        </p:nvSpPr>
        <p:spPr>
          <a:xfrm>
            <a:off x="1549400" y="2844981"/>
            <a:ext cx="21498560" cy="8281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BeanFactory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 </a:t>
            </a:r>
            <a:r>
              <a:rPr lang="ru-RU" sz="5400" dirty="0"/>
              <a:t>— это базовый контейнер </a:t>
            </a:r>
            <a:r>
              <a:rPr lang="ru-RU" sz="5400" dirty="0" err="1"/>
              <a:t>Spring</a:t>
            </a:r>
            <a:r>
              <a:rPr lang="ru-RU" sz="5400" dirty="0"/>
              <a:t>.</a:t>
            </a:r>
            <a:r>
              <a:rPr lang="en-US" sz="5400" dirty="0"/>
              <a:t> </a:t>
            </a:r>
            <a:r>
              <a:rPr lang="ru-RU" sz="5400" dirty="0"/>
              <a:t>Он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создает и управляет</a:t>
            </a:r>
            <a:r>
              <a:rPr lang="ru-RU" sz="5400" dirty="0"/>
              <a:t> жизненным циклом </a:t>
            </a:r>
            <a:r>
              <a:rPr lang="ru-RU" sz="5400" dirty="0" err="1"/>
              <a:t>бинов</a:t>
            </a:r>
            <a:r>
              <a:rPr lang="en-US" sz="5400" dirty="0"/>
              <a:t>,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внедряет</a:t>
            </a:r>
            <a:r>
              <a:rPr lang="ru-RU" sz="5400" dirty="0"/>
              <a:t> зависимости.</a:t>
            </a:r>
          </a:p>
          <a:p>
            <a:endParaRPr lang="ru-RU" sz="5400" dirty="0"/>
          </a:p>
          <a:p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ApplicationContext</a:t>
            </a:r>
            <a:r>
              <a:rPr lang="ru-RU" sz="5400" dirty="0"/>
              <a:t> — это расширенный контейнер, надстройка над </a:t>
            </a:r>
            <a:r>
              <a:rPr lang="ru-RU" sz="5400" dirty="0" err="1"/>
              <a:t>BeanFactory</a:t>
            </a:r>
            <a:r>
              <a:rPr lang="ru-RU" sz="5400" dirty="0"/>
              <a:t>. Он добавляет</a:t>
            </a:r>
            <a:r>
              <a:rPr lang="en-US" sz="5400" dirty="0"/>
              <a:t>: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автоматическое подключение 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бинов</a:t>
            </a:r>
            <a:r>
              <a:rPr lang="ru-RU" sz="5400" dirty="0"/>
              <a:t> (@</a:t>
            </a:r>
            <a:r>
              <a:rPr lang="ru-RU" sz="5400" dirty="0" err="1"/>
              <a:t>Autowired</a:t>
            </a:r>
            <a:r>
              <a:rPr lang="ru-RU" sz="5400" dirty="0"/>
              <a:t>,</a:t>
            </a:r>
            <a:r>
              <a:rPr lang="en-US" sz="5400" dirty="0"/>
              <a:t> </a:t>
            </a:r>
            <a:r>
              <a:rPr lang="ru-RU" sz="5400" dirty="0"/>
              <a:t>@</a:t>
            </a:r>
            <a:r>
              <a:rPr lang="ru-RU" sz="5400" dirty="0" err="1"/>
              <a:t>ComponentScan</a:t>
            </a:r>
            <a:r>
              <a:rPr lang="ru-RU" sz="5400" dirty="0"/>
              <a:t>)</a:t>
            </a:r>
            <a:endParaRPr lang="en-US" sz="5400" dirty="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поддержку аннотаций</a:t>
            </a:r>
            <a:r>
              <a:rPr lang="ru-RU" sz="5400" dirty="0"/>
              <a:t> @</a:t>
            </a:r>
            <a:r>
              <a:rPr lang="ru-RU" sz="5400" dirty="0" err="1"/>
              <a:t>PostConstruct</a:t>
            </a:r>
            <a:r>
              <a:rPr lang="ru-RU" sz="5400" dirty="0"/>
              <a:t>, @</a:t>
            </a:r>
            <a:r>
              <a:rPr lang="ru-RU" sz="5400" dirty="0" err="1"/>
              <a:t>PreDestroy</a:t>
            </a:r>
            <a:r>
              <a:rPr lang="ru-RU" sz="5400" dirty="0"/>
              <a:t> и </a:t>
            </a:r>
            <a:r>
              <a:rPr lang="ru-RU" sz="5400" dirty="0" err="1"/>
              <a:t>BeanPostProcessor</a:t>
            </a:r>
            <a:endParaRPr lang="en-US" sz="5400" dirty="0"/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22131186"/>
      </p:ext>
    </p:extLst>
  </p:cSld>
  <p:clrMapOvr>
    <a:masterClrMapping/>
  </p:clrMapOvr>
  <p:transition spd="med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16100561" cy="129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ru-RU" dirty="0"/>
              <a:t>Жизненный цикл объекта</a:t>
            </a:r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78A90F2-A87D-4EA3-87A3-1C103BC113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808" y="2844981"/>
            <a:ext cx="23081192" cy="10787506"/>
          </a:xfrm>
          <a:prstGeom prst="rect">
            <a:avLst/>
          </a:prstGeom>
        </p:spPr>
      </p:pic>
      <p:sp>
        <p:nvSpPr>
          <p:cNvPr id="64" name="Начало контента">
            <a:extLst>
              <a:ext uri="{FF2B5EF4-FFF2-40B4-BE49-F238E27FC236}">
                <a16:creationId xmlns:a16="http://schemas.microsoft.com/office/drawing/2014/main" id="{0D315615-8C3F-4296-A046-3CE3336D200D}"/>
              </a:ext>
            </a:extLst>
          </p:cNvPr>
          <p:cNvSpPr txBox="1"/>
          <p:nvPr/>
        </p:nvSpPr>
        <p:spPr>
          <a:xfrm>
            <a:off x="1549400" y="2844981"/>
            <a:ext cx="21498560" cy="9950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rPr lang="ru-RU" sz="5400" dirty="0"/>
              <a:t>Для работы с </a:t>
            </a: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@</a:t>
            </a:r>
            <a:r>
              <a:rPr lang="en-US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PostConstruct</a:t>
            </a: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 </a:t>
            </a:r>
            <a:r>
              <a:rPr lang="ru-RU" sz="5400" dirty="0"/>
              <a:t>и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@</a:t>
            </a:r>
            <a:r>
              <a:rPr lang="en-US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PreDestroy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33982422"/>
      </p:ext>
    </p:extLst>
  </p:cSld>
  <p:clrMapOvr>
    <a:masterClrMapping/>
  </p:clrMapOvr>
  <p:transition spd="med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4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459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597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459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0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459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3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460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6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460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9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460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2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461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5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461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8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461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1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461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4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462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7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462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0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462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3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463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6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463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9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463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2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464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5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464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8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464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aphicFrame>
        <p:nvGraphicFramePr>
          <p:cNvPr id="60" name="Таблица 59">
            <a:extLst>
              <a:ext uri="{FF2B5EF4-FFF2-40B4-BE49-F238E27FC236}">
                <a16:creationId xmlns:a16="http://schemas.microsoft.com/office/drawing/2014/main" id="{DE17C902-B0F9-42E2-9000-90C916B88F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3820046"/>
              </p:ext>
            </p:extLst>
          </p:nvPr>
        </p:nvGraphicFramePr>
        <p:xfrm>
          <a:off x="1245730" y="867668"/>
          <a:ext cx="22150874" cy="10827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16570">
                  <a:extLst>
                    <a:ext uri="{9D8B030D-6E8A-4147-A177-3AD203B41FA5}">
                      <a16:colId xmlns:a16="http://schemas.microsoft.com/office/drawing/2014/main" val="450810383"/>
                    </a:ext>
                  </a:extLst>
                </a:gridCol>
                <a:gridCol w="6112329">
                  <a:extLst>
                    <a:ext uri="{9D8B030D-6E8A-4147-A177-3AD203B41FA5}">
                      <a16:colId xmlns:a16="http://schemas.microsoft.com/office/drawing/2014/main" val="1401901608"/>
                    </a:ext>
                  </a:extLst>
                </a:gridCol>
                <a:gridCol w="14121975">
                  <a:extLst>
                    <a:ext uri="{9D8B030D-6E8A-4147-A177-3AD203B41FA5}">
                      <a16:colId xmlns:a16="http://schemas.microsoft.com/office/drawing/2014/main" val="3564009201"/>
                    </a:ext>
                  </a:extLst>
                </a:gridCol>
              </a:tblGrid>
              <a:tr h="108274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Этап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Что происходит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Механизм </a:t>
                      </a:r>
                      <a:r>
                        <a:rPr kumimoji="0" lang="en-US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/ </a:t>
                      </a: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интерфейс </a:t>
                      </a:r>
                      <a:r>
                        <a:rPr kumimoji="0" lang="en-US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/ </a:t>
                      </a: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аннотация</a:t>
                      </a:r>
                      <a:endParaRPr kumimoji="0" lang="en-US" sz="4800" b="0" i="0" u="none" strike="noStrike" cap="none" spc="0" normalizeH="0" baseline="0" dirty="0">
                        <a:ln>
                          <a:noFill/>
                        </a:ln>
                        <a:gradFill flip="none" rotWithShape="1">
                          <a:gsLst>
                            <a:gs pos="0">
                              <a:srgbClr val="34E234"/>
                            </a:gs>
                            <a:gs pos="50594">
                              <a:srgbClr val="22E5A0"/>
                            </a:gs>
                            <a:gs pos="100000">
                              <a:srgbClr val="5AB0FF"/>
                            </a:gs>
                          </a:gsLst>
                          <a:lin ang="0" scaled="0"/>
                        </a:gradFill>
                        <a:effectLst/>
                        <a:uFillTx/>
                        <a:latin typeface="SB Sans Display Semibold"/>
                        <a:ea typeface="SB Sans Display Semibold"/>
                        <a:cs typeface="SB Sans Display Semibold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0950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060778"/>
      </p:ext>
    </p:extLst>
  </p:cSld>
  <p:clrMapOvr>
    <a:masterClrMapping/>
  </p:clrMapOvr>
  <p:transition spd="med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4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459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597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459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0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459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3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460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6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460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9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460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2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461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5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461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8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461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1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461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4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462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7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462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0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462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3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463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6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463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9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463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2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464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5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464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8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464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aphicFrame>
        <p:nvGraphicFramePr>
          <p:cNvPr id="60" name="Таблица 59">
            <a:extLst>
              <a:ext uri="{FF2B5EF4-FFF2-40B4-BE49-F238E27FC236}">
                <a16:creationId xmlns:a16="http://schemas.microsoft.com/office/drawing/2014/main" id="{DE17C902-B0F9-42E2-9000-90C916B88F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6212"/>
              </p:ext>
            </p:extLst>
          </p:nvPr>
        </p:nvGraphicFramePr>
        <p:xfrm>
          <a:off x="1245730" y="867668"/>
          <a:ext cx="22150874" cy="18564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16570">
                  <a:extLst>
                    <a:ext uri="{9D8B030D-6E8A-4147-A177-3AD203B41FA5}">
                      <a16:colId xmlns:a16="http://schemas.microsoft.com/office/drawing/2014/main" val="450810383"/>
                    </a:ext>
                  </a:extLst>
                </a:gridCol>
                <a:gridCol w="6112329">
                  <a:extLst>
                    <a:ext uri="{9D8B030D-6E8A-4147-A177-3AD203B41FA5}">
                      <a16:colId xmlns:a16="http://schemas.microsoft.com/office/drawing/2014/main" val="1401901608"/>
                    </a:ext>
                  </a:extLst>
                </a:gridCol>
                <a:gridCol w="14121975">
                  <a:extLst>
                    <a:ext uri="{9D8B030D-6E8A-4147-A177-3AD203B41FA5}">
                      <a16:colId xmlns:a16="http://schemas.microsoft.com/office/drawing/2014/main" val="3564009201"/>
                    </a:ext>
                  </a:extLst>
                </a:gridCol>
              </a:tblGrid>
              <a:tr h="108274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Этап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Что происходит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Механизм </a:t>
                      </a:r>
                      <a:r>
                        <a:rPr kumimoji="0" lang="en-US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/ </a:t>
                      </a: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интерфейс </a:t>
                      </a:r>
                      <a:r>
                        <a:rPr kumimoji="0" lang="en-US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/ </a:t>
                      </a: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аннотация</a:t>
                      </a:r>
                      <a:endParaRPr kumimoji="0" lang="en-US" sz="4800" b="0" i="0" u="none" strike="noStrike" cap="none" spc="0" normalizeH="0" baseline="0" dirty="0">
                        <a:ln>
                          <a:noFill/>
                        </a:ln>
                        <a:gradFill flip="none" rotWithShape="1">
                          <a:gsLst>
                            <a:gs pos="0">
                              <a:srgbClr val="34E234"/>
                            </a:gs>
                            <a:gs pos="50594">
                              <a:srgbClr val="22E5A0"/>
                            </a:gs>
                            <a:gs pos="100000">
                              <a:srgbClr val="5AB0FF"/>
                            </a:gs>
                          </a:gsLst>
                          <a:lin ang="0" scaled="0"/>
                        </a:gradFill>
                        <a:effectLst/>
                        <a:uFillTx/>
                        <a:latin typeface="SB Sans Display Semibold"/>
                        <a:ea typeface="SB Sans Display Semibold"/>
                        <a:cs typeface="SB Sans Display Semibold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095045"/>
                  </a:ext>
                </a:extLst>
              </a:tr>
              <a:tr h="77374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Создание объекта	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new (</a:t>
                      </a: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конструктор)</a:t>
                      </a:r>
                      <a:endParaRPr kumimoji="0" lang="en-US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626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9053197"/>
      </p:ext>
    </p:extLst>
  </p:cSld>
  <p:clrMapOvr>
    <a:masterClrMapping/>
  </p:clrMapOvr>
  <p:transition spd="med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4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459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597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459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0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459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3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460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6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460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9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460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2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461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5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461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8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461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1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461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4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462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7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462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0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462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3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463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6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463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9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463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2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464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5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464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8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464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aphicFrame>
        <p:nvGraphicFramePr>
          <p:cNvPr id="60" name="Таблица 59">
            <a:extLst>
              <a:ext uri="{FF2B5EF4-FFF2-40B4-BE49-F238E27FC236}">
                <a16:creationId xmlns:a16="http://schemas.microsoft.com/office/drawing/2014/main" id="{DE17C902-B0F9-42E2-9000-90C916B88F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5590379"/>
              </p:ext>
            </p:extLst>
          </p:nvPr>
        </p:nvGraphicFramePr>
        <p:xfrm>
          <a:off x="1245730" y="867668"/>
          <a:ext cx="22150874" cy="27480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16570">
                  <a:extLst>
                    <a:ext uri="{9D8B030D-6E8A-4147-A177-3AD203B41FA5}">
                      <a16:colId xmlns:a16="http://schemas.microsoft.com/office/drawing/2014/main" val="450810383"/>
                    </a:ext>
                  </a:extLst>
                </a:gridCol>
                <a:gridCol w="6112329">
                  <a:extLst>
                    <a:ext uri="{9D8B030D-6E8A-4147-A177-3AD203B41FA5}">
                      <a16:colId xmlns:a16="http://schemas.microsoft.com/office/drawing/2014/main" val="1401901608"/>
                    </a:ext>
                  </a:extLst>
                </a:gridCol>
                <a:gridCol w="14121975">
                  <a:extLst>
                    <a:ext uri="{9D8B030D-6E8A-4147-A177-3AD203B41FA5}">
                      <a16:colId xmlns:a16="http://schemas.microsoft.com/office/drawing/2014/main" val="3564009201"/>
                    </a:ext>
                  </a:extLst>
                </a:gridCol>
              </a:tblGrid>
              <a:tr h="108274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Этап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Что происходит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Механизм </a:t>
                      </a:r>
                      <a:r>
                        <a:rPr kumimoji="0" lang="en-US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/ </a:t>
                      </a: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интерфейс </a:t>
                      </a:r>
                      <a:r>
                        <a:rPr kumimoji="0" lang="en-US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/ </a:t>
                      </a: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аннотация</a:t>
                      </a:r>
                      <a:endParaRPr kumimoji="0" lang="en-US" sz="4800" b="0" i="0" u="none" strike="noStrike" cap="none" spc="0" normalizeH="0" baseline="0" dirty="0">
                        <a:ln>
                          <a:noFill/>
                        </a:ln>
                        <a:gradFill flip="none" rotWithShape="1">
                          <a:gsLst>
                            <a:gs pos="0">
                              <a:srgbClr val="34E234"/>
                            </a:gs>
                            <a:gs pos="50594">
                              <a:srgbClr val="22E5A0"/>
                            </a:gs>
                            <a:gs pos="100000">
                              <a:srgbClr val="5AB0FF"/>
                            </a:gs>
                          </a:gsLst>
                          <a:lin ang="0" scaled="0"/>
                        </a:gradFill>
                        <a:effectLst/>
                        <a:uFillTx/>
                        <a:latin typeface="SB Sans Display Semibold"/>
                        <a:ea typeface="SB Sans Display Semibold"/>
                        <a:cs typeface="SB Sans Display Semibold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095045"/>
                  </a:ext>
                </a:extLst>
              </a:tr>
              <a:tr h="77374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Создание объекта	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new (</a:t>
                      </a: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конструктор)</a:t>
                      </a:r>
                      <a:endParaRPr kumimoji="0" lang="en-US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626919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Установка имени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BeanNameAware.setBeanName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()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0885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7500137"/>
      </p:ext>
    </p:extLst>
  </p:cSld>
  <p:clrMapOvr>
    <a:masterClrMapping/>
  </p:clrMapOvr>
  <p:transition spd="med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4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459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597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459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0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459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3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460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6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460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9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460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2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461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5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461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8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461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1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461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4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462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7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462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0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462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3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463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6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463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9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463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2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464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5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464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8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464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aphicFrame>
        <p:nvGraphicFramePr>
          <p:cNvPr id="60" name="Таблица 59">
            <a:extLst>
              <a:ext uri="{FF2B5EF4-FFF2-40B4-BE49-F238E27FC236}">
                <a16:creationId xmlns:a16="http://schemas.microsoft.com/office/drawing/2014/main" id="{DE17C902-B0F9-42E2-9000-90C916B88F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8545744"/>
              </p:ext>
            </p:extLst>
          </p:nvPr>
        </p:nvGraphicFramePr>
        <p:xfrm>
          <a:off x="1245730" y="867668"/>
          <a:ext cx="22150874" cy="37614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16570">
                  <a:extLst>
                    <a:ext uri="{9D8B030D-6E8A-4147-A177-3AD203B41FA5}">
                      <a16:colId xmlns:a16="http://schemas.microsoft.com/office/drawing/2014/main" val="450810383"/>
                    </a:ext>
                  </a:extLst>
                </a:gridCol>
                <a:gridCol w="6112329">
                  <a:extLst>
                    <a:ext uri="{9D8B030D-6E8A-4147-A177-3AD203B41FA5}">
                      <a16:colId xmlns:a16="http://schemas.microsoft.com/office/drawing/2014/main" val="1401901608"/>
                    </a:ext>
                  </a:extLst>
                </a:gridCol>
                <a:gridCol w="14121975">
                  <a:extLst>
                    <a:ext uri="{9D8B030D-6E8A-4147-A177-3AD203B41FA5}">
                      <a16:colId xmlns:a16="http://schemas.microsoft.com/office/drawing/2014/main" val="3564009201"/>
                    </a:ext>
                  </a:extLst>
                </a:gridCol>
              </a:tblGrid>
              <a:tr h="108274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Этап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Что происходит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Механизм </a:t>
                      </a:r>
                      <a:r>
                        <a:rPr kumimoji="0" lang="en-US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/ </a:t>
                      </a: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интерфейс </a:t>
                      </a:r>
                      <a:r>
                        <a:rPr kumimoji="0" lang="en-US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/ </a:t>
                      </a: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аннотация</a:t>
                      </a:r>
                      <a:endParaRPr kumimoji="0" lang="en-US" sz="4800" b="0" i="0" u="none" strike="noStrike" cap="none" spc="0" normalizeH="0" baseline="0" dirty="0">
                        <a:ln>
                          <a:noFill/>
                        </a:ln>
                        <a:gradFill flip="none" rotWithShape="1">
                          <a:gsLst>
                            <a:gs pos="0">
                              <a:srgbClr val="34E234"/>
                            </a:gs>
                            <a:gs pos="50594">
                              <a:srgbClr val="22E5A0"/>
                            </a:gs>
                            <a:gs pos="100000">
                              <a:srgbClr val="5AB0FF"/>
                            </a:gs>
                          </a:gsLst>
                          <a:lin ang="0" scaled="0"/>
                        </a:gradFill>
                        <a:effectLst/>
                        <a:uFillTx/>
                        <a:latin typeface="SB Sans Display Semibold"/>
                        <a:ea typeface="SB Sans Display Semibold"/>
                        <a:cs typeface="SB Sans Display Semibold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095045"/>
                  </a:ext>
                </a:extLst>
              </a:tr>
              <a:tr h="77374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Создание объекта	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new (</a:t>
                      </a: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конструктор)</a:t>
                      </a:r>
                      <a:endParaRPr kumimoji="0" lang="en-US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626919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Установка имени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BeanNameAware.setBeanName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()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088531"/>
                  </a:ext>
                </a:extLst>
              </a:tr>
              <a:tr h="10134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Доступ к </a:t>
                      </a: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BeanFactory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BeanFactoryAware.setBeanFactory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()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021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2948530"/>
      </p:ext>
    </p:extLst>
  </p:cSld>
  <p:clrMapOvr>
    <a:masterClrMapping/>
  </p:clrMapOvr>
  <p:transition spd="med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4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459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597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459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0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459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3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460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6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460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9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460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2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461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5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461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8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461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1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461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4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462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7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462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0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462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3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463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6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463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9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463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2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464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5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464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8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464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aphicFrame>
        <p:nvGraphicFramePr>
          <p:cNvPr id="60" name="Таблица 59">
            <a:extLst>
              <a:ext uri="{FF2B5EF4-FFF2-40B4-BE49-F238E27FC236}">
                <a16:creationId xmlns:a16="http://schemas.microsoft.com/office/drawing/2014/main" id="{DE17C902-B0F9-42E2-9000-90C916B88F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569716"/>
              </p:ext>
            </p:extLst>
          </p:nvPr>
        </p:nvGraphicFramePr>
        <p:xfrm>
          <a:off x="1245730" y="867668"/>
          <a:ext cx="22150874" cy="45234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16570">
                  <a:extLst>
                    <a:ext uri="{9D8B030D-6E8A-4147-A177-3AD203B41FA5}">
                      <a16:colId xmlns:a16="http://schemas.microsoft.com/office/drawing/2014/main" val="450810383"/>
                    </a:ext>
                  </a:extLst>
                </a:gridCol>
                <a:gridCol w="6112329">
                  <a:extLst>
                    <a:ext uri="{9D8B030D-6E8A-4147-A177-3AD203B41FA5}">
                      <a16:colId xmlns:a16="http://schemas.microsoft.com/office/drawing/2014/main" val="1401901608"/>
                    </a:ext>
                  </a:extLst>
                </a:gridCol>
                <a:gridCol w="14121975">
                  <a:extLst>
                    <a:ext uri="{9D8B030D-6E8A-4147-A177-3AD203B41FA5}">
                      <a16:colId xmlns:a16="http://schemas.microsoft.com/office/drawing/2014/main" val="3564009201"/>
                    </a:ext>
                  </a:extLst>
                </a:gridCol>
              </a:tblGrid>
              <a:tr h="108274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Этап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Что происходит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Механизм </a:t>
                      </a:r>
                      <a:r>
                        <a:rPr kumimoji="0" lang="en-US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/ </a:t>
                      </a: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интерфейс </a:t>
                      </a:r>
                      <a:r>
                        <a:rPr kumimoji="0" lang="en-US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/ </a:t>
                      </a: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аннотация</a:t>
                      </a:r>
                      <a:endParaRPr kumimoji="0" lang="en-US" sz="4800" b="0" i="0" u="none" strike="noStrike" cap="none" spc="0" normalizeH="0" baseline="0" dirty="0">
                        <a:ln>
                          <a:noFill/>
                        </a:ln>
                        <a:gradFill flip="none" rotWithShape="1">
                          <a:gsLst>
                            <a:gs pos="0">
                              <a:srgbClr val="34E234"/>
                            </a:gs>
                            <a:gs pos="50594">
                              <a:srgbClr val="22E5A0"/>
                            </a:gs>
                            <a:gs pos="100000">
                              <a:srgbClr val="5AB0FF"/>
                            </a:gs>
                          </a:gsLst>
                          <a:lin ang="0" scaled="0"/>
                        </a:gradFill>
                        <a:effectLst/>
                        <a:uFillTx/>
                        <a:latin typeface="SB Sans Display Semibold"/>
                        <a:ea typeface="SB Sans Display Semibold"/>
                        <a:cs typeface="SB Sans Display Semibold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095045"/>
                  </a:ext>
                </a:extLst>
              </a:tr>
              <a:tr h="77374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Создание объекта	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new (</a:t>
                      </a: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конструктор)</a:t>
                      </a:r>
                      <a:endParaRPr kumimoji="0" lang="en-US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626919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Установка имени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BeanNameAware.setBeanName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()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088531"/>
                  </a:ext>
                </a:extLst>
              </a:tr>
              <a:tr h="10134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Доступ к </a:t>
                      </a: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BeanFactory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BeanFactoryAware.setBeanFactory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()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021159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Доступ к контексту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ApplicationContextAware.setApplicationContext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()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883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0961479"/>
      </p:ext>
    </p:extLst>
  </p:cSld>
  <p:clrMapOvr>
    <a:masterClrMapping/>
  </p:clrMapOvr>
  <p:transition spd="med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4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459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597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459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0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459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3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460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6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460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9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460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2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461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5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461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8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461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1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461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4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462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7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462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0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462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3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463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6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463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9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463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2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464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5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464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8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464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aphicFrame>
        <p:nvGraphicFramePr>
          <p:cNvPr id="60" name="Таблица 59">
            <a:extLst>
              <a:ext uri="{FF2B5EF4-FFF2-40B4-BE49-F238E27FC236}">
                <a16:creationId xmlns:a16="http://schemas.microsoft.com/office/drawing/2014/main" id="{DE17C902-B0F9-42E2-9000-90C916B88F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1323276"/>
              </p:ext>
            </p:extLst>
          </p:nvPr>
        </p:nvGraphicFramePr>
        <p:xfrm>
          <a:off x="1245730" y="867668"/>
          <a:ext cx="22150874" cy="59560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16570">
                  <a:extLst>
                    <a:ext uri="{9D8B030D-6E8A-4147-A177-3AD203B41FA5}">
                      <a16:colId xmlns:a16="http://schemas.microsoft.com/office/drawing/2014/main" val="450810383"/>
                    </a:ext>
                  </a:extLst>
                </a:gridCol>
                <a:gridCol w="6112329">
                  <a:extLst>
                    <a:ext uri="{9D8B030D-6E8A-4147-A177-3AD203B41FA5}">
                      <a16:colId xmlns:a16="http://schemas.microsoft.com/office/drawing/2014/main" val="1401901608"/>
                    </a:ext>
                  </a:extLst>
                </a:gridCol>
                <a:gridCol w="14121975">
                  <a:extLst>
                    <a:ext uri="{9D8B030D-6E8A-4147-A177-3AD203B41FA5}">
                      <a16:colId xmlns:a16="http://schemas.microsoft.com/office/drawing/2014/main" val="3564009201"/>
                    </a:ext>
                  </a:extLst>
                </a:gridCol>
              </a:tblGrid>
              <a:tr h="108274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Этап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Что происходит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Механизм </a:t>
                      </a:r>
                      <a:r>
                        <a:rPr kumimoji="0" lang="en-US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/ </a:t>
                      </a: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интерфейс </a:t>
                      </a:r>
                      <a:r>
                        <a:rPr kumimoji="0" lang="en-US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/ </a:t>
                      </a: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аннотация</a:t>
                      </a:r>
                      <a:endParaRPr kumimoji="0" lang="en-US" sz="4800" b="0" i="0" u="none" strike="noStrike" cap="none" spc="0" normalizeH="0" baseline="0" dirty="0">
                        <a:ln>
                          <a:noFill/>
                        </a:ln>
                        <a:gradFill flip="none" rotWithShape="1">
                          <a:gsLst>
                            <a:gs pos="0">
                              <a:srgbClr val="34E234"/>
                            </a:gs>
                            <a:gs pos="50594">
                              <a:srgbClr val="22E5A0"/>
                            </a:gs>
                            <a:gs pos="100000">
                              <a:srgbClr val="5AB0FF"/>
                            </a:gs>
                          </a:gsLst>
                          <a:lin ang="0" scaled="0"/>
                        </a:gradFill>
                        <a:effectLst/>
                        <a:uFillTx/>
                        <a:latin typeface="SB Sans Display Semibold"/>
                        <a:ea typeface="SB Sans Display Semibold"/>
                        <a:cs typeface="SB Sans Display Semibold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095045"/>
                  </a:ext>
                </a:extLst>
              </a:tr>
              <a:tr h="77374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Создание объекта	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new (</a:t>
                      </a: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конструктор)</a:t>
                      </a:r>
                      <a:endParaRPr kumimoji="0" lang="en-US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626919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Установка имени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BeanNameAware.setBeanName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()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088531"/>
                  </a:ext>
                </a:extLst>
              </a:tr>
              <a:tr h="10134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Доступ к </a:t>
                      </a: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BeanFactory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BeanFactoryAware.setBeanFactory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()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021159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Доступ к контексту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ApplicationContextAware.setApplicationContext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()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883393"/>
                  </a:ext>
                </a:extLst>
              </a:tr>
              <a:tr h="98679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Внедрение зависимостей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@</a:t>
                      </a: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Autowired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, </a:t>
                      </a: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конструктор, сеттер или поле</a:t>
                      </a:r>
                      <a:endParaRPr kumimoji="0" lang="en-US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8488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52264"/>
      </p:ext>
    </p:extLst>
  </p:cSld>
  <p:clrMapOvr>
    <a:masterClrMapping/>
  </p:clrMapOvr>
  <p:transition spd="med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4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459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597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459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0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459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3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460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6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460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9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460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2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461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5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461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8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461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1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461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4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462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7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462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0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462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3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463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6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463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9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463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2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464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5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464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8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464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aphicFrame>
        <p:nvGraphicFramePr>
          <p:cNvPr id="60" name="Таблица 59">
            <a:extLst>
              <a:ext uri="{FF2B5EF4-FFF2-40B4-BE49-F238E27FC236}">
                <a16:creationId xmlns:a16="http://schemas.microsoft.com/office/drawing/2014/main" id="{DE17C902-B0F9-42E2-9000-90C916B88F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6453924"/>
              </p:ext>
            </p:extLst>
          </p:nvPr>
        </p:nvGraphicFramePr>
        <p:xfrm>
          <a:off x="1245730" y="867668"/>
          <a:ext cx="22150874" cy="74179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16570">
                  <a:extLst>
                    <a:ext uri="{9D8B030D-6E8A-4147-A177-3AD203B41FA5}">
                      <a16:colId xmlns:a16="http://schemas.microsoft.com/office/drawing/2014/main" val="450810383"/>
                    </a:ext>
                  </a:extLst>
                </a:gridCol>
                <a:gridCol w="6112329">
                  <a:extLst>
                    <a:ext uri="{9D8B030D-6E8A-4147-A177-3AD203B41FA5}">
                      <a16:colId xmlns:a16="http://schemas.microsoft.com/office/drawing/2014/main" val="1401901608"/>
                    </a:ext>
                  </a:extLst>
                </a:gridCol>
                <a:gridCol w="14121975">
                  <a:extLst>
                    <a:ext uri="{9D8B030D-6E8A-4147-A177-3AD203B41FA5}">
                      <a16:colId xmlns:a16="http://schemas.microsoft.com/office/drawing/2014/main" val="3564009201"/>
                    </a:ext>
                  </a:extLst>
                </a:gridCol>
              </a:tblGrid>
              <a:tr h="108274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Этап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Что происходит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Механизм </a:t>
                      </a:r>
                      <a:r>
                        <a:rPr kumimoji="0" lang="en-US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/ </a:t>
                      </a: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интерфейс </a:t>
                      </a:r>
                      <a:r>
                        <a:rPr kumimoji="0" lang="en-US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/ </a:t>
                      </a: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аннотация</a:t>
                      </a:r>
                      <a:endParaRPr kumimoji="0" lang="en-US" sz="4800" b="0" i="0" u="none" strike="noStrike" cap="none" spc="0" normalizeH="0" baseline="0" dirty="0">
                        <a:ln>
                          <a:noFill/>
                        </a:ln>
                        <a:gradFill flip="none" rotWithShape="1">
                          <a:gsLst>
                            <a:gs pos="0">
                              <a:srgbClr val="34E234"/>
                            </a:gs>
                            <a:gs pos="50594">
                              <a:srgbClr val="22E5A0"/>
                            </a:gs>
                            <a:gs pos="100000">
                              <a:srgbClr val="5AB0FF"/>
                            </a:gs>
                          </a:gsLst>
                          <a:lin ang="0" scaled="0"/>
                        </a:gradFill>
                        <a:effectLst/>
                        <a:uFillTx/>
                        <a:latin typeface="SB Sans Display Semibold"/>
                        <a:ea typeface="SB Sans Display Semibold"/>
                        <a:cs typeface="SB Sans Display Semibold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095045"/>
                  </a:ext>
                </a:extLst>
              </a:tr>
              <a:tr h="77374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Создание объекта	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new (</a:t>
                      </a: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конструктор)</a:t>
                      </a:r>
                      <a:endParaRPr kumimoji="0" lang="en-US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626919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Установка имени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BeanNameAware.setBeanName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()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088531"/>
                  </a:ext>
                </a:extLst>
              </a:tr>
              <a:tr h="10134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Доступ к </a:t>
                      </a: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BeanFactory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BeanFactoryAware.setBeanFactory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()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021159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Доступ к контексту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ApplicationContextAware.setApplicationContext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()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883393"/>
                  </a:ext>
                </a:extLst>
              </a:tr>
              <a:tr h="98679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Внедрение зависимостей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@Autowired, </a:t>
                      </a:r>
                      <a:r>
                        <a:rPr kumimoji="0" lang="ru-RU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конструктор, сеттер или поле</a:t>
                      </a:r>
                      <a:endParaRPr kumimoji="0" lang="en-US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8488252"/>
                  </a:ext>
                </a:extLst>
              </a:tr>
              <a:tr h="1461874">
                <a:tc>
                  <a:txBody>
                    <a:bodyPr/>
                    <a:lstStyle/>
                    <a:p>
                      <a:pPr marL="0" marR="0" indent="0" algn="l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6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Преинициализация</a:t>
                      </a: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 </a:t>
                      </a: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beanPostProcessor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BeanPostProcessor.postProcessBeforeInitialization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()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0277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7980934"/>
      </p:ext>
    </p:extLst>
  </p:cSld>
  <p:clrMapOvr>
    <a:masterClrMapping/>
  </p:clrMapOvr>
  <p:transition spd="med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4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459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597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459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0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459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3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460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6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460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9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460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2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461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5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461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8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461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1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461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4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462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7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462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0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462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3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463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6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463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9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463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2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464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5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464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8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464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aphicFrame>
        <p:nvGraphicFramePr>
          <p:cNvPr id="60" name="Таблица 59">
            <a:extLst>
              <a:ext uri="{FF2B5EF4-FFF2-40B4-BE49-F238E27FC236}">
                <a16:creationId xmlns:a16="http://schemas.microsoft.com/office/drawing/2014/main" id="{DE17C902-B0F9-42E2-9000-90C916B88F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9070046"/>
              </p:ext>
            </p:extLst>
          </p:nvPr>
        </p:nvGraphicFramePr>
        <p:xfrm>
          <a:off x="1245730" y="867668"/>
          <a:ext cx="22150874" cy="81799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16570">
                  <a:extLst>
                    <a:ext uri="{9D8B030D-6E8A-4147-A177-3AD203B41FA5}">
                      <a16:colId xmlns:a16="http://schemas.microsoft.com/office/drawing/2014/main" val="450810383"/>
                    </a:ext>
                  </a:extLst>
                </a:gridCol>
                <a:gridCol w="6112329">
                  <a:extLst>
                    <a:ext uri="{9D8B030D-6E8A-4147-A177-3AD203B41FA5}">
                      <a16:colId xmlns:a16="http://schemas.microsoft.com/office/drawing/2014/main" val="1401901608"/>
                    </a:ext>
                  </a:extLst>
                </a:gridCol>
                <a:gridCol w="14121975">
                  <a:extLst>
                    <a:ext uri="{9D8B030D-6E8A-4147-A177-3AD203B41FA5}">
                      <a16:colId xmlns:a16="http://schemas.microsoft.com/office/drawing/2014/main" val="3564009201"/>
                    </a:ext>
                  </a:extLst>
                </a:gridCol>
              </a:tblGrid>
              <a:tr h="108274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Этап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Что происходит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Механизм </a:t>
                      </a:r>
                      <a:r>
                        <a:rPr kumimoji="0" lang="en-US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/ </a:t>
                      </a: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интерфейс </a:t>
                      </a:r>
                      <a:r>
                        <a:rPr kumimoji="0" lang="en-US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/ </a:t>
                      </a: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аннотация</a:t>
                      </a:r>
                      <a:endParaRPr kumimoji="0" lang="en-US" sz="4800" b="0" i="0" u="none" strike="noStrike" cap="none" spc="0" normalizeH="0" baseline="0" dirty="0">
                        <a:ln>
                          <a:noFill/>
                        </a:ln>
                        <a:gradFill flip="none" rotWithShape="1">
                          <a:gsLst>
                            <a:gs pos="0">
                              <a:srgbClr val="34E234"/>
                            </a:gs>
                            <a:gs pos="50594">
                              <a:srgbClr val="22E5A0"/>
                            </a:gs>
                            <a:gs pos="100000">
                              <a:srgbClr val="5AB0FF"/>
                            </a:gs>
                          </a:gsLst>
                          <a:lin ang="0" scaled="0"/>
                        </a:gradFill>
                        <a:effectLst/>
                        <a:uFillTx/>
                        <a:latin typeface="SB Sans Display Semibold"/>
                        <a:ea typeface="SB Sans Display Semibold"/>
                        <a:cs typeface="SB Sans Display Semibold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095045"/>
                  </a:ext>
                </a:extLst>
              </a:tr>
              <a:tr h="77374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Создание объекта	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new (</a:t>
                      </a: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конструктор)</a:t>
                      </a:r>
                      <a:endParaRPr kumimoji="0" lang="en-US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626919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Установка имени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BeanNameAware.setBeanName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()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088531"/>
                  </a:ext>
                </a:extLst>
              </a:tr>
              <a:tr h="10134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Доступ к </a:t>
                      </a: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BeanFactory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BeanFactoryAware.setBeanFactory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()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021159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Доступ к контексту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ApplicationContextAware.setApplicationContext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()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883393"/>
                  </a:ext>
                </a:extLst>
              </a:tr>
              <a:tr h="98679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Внедрение зависимостей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@Autowired, </a:t>
                      </a:r>
                      <a:r>
                        <a:rPr kumimoji="0" lang="ru-RU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конструктор, сеттер или поле</a:t>
                      </a:r>
                      <a:endParaRPr kumimoji="0" lang="en-US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8488252"/>
                  </a:ext>
                </a:extLst>
              </a:tr>
              <a:tr h="1461874">
                <a:tc>
                  <a:txBody>
                    <a:bodyPr/>
                    <a:lstStyle/>
                    <a:p>
                      <a:pPr marL="0" marR="0" indent="0" algn="l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6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Преинициализация</a:t>
                      </a: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 </a:t>
                      </a: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beanPostProcessor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BeanPostProcessor.postProcessBeforeInitialization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()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0277326"/>
                  </a:ext>
                </a:extLst>
              </a:tr>
              <a:tr h="509816">
                <a:tc>
                  <a:txBody>
                    <a:bodyPr/>
                    <a:lstStyle/>
                    <a:p>
                      <a:pPr marL="0" marR="0" indent="0" algn="l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PostConstruct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-</a:t>
                      </a: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метод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@</a:t>
                      </a: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PostConstruct</a:t>
                      </a:r>
                      <a:endParaRPr kumimoji="0" lang="en-US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0984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9858754"/>
      </p:ext>
    </p:extLst>
  </p:cSld>
  <p:clrMapOvr>
    <a:masterClrMapping/>
  </p:clrMapOvr>
  <p:transition spd="med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4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459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597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459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0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459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3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460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6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460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9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460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2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461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5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461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8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461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1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461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4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462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7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462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0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462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3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463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6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463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9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463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2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464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5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464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8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464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aphicFrame>
        <p:nvGraphicFramePr>
          <p:cNvPr id="60" name="Таблица 59">
            <a:extLst>
              <a:ext uri="{FF2B5EF4-FFF2-40B4-BE49-F238E27FC236}">
                <a16:creationId xmlns:a16="http://schemas.microsoft.com/office/drawing/2014/main" id="{DE17C902-B0F9-42E2-9000-90C916B88F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071152"/>
              </p:ext>
            </p:extLst>
          </p:nvPr>
        </p:nvGraphicFramePr>
        <p:xfrm>
          <a:off x="1245730" y="867668"/>
          <a:ext cx="22150874" cy="96124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16570">
                  <a:extLst>
                    <a:ext uri="{9D8B030D-6E8A-4147-A177-3AD203B41FA5}">
                      <a16:colId xmlns:a16="http://schemas.microsoft.com/office/drawing/2014/main" val="450810383"/>
                    </a:ext>
                  </a:extLst>
                </a:gridCol>
                <a:gridCol w="6112329">
                  <a:extLst>
                    <a:ext uri="{9D8B030D-6E8A-4147-A177-3AD203B41FA5}">
                      <a16:colId xmlns:a16="http://schemas.microsoft.com/office/drawing/2014/main" val="1401901608"/>
                    </a:ext>
                  </a:extLst>
                </a:gridCol>
                <a:gridCol w="14121975">
                  <a:extLst>
                    <a:ext uri="{9D8B030D-6E8A-4147-A177-3AD203B41FA5}">
                      <a16:colId xmlns:a16="http://schemas.microsoft.com/office/drawing/2014/main" val="3564009201"/>
                    </a:ext>
                  </a:extLst>
                </a:gridCol>
              </a:tblGrid>
              <a:tr h="108274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Этап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Что происходит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Механизм </a:t>
                      </a:r>
                      <a:r>
                        <a:rPr kumimoji="0" lang="en-US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/ </a:t>
                      </a: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интерфейс </a:t>
                      </a:r>
                      <a:r>
                        <a:rPr kumimoji="0" lang="en-US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/ </a:t>
                      </a: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аннотация</a:t>
                      </a:r>
                      <a:endParaRPr kumimoji="0" lang="en-US" sz="4800" b="0" i="0" u="none" strike="noStrike" cap="none" spc="0" normalizeH="0" baseline="0" dirty="0">
                        <a:ln>
                          <a:noFill/>
                        </a:ln>
                        <a:gradFill flip="none" rotWithShape="1">
                          <a:gsLst>
                            <a:gs pos="0">
                              <a:srgbClr val="34E234"/>
                            </a:gs>
                            <a:gs pos="50594">
                              <a:srgbClr val="22E5A0"/>
                            </a:gs>
                            <a:gs pos="100000">
                              <a:srgbClr val="5AB0FF"/>
                            </a:gs>
                          </a:gsLst>
                          <a:lin ang="0" scaled="0"/>
                        </a:gradFill>
                        <a:effectLst/>
                        <a:uFillTx/>
                        <a:latin typeface="SB Sans Display Semibold"/>
                        <a:ea typeface="SB Sans Display Semibold"/>
                        <a:cs typeface="SB Sans Display Semibold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095045"/>
                  </a:ext>
                </a:extLst>
              </a:tr>
              <a:tr h="77374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Создание объекта	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new (</a:t>
                      </a: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конструктор)</a:t>
                      </a:r>
                      <a:endParaRPr kumimoji="0" lang="en-US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626919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Установка имени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BeanNameAware.setBeanName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()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088531"/>
                  </a:ext>
                </a:extLst>
              </a:tr>
              <a:tr h="10134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Доступ к </a:t>
                      </a: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BeanFactory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BeanFactoryAware.setBeanFactory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()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021159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Доступ к контексту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ApplicationContextAware.setApplicationContext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()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883393"/>
                  </a:ext>
                </a:extLst>
              </a:tr>
              <a:tr h="98679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Внедрение зависимостей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@Autowired, </a:t>
                      </a:r>
                      <a:r>
                        <a:rPr kumimoji="0" lang="ru-RU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конструктор, сеттер или поле</a:t>
                      </a:r>
                      <a:endParaRPr kumimoji="0" lang="en-US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8488252"/>
                  </a:ext>
                </a:extLst>
              </a:tr>
              <a:tr h="1461874">
                <a:tc>
                  <a:txBody>
                    <a:bodyPr/>
                    <a:lstStyle/>
                    <a:p>
                      <a:pPr marL="0" marR="0" indent="0" algn="l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6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Преинициализация</a:t>
                      </a: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 </a:t>
                      </a: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beanPostProcessor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BeanPostProcessor.postProcessBeforeInitialization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()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0277326"/>
                  </a:ext>
                </a:extLst>
              </a:tr>
              <a:tr h="509816">
                <a:tc>
                  <a:txBody>
                    <a:bodyPr/>
                    <a:lstStyle/>
                    <a:p>
                      <a:pPr marL="0" marR="0" indent="0" algn="l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PostConstruct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-</a:t>
                      </a: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метод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@</a:t>
                      </a: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PostConstruct</a:t>
                      </a:r>
                      <a:endParaRPr kumimoji="0" lang="en-US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0984849"/>
                  </a:ext>
                </a:extLst>
              </a:tr>
              <a:tr h="1253412">
                <a:tc>
                  <a:txBody>
                    <a:bodyPr/>
                    <a:lstStyle/>
                    <a:p>
                      <a:pPr marL="0" marR="0" indent="0" algn="l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Постинициализация</a:t>
                      </a: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 </a:t>
                      </a: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beanPostProcessor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BeanPostProcessor.postProcessAfterInitialization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()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63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0009914"/>
      </p:ext>
    </p:extLst>
  </p:cSld>
  <p:clrMapOvr>
    <a:masterClrMapping/>
  </p:clrMapOvr>
  <p:transition spd="med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4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459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597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459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0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459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3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460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6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460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9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460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2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461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5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461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8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461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1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461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4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462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7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462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0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462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3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463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6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463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9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463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2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464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5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464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8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464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aphicFrame>
        <p:nvGraphicFramePr>
          <p:cNvPr id="60" name="Таблица 59">
            <a:extLst>
              <a:ext uri="{FF2B5EF4-FFF2-40B4-BE49-F238E27FC236}">
                <a16:creationId xmlns:a16="http://schemas.microsoft.com/office/drawing/2014/main" id="{DE17C902-B0F9-42E2-9000-90C916B88F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8718387"/>
              </p:ext>
            </p:extLst>
          </p:nvPr>
        </p:nvGraphicFramePr>
        <p:xfrm>
          <a:off x="1245730" y="867668"/>
          <a:ext cx="22150874" cy="110450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16570">
                  <a:extLst>
                    <a:ext uri="{9D8B030D-6E8A-4147-A177-3AD203B41FA5}">
                      <a16:colId xmlns:a16="http://schemas.microsoft.com/office/drawing/2014/main" val="450810383"/>
                    </a:ext>
                  </a:extLst>
                </a:gridCol>
                <a:gridCol w="6112329">
                  <a:extLst>
                    <a:ext uri="{9D8B030D-6E8A-4147-A177-3AD203B41FA5}">
                      <a16:colId xmlns:a16="http://schemas.microsoft.com/office/drawing/2014/main" val="1401901608"/>
                    </a:ext>
                  </a:extLst>
                </a:gridCol>
                <a:gridCol w="14121975">
                  <a:extLst>
                    <a:ext uri="{9D8B030D-6E8A-4147-A177-3AD203B41FA5}">
                      <a16:colId xmlns:a16="http://schemas.microsoft.com/office/drawing/2014/main" val="3564009201"/>
                    </a:ext>
                  </a:extLst>
                </a:gridCol>
              </a:tblGrid>
              <a:tr h="108274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Этап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Что происходит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Механизм </a:t>
                      </a:r>
                      <a:r>
                        <a:rPr kumimoji="0" lang="en-US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/ </a:t>
                      </a: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интерфейс </a:t>
                      </a:r>
                      <a:r>
                        <a:rPr kumimoji="0" lang="en-US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/ </a:t>
                      </a: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аннотация</a:t>
                      </a:r>
                      <a:endParaRPr kumimoji="0" lang="en-US" sz="4800" b="0" i="0" u="none" strike="noStrike" cap="none" spc="0" normalizeH="0" baseline="0" dirty="0">
                        <a:ln>
                          <a:noFill/>
                        </a:ln>
                        <a:gradFill flip="none" rotWithShape="1">
                          <a:gsLst>
                            <a:gs pos="0">
                              <a:srgbClr val="34E234"/>
                            </a:gs>
                            <a:gs pos="50594">
                              <a:srgbClr val="22E5A0"/>
                            </a:gs>
                            <a:gs pos="100000">
                              <a:srgbClr val="5AB0FF"/>
                            </a:gs>
                          </a:gsLst>
                          <a:lin ang="0" scaled="0"/>
                        </a:gradFill>
                        <a:effectLst/>
                        <a:uFillTx/>
                        <a:latin typeface="SB Sans Display Semibold"/>
                        <a:ea typeface="SB Sans Display Semibold"/>
                        <a:cs typeface="SB Sans Display Semibold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095045"/>
                  </a:ext>
                </a:extLst>
              </a:tr>
              <a:tr h="77374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Создание объекта	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new (</a:t>
                      </a: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конструктор)</a:t>
                      </a:r>
                      <a:endParaRPr kumimoji="0" lang="en-US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626919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Установка имени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BeanNameAware.setBeanName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()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088531"/>
                  </a:ext>
                </a:extLst>
              </a:tr>
              <a:tr h="10134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Доступ к </a:t>
                      </a: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BeanFactory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BeanFactoryAware.setBeanFactory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()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021159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Доступ к контексту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ApplicationContextAware.setApplicationContext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()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883393"/>
                  </a:ext>
                </a:extLst>
              </a:tr>
              <a:tr h="98679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Внедрение зависимостей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@Autowired, </a:t>
                      </a:r>
                      <a:r>
                        <a:rPr kumimoji="0" lang="ru-RU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конструктор, сеттер или поле</a:t>
                      </a:r>
                      <a:endParaRPr kumimoji="0" lang="en-US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8488252"/>
                  </a:ext>
                </a:extLst>
              </a:tr>
              <a:tr h="1461874">
                <a:tc>
                  <a:txBody>
                    <a:bodyPr/>
                    <a:lstStyle/>
                    <a:p>
                      <a:pPr marL="0" marR="0" indent="0" algn="l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6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Преинициализация</a:t>
                      </a: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 </a:t>
                      </a: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beanPostProcessor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BeanPostProcessor.postProcessBeforeInitialization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()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0277326"/>
                  </a:ext>
                </a:extLst>
              </a:tr>
              <a:tr h="509816">
                <a:tc>
                  <a:txBody>
                    <a:bodyPr/>
                    <a:lstStyle/>
                    <a:p>
                      <a:pPr marL="0" marR="0" indent="0" algn="l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PostConstruct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-</a:t>
                      </a: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метод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@</a:t>
                      </a: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PostConstruct</a:t>
                      </a:r>
                      <a:endParaRPr kumimoji="0" lang="en-US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0984849"/>
                  </a:ext>
                </a:extLst>
              </a:tr>
              <a:tr h="1253412">
                <a:tc>
                  <a:txBody>
                    <a:bodyPr/>
                    <a:lstStyle/>
                    <a:p>
                      <a:pPr marL="0" marR="0" indent="0" algn="l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Постинициализация</a:t>
                      </a: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 </a:t>
                      </a: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beanPostProcessor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BeanPostProcessor.postProcessAfterInitialization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()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63534"/>
                  </a:ext>
                </a:extLst>
              </a:tr>
              <a:tr h="62572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9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Регистрация </a:t>
                      </a:r>
                      <a:r>
                        <a:rPr kumimoji="0" lang="ru-RU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бина</a:t>
                      </a: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 в контексте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((</a:t>
                      </a: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AnnotationConfigApplicationContext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) context).register(&lt;</a:t>
                      </a:r>
                      <a:r>
                        <a:rPr kumimoji="0" lang="ru-RU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класс_бина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&gt;);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626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9583960"/>
      </p:ext>
    </p:extLst>
  </p:cSld>
  <p:clrMapOvr>
    <a:masterClrMapping/>
  </p:clrMapOvr>
  <p:transition spd="med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4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459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597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459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0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459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3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460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6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460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9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460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2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461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5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461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8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461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1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461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4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462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7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462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0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462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3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463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6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463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9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463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2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464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5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464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8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464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aphicFrame>
        <p:nvGraphicFramePr>
          <p:cNvPr id="60" name="Таблица 59">
            <a:extLst>
              <a:ext uri="{FF2B5EF4-FFF2-40B4-BE49-F238E27FC236}">
                <a16:creationId xmlns:a16="http://schemas.microsoft.com/office/drawing/2014/main" id="{DE17C902-B0F9-42E2-9000-90C916B88F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165745"/>
              </p:ext>
            </p:extLst>
          </p:nvPr>
        </p:nvGraphicFramePr>
        <p:xfrm>
          <a:off x="1245730" y="867668"/>
          <a:ext cx="22150874" cy="130794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16570">
                  <a:extLst>
                    <a:ext uri="{9D8B030D-6E8A-4147-A177-3AD203B41FA5}">
                      <a16:colId xmlns:a16="http://schemas.microsoft.com/office/drawing/2014/main" val="450810383"/>
                    </a:ext>
                  </a:extLst>
                </a:gridCol>
                <a:gridCol w="6112329">
                  <a:extLst>
                    <a:ext uri="{9D8B030D-6E8A-4147-A177-3AD203B41FA5}">
                      <a16:colId xmlns:a16="http://schemas.microsoft.com/office/drawing/2014/main" val="1401901608"/>
                    </a:ext>
                  </a:extLst>
                </a:gridCol>
                <a:gridCol w="14121975">
                  <a:extLst>
                    <a:ext uri="{9D8B030D-6E8A-4147-A177-3AD203B41FA5}">
                      <a16:colId xmlns:a16="http://schemas.microsoft.com/office/drawing/2014/main" val="3564009201"/>
                    </a:ext>
                  </a:extLst>
                </a:gridCol>
              </a:tblGrid>
              <a:tr h="108274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Этап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Что происходит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Механизм </a:t>
                      </a:r>
                      <a:r>
                        <a:rPr kumimoji="0" lang="en-US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/ </a:t>
                      </a: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интерфейс </a:t>
                      </a:r>
                      <a:r>
                        <a:rPr kumimoji="0" lang="en-US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/ </a:t>
                      </a:r>
                      <a:r>
                        <a:rPr kumimoji="0" lang="ru-RU" sz="4800" b="0" i="0" u="none" strike="noStrike" cap="none" spc="0" normalizeH="0" baseline="0" dirty="0">
                          <a:ln>
                            <a:noFill/>
                          </a:ln>
                          <a:gradFill flip="none" rotWithShape="1">
                            <a:gsLst>
                              <a:gs pos="0">
                                <a:srgbClr val="34E234"/>
                              </a:gs>
                              <a:gs pos="50594">
                                <a:srgbClr val="22E5A0"/>
                              </a:gs>
                              <a:gs pos="100000">
                                <a:srgbClr val="5AB0FF"/>
                              </a:gs>
                            </a:gsLst>
                            <a:lin ang="0" scaled="0"/>
                          </a:gradFill>
                          <a:effectLst/>
                          <a:uFillTx/>
                          <a:latin typeface="SB Sans Display Semibold"/>
                          <a:ea typeface="SB Sans Display Semibold"/>
                          <a:cs typeface="SB Sans Display Semibold"/>
                          <a:sym typeface="Helvetica Neue"/>
                        </a:rPr>
                        <a:t>аннотация</a:t>
                      </a:r>
                      <a:endParaRPr kumimoji="0" lang="en-US" sz="4800" b="0" i="0" u="none" strike="noStrike" cap="none" spc="0" normalizeH="0" baseline="0" dirty="0">
                        <a:ln>
                          <a:noFill/>
                        </a:ln>
                        <a:gradFill flip="none" rotWithShape="1">
                          <a:gsLst>
                            <a:gs pos="0">
                              <a:srgbClr val="34E234"/>
                            </a:gs>
                            <a:gs pos="50594">
                              <a:srgbClr val="22E5A0"/>
                            </a:gs>
                            <a:gs pos="100000">
                              <a:srgbClr val="5AB0FF"/>
                            </a:gs>
                          </a:gsLst>
                          <a:lin ang="0" scaled="0"/>
                        </a:gradFill>
                        <a:effectLst/>
                        <a:uFillTx/>
                        <a:latin typeface="SB Sans Display Semibold"/>
                        <a:ea typeface="SB Sans Display Semibold"/>
                        <a:cs typeface="SB Sans Display Semibold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095045"/>
                  </a:ext>
                </a:extLst>
              </a:tr>
              <a:tr h="77374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Создание объекта	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new (</a:t>
                      </a: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конструктор)</a:t>
                      </a:r>
                      <a:endParaRPr kumimoji="0" lang="en-US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626919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Установка имени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BeanNameAware.setBeanName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()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088531"/>
                  </a:ext>
                </a:extLst>
              </a:tr>
              <a:tr h="10134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Доступ к </a:t>
                      </a: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BeanFactory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BeanFactoryAware.setBeanFactory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()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021159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Доступ к контексту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ApplicationContextAware.setApplicationContext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()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883393"/>
                  </a:ext>
                </a:extLst>
              </a:tr>
              <a:tr h="98679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Внедрение зависимостей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@Autowired, </a:t>
                      </a:r>
                      <a:r>
                        <a:rPr kumimoji="0" lang="ru-RU" sz="4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конструктор, сеттер или поле</a:t>
                      </a:r>
                      <a:endParaRPr kumimoji="0" lang="en-US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8488252"/>
                  </a:ext>
                </a:extLst>
              </a:tr>
              <a:tr h="1461874">
                <a:tc>
                  <a:txBody>
                    <a:bodyPr/>
                    <a:lstStyle/>
                    <a:p>
                      <a:pPr marL="0" marR="0" indent="0" algn="l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6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Преинициализация</a:t>
                      </a: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 </a:t>
                      </a: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beanPostProcessor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BeanPostProcessor.postProcessBeforeInitialization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()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0277326"/>
                  </a:ext>
                </a:extLst>
              </a:tr>
              <a:tr h="509816">
                <a:tc>
                  <a:txBody>
                    <a:bodyPr/>
                    <a:lstStyle/>
                    <a:p>
                      <a:pPr marL="0" marR="0" indent="0" algn="l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PostConstruct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-</a:t>
                      </a: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метод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@</a:t>
                      </a: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PostConstruct</a:t>
                      </a:r>
                      <a:endParaRPr kumimoji="0" lang="en-US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0984849"/>
                  </a:ext>
                </a:extLst>
              </a:tr>
              <a:tr h="1253412">
                <a:tc>
                  <a:txBody>
                    <a:bodyPr/>
                    <a:lstStyle/>
                    <a:p>
                      <a:pPr marL="0" marR="0" indent="0" algn="l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Постинициализация</a:t>
                      </a: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 </a:t>
                      </a: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beanPostProcessor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BeanPostProcessor.postProcessAfterInitialization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cs typeface="SB Sans Text Light"/>
                          <a:sym typeface="Helvetica Neue"/>
                        </a:rPr>
                        <a:t>()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63534"/>
                  </a:ext>
                </a:extLst>
              </a:tr>
              <a:tr h="62572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9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Регистрация </a:t>
                      </a:r>
                      <a:r>
                        <a:rPr kumimoji="0" lang="ru-RU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бина</a:t>
                      </a: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 в контексте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((</a:t>
                      </a: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AnnotationConfigApplicationContext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) context).register(&lt;</a:t>
                      </a:r>
                      <a:r>
                        <a:rPr kumimoji="0" lang="ru-RU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класс_бина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&gt;);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626220"/>
                  </a:ext>
                </a:extLst>
              </a:tr>
              <a:tr h="2034409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10</a:t>
                      </a:r>
                      <a:endParaRPr kumimoji="0" lang="ru-RU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PreDestroy</a:t>
                      </a: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-</a:t>
                      </a:r>
                      <a:r>
                        <a:rPr kumimoji="0" lang="ru-RU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метод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@</a:t>
                      </a:r>
                      <a:r>
                        <a:rPr kumimoji="0" lang="en-US" sz="4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SB Sans Text Light"/>
                          <a:ea typeface="SB Sans Text Light"/>
                          <a:cs typeface="SB Sans Text Light"/>
                          <a:sym typeface="Helvetica Neue"/>
                        </a:rPr>
                        <a:t>PreDestroy</a:t>
                      </a:r>
                      <a:endParaRPr kumimoji="0" lang="en-US" sz="4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SB Sans Text Light"/>
                        <a:ea typeface="SB Sans Text Light"/>
                        <a:cs typeface="SB Sans Text Light"/>
                        <a:sym typeface="Helvetica Neue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735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312960"/>
      </p:ext>
    </p:extLst>
  </p:cSld>
  <p:clrMapOvr>
    <a:masterClrMapping/>
  </p:clrMapOvr>
  <p:transition spd="med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18448961" cy="129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en-US" dirty="0"/>
              <a:t>@Scope, Singleton, Prototype</a:t>
            </a:r>
            <a:endParaRPr lang="ru-RU" dirty="0"/>
          </a:p>
        </p:txBody>
      </p:sp>
      <p:sp>
        <p:nvSpPr>
          <p:cNvPr id="1013" name="Начало контента"/>
          <p:cNvSpPr txBox="1"/>
          <p:nvPr/>
        </p:nvSpPr>
        <p:spPr>
          <a:xfrm>
            <a:off x="1549400" y="2844981"/>
            <a:ext cx="21498560" cy="10109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@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Scope</a:t>
            </a:r>
            <a:r>
              <a:rPr lang="ru-RU" sz="5400" dirty="0"/>
              <a:t> указывает область, в которой </a:t>
            </a:r>
            <a:r>
              <a:rPr lang="ru-RU" sz="5400" dirty="0" err="1"/>
              <a:t>Spring</a:t>
            </a:r>
            <a:r>
              <a:rPr lang="ru-RU" sz="5400" dirty="0"/>
              <a:t> должен создавать и хранить бин. Это влияет на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жизненный цикл и количество экземпляров</a:t>
            </a:r>
            <a:r>
              <a:rPr lang="ru-RU" sz="5400" dirty="0"/>
              <a:t> </a:t>
            </a:r>
            <a:r>
              <a:rPr lang="ru-RU" sz="5400" dirty="0" err="1"/>
              <a:t>бина</a:t>
            </a:r>
            <a:r>
              <a:rPr lang="ru-RU" sz="5400" dirty="0"/>
              <a:t> в приложении.</a:t>
            </a:r>
          </a:p>
          <a:p>
            <a:endParaRPr lang="ru-RU" sz="5400" dirty="0"/>
          </a:p>
          <a:p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Singleton</a:t>
            </a:r>
            <a:r>
              <a:rPr lang="en-US" sz="5400" dirty="0"/>
              <a:t> (</a:t>
            </a:r>
            <a:r>
              <a:rPr lang="ru-RU" sz="5400" dirty="0"/>
              <a:t>по умолчанию) – экземпляр создается один раз. Каждый раз при обращении к </a:t>
            </a:r>
            <a:r>
              <a:rPr lang="ru-RU" sz="5400" dirty="0" err="1"/>
              <a:t>бину</a:t>
            </a:r>
            <a:r>
              <a:rPr lang="ru-RU" sz="5400" dirty="0"/>
              <a:t> будет возвращаться созданный ранее единственный экземпляр.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Хранится в контексте</a:t>
            </a:r>
            <a:r>
              <a:rPr lang="ru-RU" sz="5400" dirty="0"/>
              <a:t>.</a:t>
            </a:r>
          </a:p>
          <a:p>
            <a:endParaRPr lang="ru-RU" sz="5400" dirty="0"/>
          </a:p>
          <a:p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Prototype</a:t>
            </a:r>
            <a:r>
              <a:rPr lang="en-US" sz="5400" dirty="0"/>
              <a:t> – </a:t>
            </a:r>
            <a:r>
              <a:rPr lang="ru-RU" sz="5400" dirty="0"/>
              <a:t>каждый раз при обращении к </a:t>
            </a:r>
            <a:r>
              <a:rPr lang="ru-RU" sz="5400" dirty="0" err="1"/>
              <a:t>бину</a:t>
            </a:r>
            <a:r>
              <a:rPr lang="ru-RU" sz="5400" dirty="0"/>
              <a:t> будет создан новый экземпляр (клон) </a:t>
            </a:r>
            <a:r>
              <a:rPr lang="ru-RU" sz="5400" dirty="0" err="1"/>
              <a:t>бина</a:t>
            </a:r>
            <a:r>
              <a:rPr lang="ru-RU" sz="5400" dirty="0"/>
              <a:t>.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Не хранится в контексте</a:t>
            </a:r>
            <a:r>
              <a:rPr lang="ru-RU" sz="5400" dirty="0"/>
              <a:t>.</a:t>
            </a:r>
            <a:endParaRPr lang="en-US" sz="5400" dirty="0"/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02401980"/>
      </p:ext>
    </p:extLst>
  </p:cSld>
  <p:clrMapOvr>
    <a:masterClrMapping/>
  </p:clrMapOvr>
  <p:transition spd="med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1" name="Заголовок"/>
          <p:cNvSpPr txBox="1"/>
          <p:nvPr/>
        </p:nvSpPr>
        <p:spPr>
          <a:xfrm>
            <a:off x="1524000" y="5810849"/>
            <a:ext cx="8386911" cy="2094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70000"/>
              </a:lnSpc>
              <a:defRPr sz="20000" spc="-400">
                <a:gradFill flip="none" rotWithShape="1">
                  <a:gsLst>
                    <a:gs pos="0">
                      <a:srgbClr val="34E234"/>
                    </a:gs>
                    <a:gs pos="19133">
                      <a:srgbClr val="9DCD25"/>
                    </a:gs>
                    <a:gs pos="39357">
                      <a:srgbClr val="F2E800"/>
                    </a:gs>
                    <a:gs pos="58861">
                      <a:srgbClr val="9DCD25"/>
                    </a:gs>
                    <a:gs pos="79839">
                      <a:srgbClr val="00A4E0"/>
                    </a:gs>
                    <a:gs pos="100000">
                      <a:srgbClr val="0086D0"/>
                    </a:gs>
                  </a:gsLst>
                  <a:lin ang="3000000" scaled="0"/>
                </a:gradFill>
                <a:latin typeface="SB Sans Display Light"/>
                <a:ea typeface="SB Sans Display Light"/>
                <a:cs typeface="SB Sans Display Light"/>
                <a:sym typeface="SB Sans Display Light"/>
              </a:defRPr>
            </a:lvl1pPr>
          </a:lstStyle>
          <a:p>
            <a:r>
              <a:rPr lang="ru-RU" sz="16700" dirty="0" err="1"/>
              <a:t>Демо</a:t>
            </a:r>
            <a:r>
              <a:rPr lang="ru-RU" sz="16700" dirty="0"/>
              <a:t> </a:t>
            </a:r>
            <a:r>
              <a:rPr lang="en-US" sz="16700" dirty="0"/>
              <a:t>05</a:t>
            </a:r>
            <a:endParaRPr lang="ru-RU" sz="16700" dirty="0"/>
          </a:p>
        </p:txBody>
      </p:sp>
      <p:grpSp>
        <p:nvGrpSpPr>
          <p:cNvPr id="4594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459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597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459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0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459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59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3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460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6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460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09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460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0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2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461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5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461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18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461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1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1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461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4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462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27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462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0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462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2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3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463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6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463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39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463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3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2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464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5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464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648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464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64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12543534"/>
      </p:ext>
    </p:extLst>
  </p:cSld>
  <p:clrMapOvr>
    <a:masterClrMapping/>
  </p:clrMapOvr>
  <p:transition spd="med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12867305" cy="129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ru-RU" dirty="0"/>
              <a:t>Выводы после главы</a:t>
            </a:r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39939763"/>
      </p:ext>
    </p:extLst>
  </p:cSld>
  <p:clrMapOvr>
    <a:masterClrMapping/>
  </p:clrMapOvr>
  <p:transition spd="med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12867305" cy="129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ru-RU" dirty="0"/>
              <a:t>Выводы после главы</a:t>
            </a:r>
          </a:p>
        </p:txBody>
      </p:sp>
      <p:sp>
        <p:nvSpPr>
          <p:cNvPr id="1013" name="Начало контента"/>
          <p:cNvSpPr txBox="1"/>
          <p:nvPr/>
        </p:nvSpPr>
        <p:spPr>
          <a:xfrm>
            <a:off x="1549400" y="2844981"/>
            <a:ext cx="21498560" cy="9950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pPr marL="914400" indent="-914400">
              <a:buAutoNum type="arabicPeriod"/>
            </a:pPr>
            <a:r>
              <a:rPr lang="en-US" sz="5400" dirty="0"/>
              <a:t>Spring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отвечает за жизненный цикл </a:t>
            </a:r>
            <a:r>
              <a:rPr lang="ru-RU" sz="5400" dirty="0"/>
              <a:t>всех </a:t>
            </a:r>
            <a:r>
              <a:rPr lang="ru-RU" sz="5400" dirty="0" err="1"/>
              <a:t>бинов</a:t>
            </a:r>
            <a:r>
              <a:rPr lang="ru-RU" sz="5400" dirty="0"/>
              <a:t>.</a:t>
            </a:r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848791"/>
      </p:ext>
    </p:extLst>
  </p:cSld>
  <p:clrMapOvr>
    <a:masterClrMapping/>
  </p:clrMapOvr>
  <p:transition spd="med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12867305" cy="129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ru-RU" dirty="0"/>
              <a:t>Выводы после главы</a:t>
            </a:r>
          </a:p>
        </p:txBody>
      </p:sp>
      <p:sp>
        <p:nvSpPr>
          <p:cNvPr id="1013" name="Начало контента"/>
          <p:cNvSpPr txBox="1"/>
          <p:nvPr/>
        </p:nvSpPr>
        <p:spPr>
          <a:xfrm>
            <a:off x="1549400" y="2844981"/>
            <a:ext cx="21498560" cy="2796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pPr marL="914400" indent="-914400">
              <a:buAutoNum type="arabicPeriod"/>
            </a:pPr>
            <a:r>
              <a:rPr lang="en-US" sz="5400" dirty="0"/>
              <a:t>Spring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отвечает за жизненный цикл </a:t>
            </a:r>
            <a:r>
              <a:rPr lang="ru-RU" sz="5400" dirty="0"/>
              <a:t>всех </a:t>
            </a:r>
            <a:r>
              <a:rPr lang="ru-RU" sz="5400" dirty="0" err="1"/>
              <a:t>бинов</a:t>
            </a:r>
            <a:r>
              <a:rPr lang="ru-RU" sz="5400" dirty="0"/>
              <a:t>.</a:t>
            </a:r>
          </a:p>
          <a:p>
            <a:pPr marL="914400" indent="-914400">
              <a:buAutoNum type="arabicPeriod"/>
            </a:pP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Singleton</a:t>
            </a: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-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бины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 (по умолчанию) </a:t>
            </a:r>
            <a:r>
              <a:rPr lang="ru-RU" sz="5400" dirty="0"/>
              <a:t>— создаются один раз при запуске и живут до остановки контекста.</a:t>
            </a:r>
            <a:endParaRPr lang="en-US" sz="5400" dirty="0"/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71583324"/>
      </p:ext>
    </p:extLst>
  </p:cSld>
  <p:clrMapOvr>
    <a:masterClrMapping/>
  </p:clrMapOvr>
  <p:transition spd="med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Экосистема"/>
          <p:cNvSpPr txBox="1"/>
          <p:nvPr/>
        </p:nvSpPr>
        <p:spPr>
          <a:xfrm>
            <a:off x="1524000" y="1338870"/>
            <a:ext cx="12867305" cy="129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70000"/>
              </a:lnSpc>
              <a:defRPr sz="10000" spc="-1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  <a:sym typeface="SB Sans Display Semibold"/>
              </a:defRPr>
            </a:lvl1pPr>
          </a:lstStyle>
          <a:p>
            <a:r>
              <a:rPr lang="ru-RU" dirty="0"/>
              <a:t>Выводы после главы</a:t>
            </a:r>
          </a:p>
        </p:txBody>
      </p:sp>
      <p:sp>
        <p:nvSpPr>
          <p:cNvPr id="1013" name="Начало контента"/>
          <p:cNvSpPr txBox="1"/>
          <p:nvPr/>
        </p:nvSpPr>
        <p:spPr>
          <a:xfrm>
            <a:off x="1549400" y="2844981"/>
            <a:ext cx="21498560" cy="64529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110000"/>
              </a:lnSpc>
              <a:defRPr sz="30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pPr marL="914400" indent="-914400">
              <a:buAutoNum type="arabicPeriod"/>
            </a:pPr>
            <a:r>
              <a:rPr lang="en-US" sz="5400" dirty="0"/>
              <a:t>Spring 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отвечает за жизненный цикл </a:t>
            </a:r>
            <a:r>
              <a:rPr lang="ru-RU" sz="5400" dirty="0"/>
              <a:t>всех </a:t>
            </a:r>
            <a:r>
              <a:rPr lang="ru-RU" sz="5400" dirty="0" err="1"/>
              <a:t>бинов</a:t>
            </a:r>
            <a:r>
              <a:rPr lang="ru-RU" sz="5400" dirty="0"/>
              <a:t>.</a:t>
            </a:r>
          </a:p>
          <a:p>
            <a:pPr marL="914400" indent="-914400">
              <a:buAutoNum type="arabicPeriod"/>
            </a:pP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Singleton</a:t>
            </a:r>
            <a:r>
              <a:rPr lang="en-US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-</a:t>
            </a: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бины</a:t>
            </a:r>
            <a:r>
              <a:rPr lang="ru-RU" sz="5400" dirty="0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 (по умолчанию) </a:t>
            </a:r>
            <a:r>
              <a:rPr lang="ru-RU" sz="5400" dirty="0"/>
              <a:t>— создаются один раз при запуске и живут до остановки контекста.</a:t>
            </a:r>
            <a:endParaRPr lang="en-US" sz="5400" dirty="0"/>
          </a:p>
          <a:p>
            <a:pPr marL="914400" indent="-914400">
              <a:buAutoNum type="arabicPeriod"/>
            </a:pPr>
            <a:r>
              <a:rPr lang="ru-RU" sz="5400" dirty="0" err="1">
                <a:gradFill flip="none" rotWithShape="1">
                  <a:gsLst>
                    <a:gs pos="0">
                      <a:srgbClr val="34E234"/>
                    </a:gs>
                    <a:gs pos="50594">
                      <a:srgbClr val="22E5A0"/>
                    </a:gs>
                    <a:gs pos="100000">
                      <a:srgbClr val="5AB0FF"/>
                    </a:gs>
                  </a:gsLst>
                  <a:lin ang="0" scaled="0"/>
                </a:gradFill>
                <a:latin typeface="SB Sans Display Semibold"/>
                <a:cs typeface="SB Sans Display Semibold"/>
              </a:rPr>
              <a:t>Prototype-бины</a:t>
            </a:r>
            <a:r>
              <a:rPr lang="ru-RU" sz="5400" dirty="0"/>
              <a:t> — создаются каждый раз заново при запросе, не управляется </a:t>
            </a:r>
            <a:r>
              <a:rPr lang="ru-RU" sz="5400" dirty="0" err="1"/>
              <a:t>Spring</a:t>
            </a:r>
            <a:r>
              <a:rPr lang="ru-RU" sz="5400" dirty="0"/>
              <a:t> после выдачи. Не помещается в контекст. Не отрабатывают </a:t>
            </a:r>
            <a:r>
              <a:rPr lang="en-US" sz="5400" dirty="0"/>
              <a:t>@</a:t>
            </a:r>
            <a:r>
              <a:rPr lang="en-US" sz="5400" dirty="0" err="1"/>
              <a:t>PostConstruct</a:t>
            </a:r>
            <a:r>
              <a:rPr lang="en-US" sz="5400" dirty="0"/>
              <a:t> </a:t>
            </a:r>
            <a:r>
              <a:rPr lang="ru-RU" sz="5400" dirty="0"/>
              <a:t>и </a:t>
            </a:r>
            <a:r>
              <a:rPr lang="en-US" sz="5400" dirty="0"/>
              <a:t>@</a:t>
            </a:r>
            <a:r>
              <a:rPr lang="en-US" sz="5400" dirty="0" err="1"/>
              <a:t>PreDestroy</a:t>
            </a:r>
            <a:r>
              <a:rPr lang="ru-RU" sz="5400" dirty="0"/>
              <a:t> методы.</a:t>
            </a:r>
            <a:endParaRPr lang="en-US" sz="5400" dirty="0"/>
          </a:p>
        </p:txBody>
      </p:sp>
      <p:sp>
        <p:nvSpPr>
          <p:cNvPr id="1014" name="2"/>
          <p:cNvSpPr txBox="1"/>
          <p:nvPr/>
        </p:nvSpPr>
        <p:spPr>
          <a:xfrm>
            <a:off x="22757343" y="12515746"/>
            <a:ext cx="102657" cy="34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110000"/>
              </a:lnSpc>
              <a:defRPr sz="1500">
                <a:solidFill>
                  <a:srgbClr val="FFFFFF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endParaRPr dirty="0"/>
          </a:p>
        </p:txBody>
      </p:sp>
      <p:grpSp>
        <p:nvGrpSpPr>
          <p:cNvPr id="1017" name="Сгруппировать"/>
          <p:cNvGrpSpPr/>
          <p:nvPr/>
        </p:nvGrpSpPr>
        <p:grpSpPr>
          <a:xfrm>
            <a:off x="12192000" y="-857250"/>
            <a:ext cx="1524000" cy="857250"/>
            <a:chOff x="0" y="0"/>
            <a:chExt cx="1524000" cy="857250"/>
          </a:xfrm>
        </p:grpSpPr>
        <p:sp>
          <p:nvSpPr>
            <p:cNvPr id="101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34E234">
                <a:alpha val="501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0" name="Сгруппировать"/>
          <p:cNvGrpSpPr/>
          <p:nvPr/>
        </p:nvGrpSpPr>
        <p:grpSpPr>
          <a:xfrm>
            <a:off x="10668000" y="-1714500"/>
            <a:ext cx="1524000" cy="857250"/>
            <a:chOff x="0" y="0"/>
            <a:chExt cx="1524000" cy="857250"/>
          </a:xfrm>
        </p:grpSpPr>
        <p:sp>
          <p:nvSpPr>
            <p:cNvPr id="101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1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3" name="Сгруппировать"/>
          <p:cNvGrpSpPr/>
          <p:nvPr/>
        </p:nvGrpSpPr>
        <p:grpSpPr>
          <a:xfrm>
            <a:off x="13716000" y="-1714500"/>
            <a:ext cx="1524000" cy="857250"/>
            <a:chOff x="0" y="0"/>
            <a:chExt cx="1524000" cy="857250"/>
          </a:xfrm>
        </p:grpSpPr>
        <p:sp>
          <p:nvSpPr>
            <p:cNvPr id="102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6" name="Сгруппировать"/>
          <p:cNvGrpSpPr/>
          <p:nvPr/>
        </p:nvGrpSpPr>
        <p:grpSpPr>
          <a:xfrm>
            <a:off x="9144000" y="-857250"/>
            <a:ext cx="1524000" cy="857250"/>
            <a:chOff x="0" y="0"/>
            <a:chExt cx="1524000" cy="857250"/>
          </a:xfrm>
        </p:grpSpPr>
        <p:sp>
          <p:nvSpPr>
            <p:cNvPr id="102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9" name="Сгруппировать"/>
          <p:cNvGrpSpPr/>
          <p:nvPr/>
        </p:nvGrpSpPr>
        <p:grpSpPr>
          <a:xfrm>
            <a:off x="7620000" y="-1714500"/>
            <a:ext cx="1524000" cy="857250"/>
            <a:chOff x="0" y="0"/>
            <a:chExt cx="1524000" cy="857250"/>
          </a:xfrm>
        </p:grpSpPr>
        <p:sp>
          <p:nvSpPr>
            <p:cNvPr id="102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2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2" name="Сгруппировать"/>
          <p:cNvGrpSpPr/>
          <p:nvPr/>
        </p:nvGrpSpPr>
        <p:grpSpPr>
          <a:xfrm>
            <a:off x="6096000" y="-857250"/>
            <a:ext cx="1524000" cy="857250"/>
            <a:chOff x="0" y="0"/>
            <a:chExt cx="1524000" cy="857250"/>
          </a:xfrm>
        </p:grpSpPr>
        <p:sp>
          <p:nvSpPr>
            <p:cNvPr id="103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5" name="Сгруппировать"/>
          <p:cNvGrpSpPr/>
          <p:nvPr/>
        </p:nvGrpSpPr>
        <p:grpSpPr>
          <a:xfrm>
            <a:off x="4572000" y="-1714500"/>
            <a:ext cx="1524000" cy="857250"/>
            <a:chOff x="0" y="0"/>
            <a:chExt cx="1524000" cy="857250"/>
          </a:xfrm>
        </p:grpSpPr>
        <p:sp>
          <p:nvSpPr>
            <p:cNvPr id="103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38" name="Сгруппировать"/>
          <p:cNvGrpSpPr/>
          <p:nvPr/>
        </p:nvGrpSpPr>
        <p:grpSpPr>
          <a:xfrm>
            <a:off x="3048000" y="-857250"/>
            <a:ext cx="1524000" cy="857250"/>
            <a:chOff x="0" y="0"/>
            <a:chExt cx="1524000" cy="857250"/>
          </a:xfrm>
        </p:grpSpPr>
        <p:sp>
          <p:nvSpPr>
            <p:cNvPr id="103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3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1" name="Сгруппировать"/>
          <p:cNvGrpSpPr/>
          <p:nvPr/>
        </p:nvGrpSpPr>
        <p:grpSpPr>
          <a:xfrm>
            <a:off x="1524000" y="-1714500"/>
            <a:ext cx="1524000" cy="857250"/>
            <a:chOff x="0" y="0"/>
            <a:chExt cx="1524000" cy="857250"/>
          </a:xfrm>
        </p:grpSpPr>
        <p:sp>
          <p:nvSpPr>
            <p:cNvPr id="103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4" name="Сгруппировать"/>
          <p:cNvGrpSpPr/>
          <p:nvPr/>
        </p:nvGrpSpPr>
        <p:grpSpPr>
          <a:xfrm>
            <a:off x="0" y="-857250"/>
            <a:ext cx="1524001" cy="857250"/>
            <a:chOff x="0" y="0"/>
            <a:chExt cx="1524000" cy="857250"/>
          </a:xfrm>
        </p:grpSpPr>
        <p:sp>
          <p:nvSpPr>
            <p:cNvPr id="1042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3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47" name="Сгруппировать"/>
          <p:cNvGrpSpPr/>
          <p:nvPr/>
        </p:nvGrpSpPr>
        <p:grpSpPr>
          <a:xfrm>
            <a:off x="16764000" y="-1714500"/>
            <a:ext cx="1524000" cy="857250"/>
            <a:chOff x="0" y="0"/>
            <a:chExt cx="1524000" cy="857250"/>
          </a:xfrm>
        </p:grpSpPr>
        <p:sp>
          <p:nvSpPr>
            <p:cNvPr id="1045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6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0" name="Сгруппировать"/>
          <p:cNvGrpSpPr/>
          <p:nvPr/>
        </p:nvGrpSpPr>
        <p:grpSpPr>
          <a:xfrm>
            <a:off x="15240000" y="-857250"/>
            <a:ext cx="1524000" cy="857250"/>
            <a:chOff x="0" y="0"/>
            <a:chExt cx="1524000" cy="857250"/>
          </a:xfrm>
        </p:grpSpPr>
        <p:sp>
          <p:nvSpPr>
            <p:cNvPr id="1048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49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3" name="Сгруппировать"/>
          <p:cNvGrpSpPr/>
          <p:nvPr/>
        </p:nvGrpSpPr>
        <p:grpSpPr>
          <a:xfrm>
            <a:off x="19812000" y="-1714500"/>
            <a:ext cx="1524000" cy="857250"/>
            <a:chOff x="0" y="0"/>
            <a:chExt cx="1524000" cy="857250"/>
          </a:xfrm>
        </p:grpSpPr>
        <p:sp>
          <p:nvSpPr>
            <p:cNvPr id="1051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2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6" name="Сгруппировать"/>
          <p:cNvGrpSpPr/>
          <p:nvPr/>
        </p:nvGrpSpPr>
        <p:grpSpPr>
          <a:xfrm>
            <a:off x="18288000" y="-857250"/>
            <a:ext cx="1524000" cy="857250"/>
            <a:chOff x="0" y="0"/>
            <a:chExt cx="1524000" cy="857250"/>
          </a:xfrm>
        </p:grpSpPr>
        <p:sp>
          <p:nvSpPr>
            <p:cNvPr id="1054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5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9" name="Сгруппировать"/>
          <p:cNvGrpSpPr/>
          <p:nvPr/>
        </p:nvGrpSpPr>
        <p:grpSpPr>
          <a:xfrm>
            <a:off x="22860000" y="-1714500"/>
            <a:ext cx="1524000" cy="857250"/>
            <a:chOff x="0" y="0"/>
            <a:chExt cx="1524000" cy="857250"/>
          </a:xfrm>
        </p:grpSpPr>
        <p:sp>
          <p:nvSpPr>
            <p:cNvPr id="1057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58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2" name="Сгруппировать"/>
          <p:cNvGrpSpPr/>
          <p:nvPr/>
        </p:nvGrpSpPr>
        <p:grpSpPr>
          <a:xfrm>
            <a:off x="21336000" y="-857250"/>
            <a:ext cx="1524000" cy="857250"/>
            <a:chOff x="0" y="0"/>
            <a:chExt cx="1524000" cy="857250"/>
          </a:xfrm>
        </p:grpSpPr>
        <p:sp>
          <p:nvSpPr>
            <p:cNvPr id="1060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1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5" name="Сгруппировать"/>
          <p:cNvGrpSpPr/>
          <p:nvPr/>
        </p:nvGrpSpPr>
        <p:grpSpPr>
          <a:xfrm>
            <a:off x="-1524000" y="0"/>
            <a:ext cx="1524000" cy="857251"/>
            <a:chOff x="0" y="0"/>
            <a:chExt cx="1524000" cy="857250"/>
          </a:xfrm>
        </p:grpSpPr>
        <p:sp>
          <p:nvSpPr>
            <p:cNvPr id="1063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4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68" name="Сгруппировать"/>
          <p:cNvGrpSpPr/>
          <p:nvPr/>
        </p:nvGrpSpPr>
        <p:grpSpPr>
          <a:xfrm>
            <a:off x="-1524000" y="12858750"/>
            <a:ext cx="1524000" cy="857250"/>
            <a:chOff x="0" y="0"/>
            <a:chExt cx="1524000" cy="857250"/>
          </a:xfrm>
        </p:grpSpPr>
        <p:sp>
          <p:nvSpPr>
            <p:cNvPr id="1066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67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1" name="Сгруппировать"/>
          <p:cNvGrpSpPr/>
          <p:nvPr/>
        </p:nvGrpSpPr>
        <p:grpSpPr>
          <a:xfrm>
            <a:off x="-1651000" y="12001500"/>
            <a:ext cx="1524000" cy="857250"/>
            <a:chOff x="0" y="0"/>
            <a:chExt cx="1524000" cy="857250"/>
          </a:xfrm>
        </p:grpSpPr>
        <p:sp>
          <p:nvSpPr>
            <p:cNvPr id="1069" name="Прямоугольник"/>
            <p:cNvSpPr/>
            <p:nvPr/>
          </p:nvSpPr>
          <p:spPr>
            <a:xfrm>
              <a:off x="0" y="0"/>
              <a:ext cx="1524000" cy="857250"/>
            </a:xfrm>
            <a:prstGeom prst="rect">
              <a:avLst/>
            </a:prstGeom>
            <a:solidFill>
              <a:srgbClr val="FFFFFF">
                <a:alpha val="1478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070" name="Прямоугольник"/>
            <p:cNvSpPr/>
            <p:nvPr/>
          </p:nvSpPr>
          <p:spPr>
            <a:xfrm>
              <a:off x="25400" y="25400"/>
              <a:ext cx="1473200" cy="806450"/>
            </a:xfrm>
            <a:prstGeom prst="rect">
              <a:avLst/>
            </a:prstGeom>
            <a:solidFill>
              <a:srgbClr val="FFFFFF">
                <a:alpha val="672"/>
              </a:srgbClr>
            </a:solidFill>
            <a:ln w="12700" cap="flat">
              <a:solidFill>
                <a:srgbClr val="000000">
                  <a:alpha val="49758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71154721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005E00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20059</TotalTime>
  <Words>2589</Words>
  <Application>Microsoft Office PowerPoint</Application>
  <PresentationFormat>Произвольный</PresentationFormat>
  <Paragraphs>503</Paragraphs>
  <Slides>88</Slides>
  <Notes>47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88</vt:i4>
      </vt:variant>
    </vt:vector>
  </HeadingPairs>
  <TitlesOfParts>
    <vt:vector size="96" baseType="lpstr">
      <vt:lpstr>SB Sans Display Light</vt:lpstr>
      <vt:lpstr>Arial</vt:lpstr>
      <vt:lpstr>SB Sans Text Light</vt:lpstr>
      <vt:lpstr>Helvetica Neue Medium</vt:lpstr>
      <vt:lpstr>Helvetica Neue</vt:lpstr>
      <vt:lpstr>SB Sans Display Semibold</vt:lpstr>
      <vt:lpstr>SB Sans Text</vt:lpstr>
      <vt:lpstr>21_BasicWhite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Березнев Никита Сергеевич</dc:creator>
  <cp:lastModifiedBy>Березнев Никита</cp:lastModifiedBy>
  <cp:revision>265</cp:revision>
  <dcterms:modified xsi:type="dcterms:W3CDTF">2025-04-10T21:49:05Z</dcterms:modified>
</cp:coreProperties>
</file>